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2.jpg" ContentType="image/jpg"/>
  <Override PartName="/ppt/media/image13.jpg" ContentType="image/jp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22" r:id="rId2"/>
  </p:sldMasterIdLst>
  <p:notesMasterIdLst>
    <p:notesMasterId r:id="rId25"/>
  </p:notesMasterIdLst>
  <p:sldIdLst>
    <p:sldId id="268" r:id="rId3"/>
    <p:sldId id="279" r:id="rId4"/>
    <p:sldId id="280" r:id="rId5"/>
    <p:sldId id="278" r:id="rId6"/>
    <p:sldId id="263" r:id="rId7"/>
    <p:sldId id="272" r:id="rId8"/>
    <p:sldId id="264" r:id="rId9"/>
    <p:sldId id="282" r:id="rId10"/>
    <p:sldId id="276" r:id="rId11"/>
    <p:sldId id="283" r:id="rId12"/>
    <p:sldId id="258" r:id="rId13"/>
    <p:sldId id="284" r:id="rId14"/>
    <p:sldId id="285" r:id="rId15"/>
    <p:sldId id="257" r:id="rId16"/>
    <p:sldId id="286" r:id="rId17"/>
    <p:sldId id="260" r:id="rId18"/>
    <p:sldId id="261" r:id="rId19"/>
    <p:sldId id="273" r:id="rId20"/>
    <p:sldId id="281" r:id="rId21"/>
    <p:sldId id="265" r:id="rId22"/>
    <p:sldId id="266" r:id="rId23"/>
    <p:sldId id="26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p:restoredTop sz="95833"/>
  </p:normalViewPr>
  <p:slideViewPr>
    <p:cSldViewPr snapToGrid="0" snapToObjects="1">
      <p:cViewPr varScale="1">
        <p:scale>
          <a:sx n="123" d="100"/>
          <a:sy n="123" d="100"/>
        </p:scale>
        <p:origin x="312" y="184"/>
      </p:cViewPr>
      <p:guideLst/>
    </p:cSldViewPr>
  </p:slideViewPr>
  <p:outlineViewPr>
    <p:cViewPr>
      <p:scale>
        <a:sx n="33" d="100"/>
        <a:sy n="33" d="100"/>
      </p:scale>
      <p:origin x="0" y="-3008"/>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783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pubmed.ncbi.nlm.nih.gov/37341554" TargetMode="External"/><Relationship Id="rId13" Type="http://schemas.openxmlformats.org/officeDocument/2006/relationships/hyperlink" Target="https://onlinelibrary.wiley.com/doi/10.1002/pds.5776" TargetMode="External"/><Relationship Id="rId18" Type="http://schemas.openxmlformats.org/officeDocument/2006/relationships/hyperlink" Target="https://pubmed.ncbi.nlm.nih.gov/37118883" TargetMode="External"/><Relationship Id="rId26" Type="http://schemas.openxmlformats.org/officeDocument/2006/relationships/hyperlink" Target="https://pubmed.ncbi.nlm.nih.gov/40098545" TargetMode="External"/><Relationship Id="rId3" Type="http://schemas.openxmlformats.org/officeDocument/2006/relationships/hyperlink" Target="https://pubmed.ncbi.nlm.nih.gov/24981036" TargetMode="External"/><Relationship Id="rId21" Type="http://schemas.openxmlformats.org/officeDocument/2006/relationships/hyperlink" Target="https://pubmed.ncbi.nlm.nih.gov/23913935" TargetMode="External"/><Relationship Id="rId7" Type="http://schemas.openxmlformats.org/officeDocument/2006/relationships/hyperlink" Target="https://pubmed.ncbi.nlm.nih.gov/41391744" TargetMode="External"/><Relationship Id="rId12" Type="http://schemas.openxmlformats.org/officeDocument/2006/relationships/hyperlink" Target="https://onlinelibrary.wiley.com/doi/10.1111/ppe.70068" TargetMode="External"/><Relationship Id="rId17" Type="http://schemas.openxmlformats.org/officeDocument/2006/relationships/hyperlink" Target="https://pubmed.ncbi.nlm.nih.gov/35192828" TargetMode="External"/><Relationship Id="rId25" Type="http://schemas.openxmlformats.org/officeDocument/2006/relationships/hyperlink" Target="https://onlinelibrary.wiley.com/doi/10.1002/pds.5776" TargetMode="External"/><Relationship Id="rId2" Type="http://schemas.openxmlformats.org/officeDocument/2006/relationships/slide" Target="../slides/slide10.xml"/><Relationship Id="rId16" Type="http://schemas.openxmlformats.org/officeDocument/2006/relationships/hyperlink" Target="https://pubmed.ncbi.nlm.nih.gov/42532461" TargetMode="External"/><Relationship Id="rId20" Type="http://schemas.openxmlformats.org/officeDocument/2006/relationships/hyperlink" Target="https://pubmed.ncbi.nlm.nih.gov/37341554" TargetMode="External"/><Relationship Id="rId1" Type="http://schemas.openxmlformats.org/officeDocument/2006/relationships/notesMaster" Target="../notesMasters/notesMaster1.xml"/><Relationship Id="rId6" Type="http://schemas.openxmlformats.org/officeDocument/2006/relationships/hyperlink" Target="https://pubmed.ncbi.nlm.nih.gov/37118883" TargetMode="External"/><Relationship Id="rId11" Type="http://schemas.openxmlformats.org/officeDocument/2006/relationships/hyperlink" Target="https://onlinelibrary.wiley.com/doi/10.1002/pds.2211" TargetMode="External"/><Relationship Id="rId24" Type="http://schemas.openxmlformats.org/officeDocument/2006/relationships/hyperlink" Target="https://onlinelibrary.wiley.com/doi/10.1111/ppe.70068" TargetMode="External"/><Relationship Id="rId5" Type="http://schemas.openxmlformats.org/officeDocument/2006/relationships/hyperlink" Target="https://pubmed.ncbi.nlm.nih.gov/35192828" TargetMode="External"/><Relationship Id="rId15" Type="http://schemas.openxmlformats.org/officeDocument/2006/relationships/hyperlink" Target="https://pubmed.ncbi.nlm.nih.gov/24981036" TargetMode="External"/><Relationship Id="rId23" Type="http://schemas.openxmlformats.org/officeDocument/2006/relationships/hyperlink" Target="https://onlinelibrary.wiley.com/doi/10.1002/pds.2211" TargetMode="External"/><Relationship Id="rId10" Type="http://schemas.openxmlformats.org/officeDocument/2006/relationships/hyperlink" Target="https://onlinelibrary.wiley.com/doi/10.1002/pds.4201" TargetMode="External"/><Relationship Id="rId19" Type="http://schemas.openxmlformats.org/officeDocument/2006/relationships/hyperlink" Target="https://pubmed.ncbi.nlm.nih.gov/41391744" TargetMode="External"/><Relationship Id="rId4" Type="http://schemas.openxmlformats.org/officeDocument/2006/relationships/hyperlink" Target="https://pubmed.ncbi.nlm.nih.gov/42532461" TargetMode="External"/><Relationship Id="rId9" Type="http://schemas.openxmlformats.org/officeDocument/2006/relationships/hyperlink" Target="https://pubmed.ncbi.nlm.nih.gov/23913935" TargetMode="External"/><Relationship Id="rId14" Type="http://schemas.openxmlformats.org/officeDocument/2006/relationships/hyperlink" Target="https://pubmed.ncbi.nlm.nih.gov/40098545" TargetMode="External"/><Relationship Id="rId22" Type="http://schemas.openxmlformats.org/officeDocument/2006/relationships/hyperlink" Target="https://onlinelibrary.wiley.com/doi/10.1002/pds.4201"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pubmed.ncbi.nlm.nih.gov/37341554" TargetMode="External"/><Relationship Id="rId13" Type="http://schemas.openxmlformats.org/officeDocument/2006/relationships/hyperlink" Target="https://onlinelibrary.wiley.com/doi/10.1002/pds.5776" TargetMode="External"/><Relationship Id="rId18" Type="http://schemas.openxmlformats.org/officeDocument/2006/relationships/hyperlink" Target="https://pubmed.ncbi.nlm.nih.gov/37118883" TargetMode="External"/><Relationship Id="rId26" Type="http://schemas.openxmlformats.org/officeDocument/2006/relationships/hyperlink" Target="https://pubmed.ncbi.nlm.nih.gov/40098545" TargetMode="External"/><Relationship Id="rId3" Type="http://schemas.openxmlformats.org/officeDocument/2006/relationships/hyperlink" Target="https://pubmed.ncbi.nlm.nih.gov/24981036" TargetMode="External"/><Relationship Id="rId21" Type="http://schemas.openxmlformats.org/officeDocument/2006/relationships/hyperlink" Target="https://pubmed.ncbi.nlm.nih.gov/23913935" TargetMode="External"/><Relationship Id="rId7" Type="http://schemas.openxmlformats.org/officeDocument/2006/relationships/hyperlink" Target="https://pubmed.ncbi.nlm.nih.gov/41391744" TargetMode="External"/><Relationship Id="rId12" Type="http://schemas.openxmlformats.org/officeDocument/2006/relationships/hyperlink" Target="https://onlinelibrary.wiley.com/doi/10.1111/ppe.70068" TargetMode="External"/><Relationship Id="rId17" Type="http://schemas.openxmlformats.org/officeDocument/2006/relationships/hyperlink" Target="https://pubmed.ncbi.nlm.nih.gov/35192828" TargetMode="External"/><Relationship Id="rId25" Type="http://schemas.openxmlformats.org/officeDocument/2006/relationships/hyperlink" Target="https://onlinelibrary.wiley.com/doi/10.1002/pds.5776" TargetMode="External"/><Relationship Id="rId2" Type="http://schemas.openxmlformats.org/officeDocument/2006/relationships/slide" Target="../slides/slide12.xml"/><Relationship Id="rId16" Type="http://schemas.openxmlformats.org/officeDocument/2006/relationships/hyperlink" Target="https://pubmed.ncbi.nlm.nih.gov/42532461" TargetMode="External"/><Relationship Id="rId20" Type="http://schemas.openxmlformats.org/officeDocument/2006/relationships/hyperlink" Target="https://pubmed.ncbi.nlm.nih.gov/37341554" TargetMode="External"/><Relationship Id="rId1" Type="http://schemas.openxmlformats.org/officeDocument/2006/relationships/notesMaster" Target="../notesMasters/notesMaster1.xml"/><Relationship Id="rId6" Type="http://schemas.openxmlformats.org/officeDocument/2006/relationships/hyperlink" Target="https://pubmed.ncbi.nlm.nih.gov/37118883" TargetMode="External"/><Relationship Id="rId11" Type="http://schemas.openxmlformats.org/officeDocument/2006/relationships/hyperlink" Target="https://onlinelibrary.wiley.com/doi/10.1002/pds.2211" TargetMode="External"/><Relationship Id="rId24" Type="http://schemas.openxmlformats.org/officeDocument/2006/relationships/hyperlink" Target="https://onlinelibrary.wiley.com/doi/10.1111/ppe.70068" TargetMode="External"/><Relationship Id="rId5" Type="http://schemas.openxmlformats.org/officeDocument/2006/relationships/hyperlink" Target="https://pubmed.ncbi.nlm.nih.gov/35192828" TargetMode="External"/><Relationship Id="rId15" Type="http://schemas.openxmlformats.org/officeDocument/2006/relationships/hyperlink" Target="https://pubmed.ncbi.nlm.nih.gov/24981036" TargetMode="External"/><Relationship Id="rId23" Type="http://schemas.openxmlformats.org/officeDocument/2006/relationships/hyperlink" Target="https://onlinelibrary.wiley.com/doi/10.1002/pds.2211" TargetMode="External"/><Relationship Id="rId10" Type="http://schemas.openxmlformats.org/officeDocument/2006/relationships/hyperlink" Target="https://onlinelibrary.wiley.com/doi/10.1002/pds.4201" TargetMode="External"/><Relationship Id="rId19" Type="http://schemas.openxmlformats.org/officeDocument/2006/relationships/hyperlink" Target="https://pubmed.ncbi.nlm.nih.gov/41391744" TargetMode="External"/><Relationship Id="rId4" Type="http://schemas.openxmlformats.org/officeDocument/2006/relationships/hyperlink" Target="https://pubmed.ncbi.nlm.nih.gov/42532461" TargetMode="External"/><Relationship Id="rId9" Type="http://schemas.openxmlformats.org/officeDocument/2006/relationships/hyperlink" Target="https://pubmed.ncbi.nlm.nih.gov/23913935" TargetMode="External"/><Relationship Id="rId14" Type="http://schemas.openxmlformats.org/officeDocument/2006/relationships/hyperlink" Target="https://pubmed.ncbi.nlm.nih.gov/40098545" TargetMode="External"/><Relationship Id="rId22" Type="http://schemas.openxmlformats.org/officeDocument/2006/relationships/hyperlink" Target="https://onlinelibrary.wiley.com/doi/10.1002/pds.4201"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pubmed.ncbi.nlm.nih.gov/41346401" TargetMode="External"/><Relationship Id="rId3" Type="http://schemas.openxmlformats.org/officeDocument/2006/relationships/hyperlink" Target="https://pubmed.ncbi.nlm.nih.gov/15051246" TargetMode="External"/><Relationship Id="rId7" Type="http://schemas.openxmlformats.org/officeDocument/2006/relationships/hyperlink" Target="https://pubmed.ncbi.nlm.nih.gov/30242966"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pubmed.ncbi.nlm.nih.gov/38898347" TargetMode="External"/><Relationship Id="rId11" Type="http://schemas.openxmlformats.org/officeDocument/2006/relationships/hyperlink" Target="https://pubmed.ncbi.nlm.nih.gov/14968848" TargetMode="External"/><Relationship Id="rId5" Type="http://schemas.openxmlformats.org/officeDocument/2006/relationships/hyperlink" Target="https://pubmed.ncbi.nlm.nih.gov/41611209" TargetMode="External"/><Relationship Id="rId10" Type="http://schemas.openxmlformats.org/officeDocument/2006/relationships/hyperlink" Target="https://jamanetwork.com/journals/jamanetworkopen/fullarticle/10.1001/jamanetworkopen.2024.38677?utm_source=openevidence&amp;utm_medium=referral" TargetMode="External"/><Relationship Id="rId4" Type="http://schemas.openxmlformats.org/officeDocument/2006/relationships/hyperlink" Target="https://pubmed.ncbi.nlm.nih.gov/42512134" TargetMode="External"/><Relationship Id="rId9" Type="http://schemas.openxmlformats.org/officeDocument/2006/relationships/hyperlink" Target="https://pubmed.ncbi.nlm.nih.gov/15987002" TargetMode="Externa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jamanetwork.com/journals/jamaophthalmology/fullarticle/10.1001/jamaophthalmol.2019.2901?utm_source=openevidence&amp;utm_medium=referral" TargetMode="External"/><Relationship Id="rId3" Type="http://schemas.openxmlformats.org/officeDocument/2006/relationships/hyperlink" Target="https://pubmed.ncbi.nlm.nih.gov/41346401" TargetMode="External"/><Relationship Id="rId7" Type="http://schemas.openxmlformats.org/officeDocument/2006/relationships/hyperlink" Target="https://pubmed.ncbi.nlm.nih.gov/26544901"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pubmed.ncbi.nlm.nih.gov/42092334" TargetMode="External"/><Relationship Id="rId5" Type="http://schemas.openxmlformats.org/officeDocument/2006/relationships/hyperlink" Target="https://pubmed.ncbi.nlm.nih.gov/38296752" TargetMode="External"/><Relationship Id="rId4" Type="http://schemas.openxmlformats.org/officeDocument/2006/relationships/hyperlink" Target="https://pubmed.ncbi.nlm.nih.gov/38898347" TargetMode="External"/><Relationship Id="rId9" Type="http://schemas.openxmlformats.org/officeDocument/2006/relationships/hyperlink" Target="https://pubmed.ncbi.nlm.nih.gov/40120626"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610274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22343A"/>
                </a:solidFill>
                <a:ea typeface="Calibri" pitchFamily="34" charset="-122"/>
                <a:cs typeface="Calibri" pitchFamily="34" charset="-120"/>
              </a:rPr>
              <a:t>Environmental pharmacoepidemiology draws on several quantitative method families. This lecture concentrates on three that are less familiar to pharmacoepidemiologists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Landscape. The intellectual spine. Distinguish standard PE reused (cohort/self-controlled, drug utilization) from methods borrowed from other fields (ERA, wastewater epi, LCA). Adapted: geospatial linkage.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 utilization as a method. The engine (counts, DDDs, small-area, trends) is unchanged. The one new ingredient is a per-unit impact weight (CO2e per dose, waste per course). Then sum and prioritize by volume x impact.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 emission-based drug utilization studies combine pharmacoepidemiologic dispensing/formulary data with per-product environmental impact factors to quantify the population-level carbon footprint of prescribing and to identify access barriers to lower-emission alternatives.
1. Emission quantification (per-product impact factor): MDI emissions = weight of inhaler contents × propellant percentage × 100-year GWP of the propellant (Tirumalasetty, JAMA, 2024). Inputs: inhaler weight from package insert; propellant type/percentage from MSDS; 100-year GWP from IPCC AR6; manufacturing/API emissions from prior European LCA. Benchmarks: ~22 to 23 kg CO2e per MDI vs ~0.8 per DPI and ~0.78 per SMI (~28-fold) (Feldman, JAMA, 2025; Tirumalasetty 2024).
2. Utilization and access (pharmacoepidemiology): population emissions = mean emissions per device class × number of claims/fills per class (Tirumalasetty 2024; Feldman 2025). Data: 100% FFS Medicare Part D; CMS Medicaid summaries; national pharmacy claims registries; commercial formulary databases (MMIT/Coverage Search) representing ~98% of US insured lives (Parthasarathi, Lancet Reg Health Am, 2025; Parthasarathi, JAMA Netw Open, 2026). Access metrics: formulary coverage, cost-sharing tier, prior authorization (PA), step therapy (ST).
Why combined: emissions concentrated in a few high-volume drugs (albuterol, budesonide-formoterol, fluticasone ~87% of US inhaler emissions), so utilization + formulary data pinpoint where switching yields the greatest climate benefit (Feldman 2025).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Inhaler worked example. Parthasarathi Lancet Reg Health Am 2025. Three steps: utilization shares; impact weight (GWP); access barriers (cost, prior authorization, step therapy). The barrier is structural, which is exactly what utilization research surfaces. Adapted from Penn slides 75 to 78.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Emission quantification: Tirumalasetty (JAMA, 2024): 69.8 million Medicare Part D + Medicaid inhaler claims (2022) to ~1.15 MMT CO2e; MDIs = ~98% of emissions but &lt;40% of spending; established the weight × propellant × GWP formula. Feldman (JAMA, 2025): serial cross-sectional analysis of the full post-CFC era (2014 to 2024); 1.6 billion inhalers to 24.9 MMT CO2e; MDIs = 98%; estimated social cost $5.7 billion. Weppner (JAMA, 2025): longitudinal VA study; inhaler emissions fell 68% (2008 to 2023), with a further drop after a 2021 formulary switch to DPIs. Kanwal (Int J Clin Pharm, 2025): Irish national pharmacy claims (2020 to 2022); scenario modeling of 10 to 50% MDI-to-non-propellant substitution.
B. Utilization + access (Setoguchi group): Parthasarathi (Lancet Reg Health Am, 2025): 100% FFS Medicare (2008 to 2022); 160.8M inhalers to 10.5M older adults, 51% MDIs. Only 18% (SABA) and 50% (ICS) of 2530 Part D plans covered DPIs; &gt;70% of covering plans placed DPIs in higher tiers; 32 to 58% required PA or ST. Parthasarathi (JAMA Netw Open, 2026): cross-sectional 31,219 commercial plan-state combinations via MMIT Coverage Search (May 2026). MDI coverage near-universal (SABA 99.6%, ICS 99.4%, ICS-LABA 99.1%); propellant-free lower (SABA 33.2%, ICS 89.5%, ICS-LABA 82.6%). Largest imbalance in SABAs: 66.4% of plans offered only an MDI SABA. Low-barrier (tier 1 to 2, no PA/ST) access to propellant-free much less common (SABA 7.8% vs 99.2%; ICS 61.8% vs 93.8%; ICS-LABA 52.2% vs 88.7%). Commercial formulary design mirrors Medicare barriers, favoring high-emission MDIs.
Shared limitation: formulary data capture plan-level coverage, not enrollment-weighted use, actual out-of-pocket costs, or clinical appropriateness of device switching.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2343A"/>
                </a:solidFill>
                <a:latin typeface="Calibri" pitchFamily="34" charset="0"/>
                <a:ea typeface="Calibri" pitchFamily="34" charset="-122"/>
                <a:cs typeface="Calibri" pitchFamily="34" charset="-120"/>
              </a:rPr>
              <a:t>A natural extension of drug utilization research: it turns prescribing volumes into environmental risk estimates by combining consumption data with ecotoxicological thresholds.</a:t>
            </a:r>
            <a:endParaRPr lang="en-US" sz="1200" dirty="0"/>
          </a:p>
          <a:p>
            <a:endParaRPr lang="en-US" dirty="0"/>
          </a:p>
          <a:p>
            <a:endParaRPr lang="en-US" dirty="0"/>
          </a:p>
          <a:p>
            <a:r>
              <a:rPr lang="en-US" dirty="0"/>
              <a:t>Consumption-based ERA. Core method slide. PEC from consumption adjusted by excretion, removal, dilution; PNEC from ecotoxicity via assessment factor; RQ = PEC/PNEC, priority when &gt;=1. PE supplies consumption; toxicology supplies thresholds. Wastewater-based epidemiology as complementary measurement.</a:t>
            </a:r>
          </a:p>
          <a:p>
            <a:endParaRPr lang="en-US" dirty="0"/>
          </a:p>
          <a:p>
            <a:endParaRPr lang="en-US" dirty="0"/>
          </a:p>
          <a:p>
            <a:endParaRPr lang="en-US" dirty="0"/>
          </a:p>
          <a:p>
            <a:endParaRPr lang="en-US" dirty="0"/>
          </a:p>
          <a:p>
            <a:r>
              <a:rPr lang="en-US" dirty="0"/>
              <a:t>https://</a:t>
            </a:r>
            <a:r>
              <a:rPr lang="en-US" dirty="0" err="1"/>
              <a:t>onlinelibrary.wiley.com</a:t>
            </a:r>
            <a:r>
              <a:rPr lang="en-US" dirty="0"/>
              <a:t>/</a:t>
            </a:r>
            <a:r>
              <a:rPr lang="en-US" dirty="0" err="1"/>
              <a:t>doi</a:t>
            </a:r>
            <a:r>
              <a:rPr lang="en-US" dirty="0"/>
              <a:t>/10.1002/etc.5702</a:t>
            </a:r>
          </a:p>
          <a:p>
            <a:r>
              <a:rPr lang="en-US" dirty="0"/>
              <a:t>https://</a:t>
            </a:r>
            <a:r>
              <a:rPr lang="en-US" dirty="0" err="1"/>
              <a:t>www.tandfonline.com</a:t>
            </a:r>
            <a:r>
              <a:rPr lang="en-US" dirty="0"/>
              <a:t>/</a:t>
            </a:r>
            <a:r>
              <a:rPr lang="en-US" dirty="0" err="1"/>
              <a:t>doi</a:t>
            </a:r>
            <a:r>
              <a:rPr lang="en-US" dirty="0"/>
              <a:t>/abs/10.1080/10807030802235078</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Correct — "dispensing data" is the more precise term.</a:t>
                </a:r>
                <a:r>
                  <a:rPr lang="en-US" sz="1200" b="0" i="0" kern="1200" dirty="0">
                    <a:solidFill>
                      <a:schemeClr val="tx1"/>
                    </a:solidFill>
                    <a:effectLst/>
                    <a:latin typeface="+mn-lt"/>
                    <a:ea typeface="+mn-ea"/>
                    <a:cs typeface="+mn-cs"/>
                  </a:rPr>
                  <a:t> What the Catalonia study and similar pharmacy/reimbursement-based assessments actually capture is the quantity of drug dispensed (handed over at the pharmacy and typically reimbursed), which sits between what was prescribed and what was truly consumed:</a:t>
                </a:r>
              </a:p>
              <a:p>
                <a:pPr lvl="0"/>
                <a:r>
                  <a:rPr lang="en-US" sz="1200" b="1" i="0" kern="1200" dirty="0">
                    <a:solidFill>
                      <a:schemeClr val="tx1"/>
                    </a:solidFill>
                    <a:effectLst/>
                    <a:latin typeface="+mn-lt"/>
                    <a:ea typeface="+mn-ea"/>
                    <a:cs typeface="+mn-cs"/>
                  </a:rPr>
                  <a:t>Prescribed ≠ dispensed:</a:t>
                </a:r>
                <a:r>
                  <a:rPr lang="en-US" sz="1200" b="0" i="0" kern="1200" dirty="0">
                    <a:solidFill>
                      <a:schemeClr val="tx1"/>
                    </a:solidFill>
                    <a:effectLst/>
                    <a:latin typeface="+mn-lt"/>
                    <a:ea typeface="+mn-ea"/>
                    <a:cs typeface="+mn-cs"/>
                  </a:rPr>
                  <a:t> a prescription may be written but never filled (primary non-adherence). Prescription-issuance data would overcount relative to dispensing.</a:t>
                </a:r>
              </a:p>
              <a:p>
                <a:pPr lvl="0"/>
                <a:r>
                  <a:rPr lang="en-US" sz="1200" b="1" i="0" kern="1200" dirty="0">
                    <a:solidFill>
                      <a:schemeClr val="tx1"/>
                    </a:solidFill>
                    <a:effectLst/>
                    <a:latin typeface="+mn-lt"/>
                    <a:ea typeface="+mn-ea"/>
                    <a:cs typeface="+mn-cs"/>
                  </a:rPr>
                  <a:t>Dispensed ≠ consumed:</a:t>
                </a:r>
                <a:r>
                  <a:rPr lang="en-US" sz="1200" b="0" i="0" kern="1200" dirty="0">
                    <a:solidFill>
                      <a:schemeClr val="tx1"/>
                    </a:solidFill>
                    <a:effectLst/>
                    <a:latin typeface="+mn-lt"/>
                    <a:ea typeface="+mn-ea"/>
                    <a:cs typeface="+mn-cs"/>
                  </a:rPr>
                  <a:t> medicines dispensed may be only partially taken, discarded, stockpiled, or flushed unused. Ironically, unused drugs flushed or landfilled can still reach the environment, so "consumed" is not even the ideal exposure denominator for an environmental model — total dispensed mass is arguably closer to the mass that can enter the waste stream, whether via excretion of what was taken or disposal of what was not.</a:t>
                </a:r>
              </a:p>
              <a:p>
                <a:r>
                  <a:rPr lang="en-US" sz="1200" b="0" i="0" kern="1200" dirty="0">
                    <a:solidFill>
                      <a:schemeClr val="tx1"/>
                    </a:solidFill>
                    <a:effectLst/>
                    <a:latin typeface="+mn-lt"/>
                    <a:ea typeface="+mn-ea"/>
                    <a:cs typeface="+mn-cs"/>
                  </a:rPr>
                  <a:t>So the label "prescription-consumption data" is loose shorthand. Strictly, these datasets are </a:t>
                </a:r>
                <a:r>
                  <a:rPr lang="en-US" sz="1200" b="1" i="0" kern="1200" dirty="0">
                    <a:solidFill>
                      <a:schemeClr val="tx1"/>
                    </a:solidFill>
                    <a:effectLst/>
                    <a:latin typeface="+mn-lt"/>
                    <a:ea typeface="+mn-ea"/>
                    <a:cs typeface="+mn-cs"/>
                  </a:rPr>
                  <a:t>dispensing/reimbursement records</a:t>
                </a:r>
                <a:r>
                  <a:rPr lang="en-US" sz="1200" b="0" i="0" kern="1200" dirty="0">
                    <a:solidFill>
                      <a:schemeClr val="tx1"/>
                    </a:solidFill>
                    <a:effectLst/>
                    <a:latin typeface="+mn-lt"/>
                    <a:ea typeface="+mn-ea"/>
                    <a:cs typeface="+mn-cs"/>
                  </a:rPr>
                  <a:t>, and they are used as a proxy for consumption (and thus for environmental input mass). The distinction matters for interpretation:</a:t>
                </a:r>
              </a:p>
              <a:p>
                <a:pPr lvl="0"/>
                <a:r>
                  <a:rPr lang="en-US" sz="1200" b="0" i="0" kern="1200" dirty="0">
                    <a:solidFill>
                      <a:schemeClr val="tx1"/>
                    </a:solidFill>
                    <a:effectLst/>
                    <a:latin typeface="+mn-lt"/>
                    <a:ea typeface="+mn-ea"/>
                    <a:cs typeface="+mn-cs"/>
                  </a:rPr>
                  <a:t>It is a </a:t>
                </a:r>
                <a:r>
                  <a:rPr lang="en-US" sz="1200" b="1" i="0" kern="1200" dirty="0">
                    <a:solidFill>
                      <a:schemeClr val="tx1"/>
                    </a:solidFill>
                    <a:effectLst/>
                    <a:latin typeface="+mn-lt"/>
                    <a:ea typeface="+mn-ea"/>
                    <a:cs typeface="+mn-cs"/>
                  </a:rPr>
                  <a:t>proxy, with directional error</a:t>
                </a:r>
                <a:r>
                  <a:rPr lang="en-US" sz="1200" b="0" i="0" kern="1200" dirty="0">
                    <a:solidFill>
                      <a:schemeClr val="tx1"/>
                    </a:solidFill>
                    <a:effectLst/>
                    <a:latin typeface="+mn-lt"/>
                    <a:ea typeface="+mn-ea"/>
                    <a:cs typeface="+mn-cs"/>
                  </a:rPr>
                  <a:t> — dispensed mass overestimates the fraction actually ingested and excreted, but may underestimate total environmental load if a portion is disposed of unused and separately enters the environment.</a:t>
                </a:r>
              </a:p>
              <a:p>
                <a:pPr lvl="0"/>
                <a:r>
                  <a:rPr lang="en-US" sz="1200" b="1" i="0" kern="1200" dirty="0">
                    <a:solidFill>
                      <a:schemeClr val="tx1"/>
                    </a:solidFill>
                    <a:effectLst/>
                    <a:latin typeface="+mn-lt"/>
                    <a:ea typeface="+mn-ea"/>
                    <a:cs typeface="+mn-cs"/>
                  </a:rPr>
                  <a:t>Excretion-fraction assumptions</a:t>
                </a:r>
                <a:r>
                  <a:rPr lang="en-US" sz="1200" b="0" i="0" kern="1200" dirty="0">
                    <a:solidFill>
                      <a:schemeClr val="tx1"/>
                    </a:solidFill>
                    <a:effectLst/>
                    <a:latin typeface="+mn-lt"/>
                    <a:ea typeface="+mn-ea"/>
                    <a:cs typeface="+mn-cs"/>
                  </a:rPr>
                  <a:t> in the PEC equation implicitly assume the dispensed drug was taken. Non-adherence breaks that assumption, adding uncertainty not usually quantified.</a:t>
                </a:r>
              </a:p>
              <a:p>
                <a:pPr lvl="0"/>
                <a:r>
                  <a:rPr lang="en-US" sz="1200" b="0" i="0" kern="1200" dirty="0">
                    <a:solidFill>
                      <a:schemeClr val="tx1"/>
                    </a:solidFill>
                    <a:effectLst/>
                    <a:latin typeface="+mn-lt"/>
                    <a:ea typeface="+mn-ea"/>
                    <a:cs typeface="+mn-cs"/>
                  </a:rPr>
                  <a:t>It still </a:t>
                </a:r>
                <a:r>
                  <a:rPr lang="en-US" sz="1200" b="1" i="0" kern="1200" dirty="0">
                    <a:solidFill>
                      <a:schemeClr val="tx1"/>
                    </a:solidFill>
                    <a:effectLst/>
                    <a:latin typeface="+mn-lt"/>
                    <a:ea typeface="+mn-ea"/>
                    <a:cs typeface="+mn-cs"/>
                  </a:rPr>
                  <a:t>excludes OTC, hospital-only, and veterinary use</a:t>
                </a:r>
                <a:r>
                  <a:rPr lang="en-US" sz="1200" b="0" i="0" kern="1200" dirty="0">
                    <a:solidFill>
                      <a:schemeClr val="tx1"/>
                    </a:solidFill>
                    <a:effectLst/>
                    <a:latin typeface="+mn-lt"/>
                    <a:ea typeface="+mn-ea"/>
                    <a:cs typeface="+mn-cs"/>
                  </a:rPr>
                  <a:t> and any illicit or unregistered supply, so even as a dispensing metric it is incomplete for total environmental input.</a:t>
                </a:r>
              </a:p>
              <a:p>
                <a:r>
                  <a:rPr lang="en-US" sz="1200" b="0" i="0" kern="1200" dirty="0">
                    <a:solidFill>
                      <a:schemeClr val="tx1"/>
                    </a:solidFill>
                    <a:effectLst/>
                    <a:latin typeface="+mn-lt"/>
                    <a:ea typeface="+mn-ea"/>
                    <a:cs typeface="+mn-cs"/>
                  </a:rPr>
                  <a:t>For precision in your write-up, "dispensing data (used as a proxy for consumption)" or "reimbursement/dispensing data" describes these inputs more accurately than either "prescription" or "consumption" alone.</a:t>
                </a:r>
              </a:p>
              <a:p>
                <a:r>
                  <a:rPr lang="en-US" sz="1200" b="0" i="0" kern="1200" dirty="0">
                    <a:solidFill>
                      <a:schemeClr val="tx1"/>
                    </a:solidFill>
                    <a:effectLst/>
                    <a:latin typeface="+mn-lt"/>
                    <a:ea typeface="+mn-ea"/>
                    <a:cs typeface="+mn-cs"/>
                  </a:rPr>
                  <a:t>Would you like to explore how non-adherence and unused-drug disposal bias dispensing-based PEC estimates?</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"Dispensing data" is the accurate label for prescription/reimbursement-based claims inputs</a:t>
                </a:r>
                <a:r>
                  <a:rPr lang="en-US" sz="1200" b="0" i="0" kern="1200" dirty="0">
                    <a:solidFill>
                      <a:schemeClr val="tx1"/>
                    </a:solidFill>
                    <a:effectLst/>
                    <a:latin typeface="+mn-lt"/>
                    <a:ea typeface="+mn-ea"/>
                    <a:cs typeface="+mn-cs"/>
                  </a:rPr>
                  <a:t>, and the table below adopts it, reserving "sales/wholesale" and "national consumption statistics" for studies whose inputs are not pharmacy-level claims. Added examples that likewise build on large-scale drug utilization datasets: Greece (Iatrou, 24 antimicrobials from national consumption statistics), Australia (Day &amp;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community antibiotics from national dispensing/PBS-type data), and Ireland (Monahan, national human vs. veterinary antibiotic usage). [1-3] The France effluent-screening and Portugal 16-drug validation studies remain excluded because they are not built on a large utilization dataset.</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Research question</a:t>
                </a:r>
              </a:p>
              <a:p>
                <a:pPr fontAlgn="b"/>
                <a:r>
                  <a:rPr lang="en-US" sz="1200" b="1" i="0" kern="1200" dirty="0">
                    <a:solidFill>
                      <a:schemeClr val="tx1"/>
                    </a:solidFill>
                    <a:effectLst/>
                    <a:latin typeface="+mn-lt"/>
                    <a:ea typeface="+mn-ea"/>
                    <a:cs typeface="+mn-cs"/>
                  </a:rPr>
                  <a:t>Data source (precise type)</a:t>
                </a:r>
              </a:p>
              <a:p>
                <a:pPr fontAlgn="b"/>
                <a:r>
                  <a:rPr lang="en-US" sz="1200" b="1" i="0" kern="1200" dirty="0">
                    <a:solidFill>
                      <a:schemeClr val="tx1"/>
                    </a:solidFill>
                    <a:effectLst/>
                    <a:latin typeface="+mn-lt"/>
                    <a:ea typeface="+mn-ea"/>
                    <a:cs typeface="+mn-cs"/>
                  </a:rPr>
                  <a:t>Key assumptions</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Main limitations</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listWhich</a:t>
                </a:r>
                <a:r>
                  <a:rPr lang="en-US" sz="1200" b="0" i="0" kern="1200" dirty="0">
                    <a:solidFill>
                      <a:schemeClr val="tx1"/>
                    </a:solidFill>
                    <a:effectLst/>
                    <a:latin typeface="+mn-lt"/>
                    <a:ea typeface="+mn-ea"/>
                    <a:cs typeface="+mn-cs"/>
                  </a:rPr>
                  <a:t> watch-list drugs pose greatest environmental risk in </a:t>
                </a:r>
                <a:r>
                  <a:rPr lang="en-US" sz="1200" b="0" i="0" kern="1200" dirty="0" err="1">
                    <a:solidFill>
                      <a:schemeClr val="tx1"/>
                    </a:solidFill>
                    <a:effectLst/>
                    <a:latin typeface="+mn-lt"/>
                    <a:ea typeface="+mn-ea"/>
                    <a:cs typeface="+mn-cs"/>
                  </a:rPr>
                  <a:t>Italy?National</a:t>
                </a:r>
                <a:r>
                  <a:rPr lang="en-US" sz="1200" b="0" i="0" kern="1200" dirty="0">
                    <a:solidFill>
                      <a:schemeClr val="tx1"/>
                    </a:solidFill>
                    <a:effectLst/>
                    <a:latin typeface="+mn-lt"/>
                    <a:ea typeface="+mn-ea"/>
                    <a:cs typeface="+mn-cs"/>
                  </a:rPr>
                  <a:t> drug utilization statistics 2019–21; 25-drug Stockholm PNEC </a:t>
                </a:r>
                <a:r>
                  <a:rPr lang="en-US" sz="1200" b="0" i="0" kern="1200" dirty="0" err="1">
                    <a:solidFill>
                      <a:schemeClr val="tx1"/>
                    </a:solidFill>
                    <a:effectLst/>
                    <a:latin typeface="+mn-lt"/>
                    <a:ea typeface="+mn-ea"/>
                    <a:cs typeface="+mn-cs"/>
                  </a:rPr>
                  <a:t>listStandard</a:t>
                </a:r>
                <a:r>
                  <a:rPr lang="en-US" sz="1200" b="0" i="0" kern="1200" dirty="0">
                    <a:solidFill>
                      <a:schemeClr val="tx1"/>
                    </a:solidFill>
                    <a:effectLst/>
                    <a:latin typeface="+mn-lt"/>
                    <a:ea typeface="+mn-ea"/>
                    <a:cs typeface="+mn-cs"/>
                  </a:rPr>
                  <a:t> excretion + dilution; external Stockholm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levonorgestrel, ciprofloxacin, amoxicillin, azithromycin, venlafaxine, sertraline, diclofenac25 pre-selected drugs; external PNECs; no measured </a:t>
                </a:r>
                <a:r>
                  <a:rPr lang="en-US" sz="1200" b="0" i="0" kern="1200" dirty="0" err="1">
                    <a:solidFill>
                      <a:schemeClr val="tx1"/>
                    </a:solidFill>
                    <a:effectLst/>
                    <a:latin typeface="+mn-lt"/>
                    <a:ea typeface="+mn-ea"/>
                    <a:cs typeface="+mn-cs"/>
                  </a:rPr>
                  <a:t>validationGiunchi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 [4]</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SpainWhich</a:t>
                </a:r>
                <a:r>
                  <a:rPr lang="en-US" sz="1200" b="0" i="0" kern="1200" dirty="0">
                    <a:solidFill>
                      <a:schemeClr val="tx1"/>
                    </a:solidFill>
                    <a:effectLst/>
                    <a:latin typeface="+mn-lt"/>
                    <a:ea typeface="+mn-ea"/>
                    <a:cs typeface="+mn-cs"/>
                  </a:rPr>
                  <a:t> of 810 drugs to prioritize; how does risk vary spatially/</a:t>
                </a:r>
                <a:r>
                  <a:rPr lang="en-US" sz="1200" b="0" i="0" kern="1200" dirty="0" err="1">
                    <a:solidFill>
                      <a:schemeClr val="tx1"/>
                    </a:solidFill>
                    <a:effectLst/>
                    <a:latin typeface="+mn-lt"/>
                    <a:ea typeface="+mn-ea"/>
                    <a:cs typeface="+mn-cs"/>
                  </a:rPr>
                  <a:t>seasonally?Regional</a:t>
                </a:r>
                <a:r>
                  <a:rPr lang="en-US" sz="1200" b="0" i="0" kern="1200" dirty="0">
                    <a:solidFill>
                      <a:schemeClr val="tx1"/>
                    </a:solidFill>
                    <a:effectLst/>
                    <a:latin typeface="+mn-lt"/>
                    <a:ea typeface="+mn-ea"/>
                    <a:cs typeface="+mn-cs"/>
                  </a:rPr>
                  <a:t> dispensing/reimbursement data 2014–21, 810 </a:t>
                </a:r>
                <a:r>
                  <a:rPr lang="en-US" sz="1200" b="0" i="0" kern="1200" dirty="0" err="1">
                    <a:solidFill>
                      <a:schemeClr val="tx1"/>
                    </a:solidFill>
                    <a:effectLst/>
                    <a:latin typeface="+mn-lt"/>
                    <a:ea typeface="+mn-ea"/>
                    <a:cs typeface="+mn-cs"/>
                  </a:rPr>
                  <a:t>substancesExcretion</a:t>
                </a:r>
                <a:r>
                  <a:rPr lang="en-US" sz="1200" b="0" i="0" kern="1200" dirty="0">
                    <a:solidFill>
                      <a:schemeClr val="tx1"/>
                    </a:solidFill>
                    <a:effectLst/>
                    <a:latin typeface="+mn-lt"/>
                    <a:ea typeface="+mn-ea"/>
                    <a:cs typeface="+mn-cs"/>
                  </a:rPr>
                  <a:t>, WWTP removal, dilution; water-scarcity factor261/810 exceeded EMA 10 ng/L in 2021; rose with </a:t>
                </a:r>
                <a:r>
                  <a:rPr lang="en-US" sz="1200" b="0" i="0" kern="1200" dirty="0" err="1">
                    <a:solidFill>
                      <a:schemeClr val="tx1"/>
                    </a:solidFill>
                    <a:effectLst/>
                    <a:latin typeface="+mn-lt"/>
                    <a:ea typeface="+mn-ea"/>
                    <a:cs typeface="+mn-cs"/>
                  </a:rPr>
                  <a:t>scarcityDispensing</a:t>
                </a:r>
                <a:r>
                  <a:rPr lang="en-US" sz="1200" b="0" i="0" kern="1200" dirty="0">
                    <a:solidFill>
                      <a:schemeClr val="tx1"/>
                    </a:solidFill>
                    <a:effectLst/>
                    <a:latin typeface="+mn-lt"/>
                    <a:ea typeface="+mn-ea"/>
                    <a:cs typeface="+mn-cs"/>
                  </a:rPr>
                  <a:t>-only (no OTC/hospital/vet); default parameters; single </a:t>
                </a:r>
                <a:r>
                  <a:rPr lang="en-US" sz="1200" b="0" i="0" kern="1200" dirty="0" err="1">
                    <a:solidFill>
                      <a:schemeClr val="tx1"/>
                    </a:solidFill>
                    <a:effectLst/>
                    <a:latin typeface="+mn-lt"/>
                    <a:ea typeface="+mn-ea"/>
                    <a:cs typeface="+mn-cs"/>
                  </a:rPr>
                  <a:t>thresholdDomínguez</a:t>
                </a:r>
                <a:r>
                  <a:rPr lang="en-US" sz="1200" b="0" i="0" kern="1200" dirty="0">
                    <a:solidFill>
                      <a:schemeClr val="tx1"/>
                    </a:solidFill>
                    <a:effectLst/>
                    <a:latin typeface="+mn-lt"/>
                    <a:ea typeface="+mn-ea"/>
                    <a:cs typeface="+mn-cs"/>
                  </a:rPr>
                  <a:t>-García, Environ Res, 2025 [5]</a:t>
                </a:r>
              </a:p>
              <a:p>
                <a:r>
                  <a:rPr lang="en-US" sz="1200" b="0" i="0" kern="1200" dirty="0" err="1">
                    <a:solidFill>
                      <a:schemeClr val="tx1"/>
                    </a:solidFill>
                    <a:effectLst/>
                    <a:latin typeface="+mn-lt"/>
                    <a:ea typeface="+mn-ea"/>
                    <a:cs typeface="+mn-cs"/>
                  </a:rPr>
                  <a:t>NorwayCan</a:t>
                </a:r>
                <a:r>
                  <a:rPr lang="en-US" sz="1200" b="0" i="0" kern="1200" dirty="0">
                    <a:solidFill>
                      <a:schemeClr val="tx1"/>
                    </a:solidFill>
                    <a:effectLst/>
                    <a:latin typeface="+mn-lt"/>
                    <a:ea typeface="+mn-ea"/>
                    <a:cs typeface="+mn-cs"/>
                  </a:rPr>
                  <a:t> national sales data reliably predict risk vs. </a:t>
                </a:r>
                <a:r>
                  <a:rPr lang="en-US" sz="1200" b="0" i="0" kern="1200" dirty="0" err="1">
                    <a:solidFill>
                      <a:schemeClr val="tx1"/>
                    </a:solidFill>
                    <a:effectLst/>
                    <a:latin typeface="+mn-lt"/>
                    <a:ea typeface="+mn-ea"/>
                    <a:cs typeface="+mn-cs"/>
                  </a:rPr>
                  <a:t>measurements?National</a:t>
                </a:r>
                <a:r>
                  <a:rPr lang="en-US" sz="1200" b="0" i="0" kern="1200" dirty="0">
                    <a:solidFill>
                      <a:schemeClr val="tx1"/>
                    </a:solidFill>
                    <a:effectLst/>
                    <a:latin typeface="+mn-lt"/>
                    <a:ea typeface="+mn-ea"/>
                    <a:cs typeface="+mn-cs"/>
                  </a:rPr>
                  <a:t> wholesale + prescription + veterinary sales 2016–19, ~200 </a:t>
                </a:r>
                <a:r>
                  <a:rPr lang="en-US" sz="1200" b="0" i="0" kern="1200" dirty="0" err="1">
                    <a:solidFill>
                      <a:schemeClr val="tx1"/>
                    </a:solidFill>
                    <a:effectLst/>
                    <a:latin typeface="+mn-lt"/>
                    <a:ea typeface="+mn-ea"/>
                    <a:cs typeface="+mn-cs"/>
                  </a:rPr>
                  <a:t>APIsConservative</a:t>
                </a:r>
                <a:r>
                  <a:rPr lang="en-US" sz="1200" b="0" i="0" kern="1200" dirty="0">
                    <a:solidFill>
                      <a:schemeClr val="tx1"/>
                    </a:solidFill>
                    <a:effectLst/>
                    <a:latin typeface="+mn-lt"/>
                    <a:ea typeface="+mn-ea"/>
                    <a:cs typeface="+mn-cs"/>
                  </a:rPr>
                  <a:t> PEC; adds persistence/bioaccumulation flags17 APIs RQ &gt;1; levonorgestrel RQ 220, ciprofloxacin RQ 56Overpredicted 18/20 vs. measured; OTC gap (~70%); sparse PNEC/PBT </a:t>
                </a:r>
                <a:r>
                  <a:rPr lang="en-US" sz="1200" b="0" i="0" kern="1200" dirty="0" err="1">
                    <a:solidFill>
                      <a:schemeClr val="tx1"/>
                    </a:solidFill>
                    <a:effectLst/>
                    <a:latin typeface="+mn-lt"/>
                    <a:ea typeface="+mn-ea"/>
                    <a:cs typeface="+mn-cs"/>
                  </a:rPr>
                  <a:t>dataWelch</a:t>
                </a:r>
                <a:r>
                  <a:rPr lang="en-US" sz="1200" b="0" i="0" kern="1200" dirty="0">
                    <a:solidFill>
                      <a:schemeClr val="tx1"/>
                    </a:solidFill>
                    <a:effectLst/>
                    <a:latin typeface="+mn-lt"/>
                    <a:ea typeface="+mn-ea"/>
                    <a:cs typeface="+mn-cs"/>
                  </a:rPr>
                  <a:t>,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 [6]</a:t>
                </a:r>
              </a:p>
              <a:p>
                <a:r>
                  <a:rPr lang="en-US" sz="1200" b="0" i="0" kern="1200" dirty="0" err="1">
                    <a:solidFill>
                      <a:schemeClr val="tx1"/>
                    </a:solidFill>
                    <a:effectLst/>
                    <a:latin typeface="+mn-lt"/>
                    <a:ea typeface="+mn-ea"/>
                    <a:cs typeface="+mn-cs"/>
                  </a:rPr>
                  <a:t>GreeceWhat</a:t>
                </a:r>
                <a:r>
                  <a:rPr lang="en-US" sz="1200" b="0" i="0" kern="1200" dirty="0">
                    <a:solidFill>
                      <a:schemeClr val="tx1"/>
                    </a:solidFill>
                    <a:effectLst/>
                    <a:latin typeface="+mn-lt"/>
                    <a:ea typeface="+mn-ea"/>
                    <a:cs typeface="+mn-cs"/>
                  </a:rPr>
                  <a:t> environmental risk arises from national antimicrobial </a:t>
                </a:r>
                <a:r>
                  <a:rPr lang="en-US" sz="1200" b="0" i="0" kern="1200" dirty="0" err="1">
                    <a:solidFill>
                      <a:schemeClr val="tx1"/>
                    </a:solidFill>
                    <a:effectLst/>
                    <a:latin typeface="+mn-lt"/>
                    <a:ea typeface="+mn-ea"/>
                    <a:cs typeface="+mn-cs"/>
                  </a:rPr>
                  <a:t>consumption?National</a:t>
                </a:r>
                <a:r>
                  <a:rPr lang="en-US" sz="1200" b="0" i="0" kern="1200" dirty="0">
                    <a:solidFill>
                      <a:schemeClr val="tx1"/>
                    </a:solidFill>
                    <a:effectLst/>
                    <a:latin typeface="+mn-lt"/>
                    <a:ea typeface="+mn-ea"/>
                    <a:cs typeface="+mn-cs"/>
                  </a:rPr>
                  <a:t> antimicrobial consumption statistics 2008–10, 24 </a:t>
                </a:r>
                <a:r>
                  <a:rPr lang="en-US" sz="1200" b="0" i="0" kern="1200" dirty="0" err="1">
                    <a:solidFill>
                      <a:schemeClr val="tx1"/>
                    </a:solidFill>
                    <a:effectLst/>
                    <a:latin typeface="+mn-lt"/>
                    <a:ea typeface="+mn-ea"/>
                    <a:cs typeface="+mn-cs"/>
                  </a:rPr>
                  <a:t>drugsMass</a:t>
                </a:r>
                <a:r>
                  <a:rPr lang="en-US" sz="1200" b="0" i="0" kern="1200" dirty="0">
                    <a:solidFill>
                      <a:schemeClr val="tx1"/>
                    </a:solidFill>
                    <a:effectLst/>
                    <a:latin typeface="+mn-lt"/>
                    <a:ea typeface="+mn-ea"/>
                    <a:cs typeface="+mn-cs"/>
                  </a:rPr>
                  <a:t> balance; literature excretion/removal; ECOSAR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for 7/24 (algae); amoxicillin, clarithromycin RQ &gt;80 </a:t>
                </a:r>
                <a:r>
                  <a:rPr lang="en-US" sz="1200" b="0" i="0" kern="1200" dirty="0" err="1">
                    <a:solidFill>
                      <a:schemeClr val="tx1"/>
                    </a:solidFill>
                    <a:effectLst/>
                    <a:latin typeface="+mn-lt"/>
                    <a:ea typeface="+mn-ea"/>
                    <a:cs typeface="+mn-cs"/>
                  </a:rPr>
                  <a:t>chronicAntimicrobials</a:t>
                </a:r>
                <a:r>
                  <a:rPr lang="en-US" sz="1200" b="0" i="0" kern="1200" dirty="0">
                    <a:solidFill>
                      <a:schemeClr val="tx1"/>
                    </a:solidFill>
                    <a:effectLst/>
                    <a:latin typeface="+mn-lt"/>
                    <a:ea typeface="+mn-ea"/>
                    <a:cs typeface="+mn-cs"/>
                  </a:rPr>
                  <a:t> only; literature/ECOSAR toxicity; no local </a:t>
                </a:r>
                <a:r>
                  <a:rPr lang="en-US" sz="1200" b="0" i="0" kern="1200" dirty="0" err="1">
                    <a:solidFill>
                      <a:schemeClr val="tx1"/>
                    </a:solidFill>
                    <a:effectLst/>
                    <a:latin typeface="+mn-lt"/>
                    <a:ea typeface="+mn-ea"/>
                    <a:cs typeface="+mn-cs"/>
                  </a:rPr>
                  <a:t>measurementIatrou</a:t>
                </a:r>
                <a:r>
                  <a:rPr lang="en-US" sz="1200" b="0" i="0" kern="1200" dirty="0">
                    <a:solidFill>
                      <a:schemeClr val="tx1"/>
                    </a:solidFill>
                    <a:effectLst/>
                    <a:latin typeface="+mn-lt"/>
                    <a:ea typeface="+mn-ea"/>
                    <a:cs typeface="+mn-cs"/>
                  </a:rPr>
                  <a:t>,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 [1]</a:t>
                </a:r>
              </a:p>
              <a:p>
                <a:r>
                  <a:rPr lang="en-US" sz="1200" b="0" i="0" kern="1200" dirty="0" err="1">
                    <a:solidFill>
                      <a:schemeClr val="tx1"/>
                    </a:solidFill>
                    <a:effectLst/>
                    <a:latin typeface="+mn-lt"/>
                    <a:ea typeface="+mn-ea"/>
                    <a:cs typeface="+mn-cs"/>
                  </a:rPr>
                  <a:t>AustraliaWhich</a:t>
                </a:r>
                <a:r>
                  <a:rPr lang="en-US" sz="1200" b="0" i="0" kern="1200" dirty="0">
                    <a:solidFill>
                      <a:schemeClr val="tx1"/>
                    </a:solidFill>
                    <a:effectLst/>
                    <a:latin typeface="+mn-lt"/>
                    <a:ea typeface="+mn-ea"/>
                    <a:cs typeface="+mn-cs"/>
                  </a:rPr>
                  <a:t> community antibiotics exceed risk thresholds </a:t>
                </a:r>
                <a:r>
                  <a:rPr lang="en-US" sz="1200" b="0" i="0" kern="1200" dirty="0" err="1">
                    <a:solidFill>
                      <a:schemeClr val="tx1"/>
                    </a:solidFill>
                    <a:effectLst/>
                    <a:latin typeface="+mn-lt"/>
                    <a:ea typeface="+mn-ea"/>
                    <a:cs typeface="+mn-cs"/>
                  </a:rPr>
                  <a:t>nationally?National</a:t>
                </a:r>
                <a:r>
                  <a:rPr lang="en-US" sz="1200" b="0" i="0" kern="1200" dirty="0">
                    <a:solidFill>
                      <a:schemeClr val="tx1"/>
                    </a:solidFill>
                    <a:effectLst/>
                    <a:latin typeface="+mn-lt"/>
                    <a:ea typeface="+mn-ea"/>
                    <a:cs typeface="+mn-cs"/>
                  </a:rPr>
                  <a:t> community dispensing data; </a:t>
                </a:r>
                <a:r>
                  <a:rPr lang="en-US" sz="1200" b="0" i="0" kern="1200" dirty="0" err="1">
                    <a:solidFill>
                      <a:schemeClr val="tx1"/>
                    </a:solidFill>
                    <a:effectLst/>
                    <a:latin typeface="+mn-lt"/>
                    <a:ea typeface="+mn-ea"/>
                    <a:cs typeface="+mn-cs"/>
                  </a:rPr>
                  <a:t>antibioticsPEC</a:t>
                </a:r>
                <a:r>
                  <a:rPr lang="en-US" sz="1200" b="0" i="0" kern="1200" dirty="0">
                    <a:solidFill>
                      <a:schemeClr val="tx1"/>
                    </a:solidFill>
                    <a:effectLst/>
                    <a:latin typeface="+mn-lt"/>
                    <a:ea typeface="+mn-ea"/>
                    <a:cs typeface="+mn-cs"/>
                  </a:rPr>
                  <a:t>/RQ with sensitivity analysis of assessor </a:t>
                </a:r>
                <a:r>
                  <a:rPr lang="en-US" sz="1200" b="0" i="0" kern="1200" dirty="0" err="1">
                    <a:solidFill>
                      <a:schemeClr val="tx1"/>
                    </a:solidFill>
                    <a:effectLst/>
                    <a:latin typeface="+mn-lt"/>
                    <a:ea typeface="+mn-ea"/>
                    <a:cs typeface="+mn-cs"/>
                  </a:rPr>
                  <a:t>assumptionsAmoxicillin</a:t>
                </a:r>
                <a:r>
                  <a:rPr lang="en-US" sz="1200" b="0" i="0" kern="1200" dirty="0">
                    <a:solidFill>
                      <a:schemeClr val="tx1"/>
                    </a:solidFill>
                    <a:effectLst/>
                    <a:latin typeface="+mn-lt"/>
                    <a:ea typeface="+mn-ea"/>
                    <a:cs typeface="+mn-cs"/>
                  </a:rPr>
                  <a:t>, cefalexin, clindamycin, azithromycin, phenoxymethylpenicillin exceed </a:t>
                </a:r>
                <a:r>
                  <a:rPr lang="en-US" sz="1200" b="0" i="0" kern="1200" dirty="0" err="1">
                    <a:solidFill>
                      <a:schemeClr val="tx1"/>
                    </a:solidFill>
                    <a:effectLst/>
                    <a:latin typeface="+mn-lt"/>
                    <a:ea typeface="+mn-ea"/>
                    <a:cs typeface="+mn-cs"/>
                  </a:rPr>
                  <a:t>thresholdsRQ</a:t>
                </a:r>
                <a:r>
                  <a:rPr lang="en-US" sz="1200" b="0" i="0" kern="1200" dirty="0">
                    <a:solidFill>
                      <a:schemeClr val="tx1"/>
                    </a:solidFill>
                    <a:effectLst/>
                    <a:latin typeface="+mn-lt"/>
                    <a:ea typeface="+mn-ea"/>
                    <a:cs typeface="+mn-cs"/>
                  </a:rPr>
                  <a:t> highly sensitive to assumptions; antibiotics only; no ERA </a:t>
                </a:r>
                <a:r>
                  <a:rPr lang="en-US" sz="1200" b="0" i="0" kern="1200" dirty="0" err="1">
                    <a:solidFill>
                      <a:schemeClr val="tx1"/>
                    </a:solidFill>
                    <a:effectLst/>
                    <a:latin typeface="+mn-lt"/>
                    <a:ea typeface="+mn-ea"/>
                    <a:cs typeface="+mn-cs"/>
                  </a:rPr>
                  <a:t>infrastructureDay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 [2]</a:t>
                </a:r>
              </a:p>
              <a:p>
                <a:r>
                  <a:rPr lang="en-US" sz="1200" b="0" i="0" kern="1200" dirty="0" err="1">
                    <a:solidFill>
                      <a:schemeClr val="tx1"/>
                    </a:solidFill>
                    <a:effectLst/>
                    <a:latin typeface="+mn-lt"/>
                    <a:ea typeface="+mn-ea"/>
                    <a:cs typeface="+mn-cs"/>
                  </a:rPr>
                  <a:t>IrelandHow</a:t>
                </a:r>
                <a:r>
                  <a:rPr lang="en-US" sz="1200" b="0" i="0" kern="1200" dirty="0">
                    <a:solidFill>
                      <a:schemeClr val="tx1"/>
                    </a:solidFill>
                    <a:effectLst/>
                    <a:latin typeface="+mn-lt"/>
                    <a:ea typeface="+mn-ea"/>
                    <a:cs typeface="+mn-cs"/>
                  </a:rPr>
                  <a:t> do human vs. veterinary antibiotic usage compare as pollution </a:t>
                </a:r>
                <a:r>
                  <a:rPr lang="en-US" sz="1200" b="0" i="0" kern="1200" dirty="0" err="1">
                    <a:solidFill>
                      <a:schemeClr val="tx1"/>
                    </a:solidFill>
                    <a:effectLst/>
                    <a:latin typeface="+mn-lt"/>
                    <a:ea typeface="+mn-ea"/>
                    <a:cs typeface="+mn-cs"/>
                  </a:rPr>
                  <a:t>sources?National</a:t>
                </a:r>
                <a:r>
                  <a:rPr lang="en-US" sz="1200" b="0" i="0" kern="1200" dirty="0">
                    <a:solidFill>
                      <a:schemeClr val="tx1"/>
                    </a:solidFill>
                    <a:effectLst/>
                    <a:latin typeface="+mn-lt"/>
                    <a:ea typeface="+mn-ea"/>
                    <a:cs typeface="+mn-cs"/>
                  </a:rPr>
                  <a:t> human + veterinary antibiotic usage data; 6 </a:t>
                </a:r>
                <a:r>
                  <a:rPr lang="en-US" sz="1200" b="0" i="0" kern="1200" dirty="0" err="1">
                    <a:solidFill>
                      <a:schemeClr val="tx1"/>
                    </a:solidFill>
                    <a:effectLst/>
                    <a:latin typeface="+mn-lt"/>
                    <a:ea typeface="+mn-ea"/>
                    <a:cs typeface="+mn-cs"/>
                  </a:rPr>
                  <a:t>classesProbabilistic</a:t>
                </a:r>
                <a:r>
                  <a:rPr lang="en-US" sz="1200" b="0" i="0" kern="1200" dirty="0">
                    <a:solidFill>
                      <a:schemeClr val="tx1"/>
                    </a:solidFill>
                    <a:effectLst/>
                    <a:latin typeface="+mn-lt"/>
                    <a:ea typeface="+mn-ea"/>
                    <a:cs typeface="+mn-cs"/>
                  </a:rPr>
                  <a:t> usage, metabolism, degradation, removal; MIC-based </a:t>
                </a:r>
                <a:r>
                  <a:rPr lang="en-US" sz="1200" b="0" i="0" kern="1200" dirty="0" err="1">
                    <a:solidFill>
                      <a:schemeClr val="tx1"/>
                    </a:solidFill>
                    <a:effectLst/>
                    <a:latin typeface="+mn-lt"/>
                    <a:ea typeface="+mn-ea"/>
                    <a:cs typeface="+mn-cs"/>
                  </a:rPr>
                  <a:t>RQHealthcare</a:t>
                </a:r>
                <a:r>
                  <a:rPr lang="en-US" sz="1200" b="0" i="0" kern="1200" dirty="0">
                    <a:solidFill>
                      <a:schemeClr val="tx1"/>
                    </a:solidFill>
                    <a:effectLst/>
                    <a:latin typeface="+mn-lt"/>
                    <a:ea typeface="+mn-ea"/>
                    <a:cs typeface="+mn-cs"/>
                  </a:rPr>
                  <a:t> RQ &gt; agriculture; macrolides and penicillins </a:t>
                </a:r>
                <a:r>
                  <a:rPr lang="en-US" sz="1200" b="0" i="0" kern="1200" dirty="0" err="1">
                    <a:solidFill>
                      <a:schemeClr val="tx1"/>
                    </a:solidFill>
                    <a:effectLst/>
                    <a:latin typeface="+mn-lt"/>
                    <a:ea typeface="+mn-ea"/>
                    <a:cs typeface="+mn-cs"/>
                  </a:rPr>
                  <a:t>highestClass</a:t>
                </a:r>
                <a:r>
                  <a:rPr lang="en-US" sz="1200" b="0" i="0" kern="1200" dirty="0">
                    <a:solidFill>
                      <a:schemeClr val="tx1"/>
                    </a:solidFill>
                    <a:effectLst/>
                    <a:latin typeface="+mn-lt"/>
                    <a:ea typeface="+mn-ea"/>
                    <a:cs typeface="+mn-cs"/>
                  </a:rPr>
                  <a:t>-level (not per-drug); MIC-based endpoints; screening-</a:t>
                </a:r>
                <a:r>
                  <a:rPr lang="en-US" sz="1200" b="0" i="0" kern="1200" dirty="0" err="1">
                    <a:solidFill>
                      <a:schemeClr val="tx1"/>
                    </a:solidFill>
                    <a:effectLst/>
                    <a:latin typeface="+mn-lt"/>
                    <a:ea typeface="+mn-ea"/>
                    <a:cs typeface="+mn-cs"/>
                  </a:rPr>
                  <a:t>levelMonahan</a:t>
                </a:r>
                <a:r>
                  <a:rPr lang="en-US" sz="1200" b="0" i="0" kern="1200" dirty="0">
                    <a:solidFill>
                      <a:schemeClr val="tx1"/>
                    </a:solidFill>
                    <a:effectLst/>
                    <a:latin typeface="+mn-lt"/>
                    <a:ea typeface="+mn-ea"/>
                    <a:cs typeface="+mn-cs"/>
                  </a:rPr>
                  <a:t>, Sci Total Environ, 2022 [3]</a:t>
                </a:r>
              </a:p>
              <a:p>
                <a:r>
                  <a:rPr lang="en-US" sz="1200" b="0" i="0" kern="1200" dirty="0">
                    <a:solidFill>
                      <a:schemeClr val="tx1"/>
                    </a:solidFill>
                    <a:effectLst/>
                    <a:latin typeface="+mn-lt"/>
                    <a:ea typeface="+mn-ea"/>
                    <a:cs typeface="+mn-cs"/>
                  </a:rPr>
                  <a:t>[1-6]</a:t>
                </a:r>
              </a:p>
              <a:p>
                <a:r>
                  <a:rPr lang="en-US" sz="1200" b="0" i="0" kern="1200" dirty="0">
                    <a:solidFill>
                      <a:schemeClr val="tx1"/>
                    </a:solidFill>
                    <a:effectLst/>
                    <a:latin typeface="+mn-lt"/>
                    <a:ea typeface="+mn-ea"/>
                    <a:cs typeface="+mn-cs"/>
                  </a:rPr>
                  <a:t>The distinction now carried in the "Data source" column separates three input types that all qualify as large-scale utilization datasets but differ in what they actually count: </a:t>
                </a:r>
                <a:r>
                  <a:rPr lang="en-US" sz="1200" b="1" i="0" kern="1200" dirty="0">
                    <a:solidFill>
                      <a:schemeClr val="tx1"/>
                    </a:solidFill>
                    <a:effectLst/>
                    <a:latin typeface="+mn-lt"/>
                    <a:ea typeface="+mn-ea"/>
                    <a:cs typeface="+mn-cs"/>
                  </a:rPr>
                  <a:t>dispensing/reimbursement (claims) data</a:t>
                </a:r>
                <a:r>
                  <a:rPr lang="en-US" sz="1200" b="0" i="0" kern="1200" dirty="0">
                    <a:solidFill>
                      <a:schemeClr val="tx1"/>
                    </a:solidFill>
                    <a:effectLst/>
                    <a:latin typeface="+mn-lt"/>
                    <a:ea typeface="+mn-ea"/>
                    <a:cs typeface="+mn-cs"/>
                  </a:rPr>
                  <a:t> (Catalonia, Australia), </a:t>
                </a:r>
                <a:r>
                  <a:rPr lang="en-US" sz="1200" b="1" i="0" kern="1200" dirty="0">
                    <a:solidFill>
                      <a:schemeClr val="tx1"/>
                    </a:solidFill>
                    <a:effectLst/>
                    <a:latin typeface="+mn-lt"/>
                    <a:ea typeface="+mn-ea"/>
                    <a:cs typeface="+mn-cs"/>
                  </a:rPr>
                  <a:t>sales/wholesale data</a:t>
                </a:r>
                <a:r>
                  <a:rPr lang="en-US" sz="1200" b="0" i="0" kern="1200" dirty="0">
                    <a:solidFill>
                      <a:schemeClr val="tx1"/>
                    </a:solidFill>
                    <a:effectLst/>
                    <a:latin typeface="+mn-lt"/>
                    <a:ea typeface="+mn-ea"/>
                    <a:cs typeface="+mn-cs"/>
                  </a:rPr>
                  <a:t> (Norway), and </a:t>
                </a:r>
                <a:r>
                  <a:rPr lang="en-US" sz="1200" b="1" i="0" kern="1200" dirty="0">
                    <a:solidFill>
                      <a:schemeClr val="tx1"/>
                    </a:solidFill>
                    <a:effectLst/>
                    <a:latin typeface="+mn-lt"/>
                    <a:ea typeface="+mn-ea"/>
                    <a:cs typeface="+mn-cs"/>
                  </a:rPr>
                  <a:t>aggregated national consumption statistics</a:t>
                </a:r>
                <a:r>
                  <a:rPr lang="en-US" sz="1200" b="0" i="0" kern="1200" dirty="0">
                    <a:solidFill>
                      <a:schemeClr val="tx1"/>
                    </a:solidFill>
                    <a:effectLst/>
                    <a:latin typeface="+mn-lt"/>
                    <a:ea typeface="+mn-ea"/>
                    <a:cs typeface="+mn-cs"/>
                  </a:rPr>
                  <a:t> (Italy, Greece, Ireland). Only the claims-based rows measure drug handed over at the point of dispensing, and as discussed, this remains a proxy for consumption that excludes OTC, hospital, and veterinary supply.</a:t>
                </a:r>
              </a:p>
              <a:p>
                <a:r>
                  <a:rPr lang="en-US" sz="1200" b="0" i="0" kern="1200" dirty="0">
                    <a:solidFill>
                      <a:schemeClr val="tx1"/>
                    </a:solidFill>
                    <a:effectLst/>
                    <a:latin typeface="+mn-lt"/>
                    <a:ea typeface="+mn-ea"/>
                    <a:cs typeface="+mn-cs"/>
                  </a:rPr>
                  <a:t>Would you like to compare risk quotients for shared antibiotics like ciprofloxacin and amoxicillin across these consumption-based studies?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a:t>
                </a:r>
                <a:r>
                  <a:rPr lang="en-US" sz="1200" b="0" i="0" kern="1200" dirty="0" err="1">
                    <a:solidFill>
                      <a:schemeClr val="tx1"/>
                    </a:solidFill>
                    <a:effectLst/>
                    <a:latin typeface="+mn-lt"/>
                    <a:ea typeface="+mn-ea"/>
                    <a:cs typeface="+mn-cs"/>
                  </a:rPr>
                  <a:t>C.Recent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Named data sources now specified where the source publications or the national systems identify them</a:t>
                </a:r>
                <a:r>
                  <a:rPr lang="en-US" sz="1200" b="0" i="0" kern="1200" dirty="0">
                    <a:solidFill>
                      <a:schemeClr val="tx1"/>
                    </a:solidFill>
                    <a:effectLst/>
                    <a:latin typeface="+mn-lt"/>
                    <a:ea typeface="+mn-ea"/>
                    <a:cs typeface="+mn-cs"/>
                  </a:rPr>
                  <a:t>; two studies (Catalonia, Greece) do not name a specific database in the retrieved text, so those cells state the input type and flag that the platform is unnamed.</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Named data source</a:t>
                </a:r>
              </a:p>
              <a:p>
                <a:pPr fontAlgn="b"/>
                <a:r>
                  <a:rPr lang="en-US" sz="1200" b="1" i="0" kern="1200" dirty="0">
                    <a:solidFill>
                      <a:schemeClr val="tx1"/>
                    </a:solidFill>
                    <a:effectLst/>
                    <a:latin typeface="+mn-lt"/>
                    <a:ea typeface="+mn-ea"/>
                    <a:cs typeface="+mn-cs"/>
                  </a:rPr>
                  <a:t>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[1-2]National reimbursed-prescription utilization statistics25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[3]Dispensing/reimbursement (claims)810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[4-6]Wholesale + prescription + veterinary sales~200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[7]National consumption statistics24 antimicrobials, 2008–10RQ &gt;1 for 7/24 (algae); amoxicillin, clarithromycin RQ &gt;80 chronic [7]Iatrou,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[8-10]National dispensing (claims)Community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[8]Day,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[11]National usage (human + veterinary)6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[11]Monahan, Sci Total Environ, 2022</a:t>
                </a:r>
              </a:p>
              <a:p>
                <a:r>
                  <a:rPr lang="en-US" sz="1200" b="0" i="0" kern="1200" dirty="0">
                    <a:solidFill>
                      <a:schemeClr val="tx1"/>
                    </a:solidFill>
                    <a:effectLst/>
                    <a:latin typeface="+mn-lt"/>
                    <a:ea typeface="+mn-ea"/>
                    <a:cs typeface="+mn-cs"/>
                  </a:rPr>
                  <a:t>Two caveats on precision: the </a:t>
                </a:r>
                <a:r>
                  <a:rPr lang="en-US" sz="1200" b="1" i="0" kern="1200" dirty="0">
                    <a:solidFill>
                      <a:schemeClr val="tx1"/>
                    </a:solidFill>
                    <a:effectLst/>
                    <a:latin typeface="+mn-lt"/>
                    <a:ea typeface="+mn-ea"/>
                    <a:cs typeface="+mn-cs"/>
                  </a:rPr>
                  <a:t>Italian analysis draws on AIFA's </a:t>
                </a:r>
                <a:r>
                  <a:rPr lang="en-US" sz="1200" b="1" i="0" kern="1200" dirty="0" err="1">
                    <a:solidFill>
                      <a:schemeClr val="tx1"/>
                    </a:solidFill>
                    <a:effectLst/>
                    <a:latin typeface="+mn-lt"/>
                    <a:ea typeface="+mn-ea"/>
                    <a:cs typeface="+mn-cs"/>
                  </a:rPr>
                  <a:t>OsMed</a:t>
                </a:r>
                <a:r>
                  <a:rPr lang="en-US" sz="1200" b="1" i="0" kern="1200" dirty="0">
                    <a:solidFill>
                      <a:schemeClr val="tx1"/>
                    </a:solidFill>
                    <a:effectLst/>
                    <a:latin typeface="+mn-lt"/>
                    <a:ea typeface="+mn-ea"/>
                    <a:cs typeface="+mn-cs"/>
                  </a:rPr>
                  <a:t> system</a:t>
                </a:r>
                <a:r>
                  <a:rPr lang="en-US" sz="1200" b="0" i="0" kern="1200" dirty="0">
                    <a:solidFill>
                      <a:schemeClr val="tx1"/>
                    </a:solidFill>
                    <a:effectLst/>
                    <a:latin typeface="+mn-lt"/>
                    <a:ea typeface="+mn-ea"/>
                    <a:cs typeface="+mn-cs"/>
                  </a:rPr>
                  <a:t> — the database of all prescribed drugs reimbursed by the Italian National Health Service — confirmed as the utilization source in AIFA's own 2025 follow-up assessment. [2][12] For </a:t>
                </a:r>
                <a:r>
                  <a:rPr lang="en-US" sz="1200" b="1" i="0" kern="1200" dirty="0">
                    <a:solidFill>
                      <a:schemeClr val="tx1"/>
                    </a:solidFill>
                    <a:effectLst/>
                    <a:latin typeface="+mn-lt"/>
                    <a:ea typeface="+mn-ea"/>
                    <a:cs typeface="+mn-cs"/>
                  </a:rPr>
                  <a:t>Norway, </a:t>
                </a:r>
                <a:r>
                  <a:rPr lang="en-US" sz="1200" b="1" i="0" kern="1200" dirty="0" err="1">
                    <a:solidFill>
                      <a:schemeClr val="tx1"/>
                    </a:solidFill>
                    <a:effectLst/>
                    <a:latin typeface="+mn-lt"/>
                    <a:ea typeface="+mn-ea"/>
                    <a:cs typeface="+mn-cs"/>
                  </a:rPr>
                  <a:t>NorPD</a:t>
                </a:r>
                <a:r>
                  <a:rPr lang="en-US" sz="1200" b="1" i="0" kern="1200" dirty="0">
                    <a:solidFill>
                      <a:schemeClr val="tx1"/>
                    </a:solidFill>
                    <a:effectLst/>
                    <a:latin typeface="+mn-lt"/>
                    <a:ea typeface="+mn-ea"/>
                    <a:cs typeface="+mn-cs"/>
                  </a:rPr>
                  <a:t> captures only community-pharmacy dispensing and omits over-the-counter sales</a:t>
                </a:r>
                <a:r>
                  <a:rPr lang="en-US" sz="1200" b="0" i="0" kern="1200" dirty="0">
                    <a:solidFill>
                      <a:schemeClr val="tx1"/>
                    </a:solidFill>
                    <a:effectLst/>
                    <a:latin typeface="+mn-lt"/>
                    <a:ea typeface="+mn-ea"/>
                    <a:cs typeface="+mn-cs"/>
                  </a:rPr>
                  <a:t>, which is why the authors supplemented it with wholesale statistics; that OTC gap accounts for the finding that prescriptions explained only ~70% of PEC magnitude. [4][6] The </a:t>
                </a:r>
                <a:r>
                  <a:rPr lang="en-US" sz="1200" b="1" i="0" kern="1200" dirty="0">
                    <a:solidFill>
                      <a:schemeClr val="tx1"/>
                    </a:solidFill>
                    <a:effectLst/>
                    <a:latin typeface="+mn-lt"/>
                    <a:ea typeface="+mn-ea"/>
                    <a:cs typeface="+mn-cs"/>
                  </a:rPr>
                  <a:t>Catalonia and Greece studies use national/regional utilization figures but do not name a specific database platform</a:t>
                </a:r>
                <a:r>
                  <a:rPr lang="en-US" sz="1200" b="0" i="0" kern="1200" dirty="0">
                    <a:solidFill>
                      <a:schemeClr val="tx1"/>
                    </a:solidFill>
                    <a:effectLst/>
                    <a:latin typeface="+mn-lt"/>
                    <a:ea typeface="+mn-ea"/>
                    <a:cs typeface="+mn-cs"/>
                  </a:rPr>
                  <a:t> in the retrieved text, so those should not be attributed to a named registry without verifying the source methods section.</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9"/>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0"/>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11"/>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12"/>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al.RecentObservational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13"/>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12.</a:t>
                </a:r>
              </a:p>
              <a:p>
                <a:r>
                  <a:rPr lang="en-US" sz="1200" b="0" i="0" u="none" strike="noStrike" kern="1200" dirty="0">
                    <a:solidFill>
                      <a:schemeClr val="tx1"/>
                    </a:solidFill>
                    <a:effectLst/>
                    <a:latin typeface="+mn-lt"/>
                    <a:ea typeface="+mn-ea"/>
                    <a:cs typeface="+mn-cs"/>
                    <a:hlinkClick r:id="rId14"/>
                  </a:rPr>
                  <a:t>Assessing the Environmental Impact of Medicines in Italy Using Data From the Italian Medicines Agency.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2025.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a:t>
                </a:r>
                <a:r>
                  <a:rPr lang="en-US" sz="1200" b="0" i="0" kern="1200" dirty="0" err="1">
                    <a:solidFill>
                      <a:schemeClr val="tx1"/>
                    </a:solidFill>
                    <a:effectLst/>
                    <a:latin typeface="+mn-lt"/>
                    <a:ea typeface="+mn-ea"/>
                    <a:cs typeface="+mn-cs"/>
                  </a:rPr>
                  <a:t>Cangini</a:t>
                </a:r>
                <a:r>
                  <a:rPr lang="en-US" sz="1200" b="0" i="0" kern="1200" dirty="0">
                    <a:solidFill>
                      <a:schemeClr val="tx1"/>
                    </a:solidFill>
                    <a:effectLst/>
                    <a:latin typeface="+mn-lt"/>
                    <a:ea typeface="+mn-ea"/>
                    <a:cs typeface="+mn-cs"/>
                  </a:rPr>
                  <a:t> A,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Data source and input type merged into a single column</a:t>
                </a:r>
                <a:r>
                  <a:rPr lang="en-US" sz="1200" b="0" i="0" kern="1200" dirty="0">
                    <a:solidFill>
                      <a:schemeClr val="tx1"/>
                    </a:solidFill>
                    <a:effectLst/>
                    <a:latin typeface="+mn-lt"/>
                    <a:ea typeface="+mn-ea"/>
                    <a:cs typeface="+mn-cs"/>
                  </a:rPr>
                  <a:t> below; all other content is unchanged from the prior version.</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Data source (named + 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national reimbursed-prescription utilization statistics [1-2]25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dispensing/reimbursement (claims) [3]810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wholesale + prescription + veterinary sales [4-6]~200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[4]24 antimicrobials, 2008–10RQ &gt;1 for 7/24 (algae); amoxicillin, clarithromycin RQ &gt;80 chronic [4]Iatrou,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national dispensing (claims) [7-9]Community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[7]Day,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national usage (human + veterinary) [10]6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[10]Monahan, Sci Total Environ, 2022</a:t>
                </a:r>
              </a:p>
              <a:p>
                <a:r>
                  <a:rPr lang="en-US" sz="1200" b="0" i="0" kern="1200" dirty="0">
                    <a:solidFill>
                      <a:schemeClr val="tx1"/>
                    </a:solidFill>
                    <a:effectLst/>
                    <a:latin typeface="+mn-lt"/>
                    <a:ea typeface="+mn-ea"/>
                    <a:cs typeface="+mn-cs"/>
                  </a:rPr>
                  <a:t>[1-11]</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9"/>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10"/>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11"/>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12"/>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13"/>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The shared research question</a:t>
                </a:r>
                <a:r>
                  <a:rPr lang="en-US" sz="1200" b="0" i="0" kern="1200" dirty="0">
                    <a:solidFill>
                      <a:schemeClr val="tx1"/>
                    </a:solidFill>
                    <a:effectLst/>
                    <a:latin typeface="+mn-lt"/>
                    <a:ea typeface="+mn-ea"/>
                    <a:cs typeface="+mn-cs"/>
                  </a:rPr>
                  <a:t> across these studies is: which pharmaceuticals, based on how much of each drug a population actually uses, pose the greatest risk to the aquatic environment—and can large-scale drug utilization data substitute for costly environmental sampling to identify and prioritize those substances? Each study operationalizes this slightly differently (screening a national formulary, a pre-set watch-list, antibiotics only, or human vs. veterinary sources), but all ask the same underlying question: can consumption/dispensing data reliably predict environmental risk and rank drugs of concern. [1-4]</a:t>
                </a:r>
              </a:p>
              <a:p>
                <a:r>
                  <a:rPr lang="en-US" sz="1200" b="1" i="0" kern="1200" dirty="0">
                    <a:solidFill>
                      <a:schemeClr val="tx1"/>
                    </a:solidFill>
                    <a:effectLst/>
                    <a:latin typeface="+mn-lt"/>
                    <a:ea typeface="+mn-ea"/>
                    <a:cs typeface="+mn-cs"/>
                  </a:rPr>
                  <a:t>The common method is the consumption-driven PEC/PNEC (risk quotient) approach</a:t>
                </a:r>
                <a:r>
                  <a:rPr lang="en-US" sz="1200" b="0" i="0" kern="1200" dirty="0">
                    <a:solidFill>
                      <a:schemeClr val="tx1"/>
                    </a:solidFill>
                    <a:effectLst/>
                    <a:latin typeface="+mn-lt"/>
                    <a:ea typeface="+mn-ea"/>
                    <a:cs typeface="+mn-cs"/>
                  </a:rPr>
                  <a:t>, which proceeds in four steps shared across all six studies:</a:t>
                </a:r>
              </a:p>
              <a:p>
                <a:pPr lvl="0"/>
                <a:r>
                  <a:rPr lang="en-US" sz="1200" b="1" i="0" kern="1200" dirty="0">
                    <a:solidFill>
                      <a:schemeClr val="tx1"/>
                    </a:solidFill>
                    <a:effectLst/>
                    <a:latin typeface="+mn-lt"/>
                    <a:ea typeface="+mn-ea"/>
                    <a:cs typeface="+mn-cs"/>
                  </a:rPr>
                  <a:t>Quantify drug mass used.</a:t>
                </a:r>
                <a:r>
                  <a:rPr lang="en-US" sz="1200" b="0" i="0" kern="1200" dirty="0">
                    <a:solidFill>
                      <a:schemeClr val="tx1"/>
                    </a:solidFill>
                    <a:effectLst/>
                    <a:latin typeface="+mn-lt"/>
                    <a:ea typeface="+mn-ea"/>
                    <a:cs typeface="+mn-cs"/>
                  </a:rPr>
                  <a:t> Aggregate utilization data (dispensing/claims, wholesale/sales, or national consumption statistics) are converted to total kilograms of active pharmaceutical ingredient consumed per population per year. [1-2][4]</a:t>
                </a:r>
              </a:p>
              <a:p>
                <a:pPr lvl="0"/>
                <a:r>
                  <a:rPr lang="en-US" sz="1200" b="1" i="0" kern="1200" dirty="0">
                    <a:solidFill>
                      <a:schemeClr val="tx1"/>
                    </a:solidFill>
                    <a:effectLst/>
                    <a:latin typeface="+mn-lt"/>
                    <a:ea typeface="+mn-ea"/>
                    <a:cs typeface="+mn-cs"/>
                  </a:rPr>
                  <a:t>Estimate the environmental concentration (PEC).</a:t>
                </a:r>
                <a:r>
                  <a:rPr lang="en-US" sz="1200" b="0" i="0" kern="1200" dirty="0">
                    <a:solidFill>
                      <a:schemeClr val="tx1"/>
                    </a:solidFill>
                    <a:effectLst/>
                    <a:latin typeface="+mn-lt"/>
                    <a:ea typeface="+mn-ea"/>
                    <a:cs typeface="+mn-cs"/>
                  </a:rPr>
                  <a:t> The consumed mass is multiplied by a fraction excreted unchanged (from literature), reduced by wastewater-treatment removal efficiency, then divided by wastewater volume and a dilution factor to yield a predicted concentration in effluent or receiving surface water. [1-2][4]</a:t>
                </a:r>
              </a:p>
              <a:p>
                <a:pPr/>
                <a14:m>
                  <m:oMathPara xmlns:m="http://schemas.openxmlformats.org/officeDocument/2006/math">
                    <m:oMath>
                      <m:r>
                        <a:rPr lang="en-US" sz="1200" i="1" kern="1200">
                          <a:solidFill>
                            <a:schemeClr val="tx1"/>
                          </a:solidFill>
                          <a:latin typeface="Cambria Math" panose="02040503050406030204" pitchFamily="18" charset="0"/>
                          <a:ea typeface="+mn-ea"/>
                          <a:cs typeface="+mn-cs"/>
                        </a:rPr>
                        <m:t>𝑃𝐸𝐶</m:t>
                      </m:r>
                      <m:r>
                        <a:rPr lang="en-US" sz="1200" i="0" kern="1200">
                          <a:solidFill>
                            <a:schemeClr val="tx1"/>
                          </a:solidFill>
                          <a:latin typeface="Cambria Math" panose="02040503050406030204" pitchFamily="18" charset="0"/>
                          <a:ea typeface="+mn-ea"/>
                          <a:cs typeface="+mn-cs"/>
                        </a:rPr>
                        <m:t>=</m:t>
                      </m:r>
                      <m:f>
                        <m:fPr>
                          <m:ctrlPr>
                            <a:rPr lang="en-US" sz="1200" b="0" i="0" kern="1200">
                              <a:solidFill>
                                <a:schemeClr val="tx1"/>
                              </a:solidFill>
                              <a:latin typeface="+mn-lt"/>
                              <a:ea typeface="+mn-ea"/>
                              <a:cs typeface="+mn-cs"/>
                            </a:rPr>
                          </m:ctrlPr>
                        </m:fPr>
                        <m:num>
                          <m:r>
                            <m:rPr>
                              <m:nor/>
                            </m:rPr>
                            <a:rPr lang="en-US" sz="1200" b="0" i="0" kern="1200">
                              <a:solidFill>
                                <a:schemeClr val="tx1"/>
                              </a:solidFill>
                              <a:latin typeface="+mn-lt"/>
                              <a:ea typeface="+mn-ea"/>
                              <a:cs typeface="+mn-cs"/>
                            </a:rPr>
                            <m:t>Mass consumed</m:t>
                          </m:r>
                          <m:r>
                            <a:rPr lang="en-US" sz="1200" b="0" i="0" kern="1200">
                              <a:solidFill>
                                <a:schemeClr val="tx1"/>
                              </a:solidFill>
                              <a:latin typeface="Cambria Math" panose="02040503050406030204" pitchFamily="18" charset="0"/>
                              <a:ea typeface="+mn-ea"/>
                              <a:cs typeface="+mn-cs"/>
                            </a:rPr>
                            <m:t>×</m:t>
                          </m:r>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𝐹</m:t>
                              </m:r>
                            </m:e>
                            <m:sub>
                              <m:r>
                                <a:rPr lang="en-US" sz="1200" b="0" i="1" kern="1200">
                                  <a:solidFill>
                                    <a:schemeClr val="tx1"/>
                                  </a:solidFill>
                                  <a:latin typeface="Cambria Math" panose="02040503050406030204" pitchFamily="18" charset="0"/>
                                  <a:ea typeface="+mn-ea"/>
                                  <a:cs typeface="+mn-cs"/>
                                </a:rPr>
                                <m:t>𝑒𝑥𝑐𝑟𝑒𝑡𝑖𝑜𝑛</m:t>
                              </m:r>
                            </m:sub>
                          </m:sSub>
                          <m:r>
                            <a:rPr lang="en-US" sz="1200" b="0" i="0" kern="1200">
                              <a:solidFill>
                                <a:schemeClr val="tx1"/>
                              </a:solidFill>
                              <a:latin typeface="Cambria Math" panose="02040503050406030204" pitchFamily="18" charset="0"/>
                              <a:ea typeface="+mn-ea"/>
                              <a:cs typeface="+mn-cs"/>
                            </a:rPr>
                            <m:t>×</m:t>
                          </m:r>
                          <m:d>
                            <m:dPr>
                              <m:ctrlPr>
                                <a:rPr lang="en-US" sz="1200" b="0" i="0" kern="1200">
                                  <a:solidFill>
                                    <a:schemeClr val="tx1"/>
                                  </a:solidFill>
                                  <a:latin typeface="Cambria Math" panose="02040503050406030204" pitchFamily="18" charset="0"/>
                                  <a:ea typeface="+mn-ea"/>
                                  <a:cs typeface="+mn-cs"/>
                                </a:rPr>
                              </m:ctrlPr>
                            </m:dPr>
                            <m:e>
                              <m:r>
                                <a:rPr lang="en-US" sz="1200" b="0" i="0" kern="1200">
                                  <a:solidFill>
                                    <a:schemeClr val="tx1"/>
                                  </a:solidFill>
                                  <a:latin typeface="Cambria Math" panose="02040503050406030204" pitchFamily="18" charset="0"/>
                                  <a:ea typeface="+mn-ea"/>
                                  <a:cs typeface="+mn-cs"/>
                                </a:rPr>
                                <m:t>1−</m:t>
                              </m:r>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𝑅</m:t>
                                  </m:r>
                                </m:e>
                                <m:sub>
                                  <m:r>
                                    <a:rPr lang="en-US" sz="1200" b="0" i="1" kern="1200">
                                      <a:solidFill>
                                        <a:schemeClr val="tx1"/>
                                      </a:solidFill>
                                      <a:latin typeface="Cambria Math" panose="02040503050406030204" pitchFamily="18" charset="0"/>
                                      <a:ea typeface="+mn-ea"/>
                                      <a:cs typeface="+mn-cs"/>
                                    </a:rPr>
                                    <m:t>𝑟𝑒𝑚𝑜𝑣𝑎𝑙</m:t>
                                  </m:r>
                                </m:sub>
                              </m:sSub>
                            </m:e>
                          </m:d>
                        </m:num>
                        <m:den>
                          <m:r>
                            <m:rPr>
                              <m:nor/>
                            </m:rPr>
                            <a:rPr lang="en-US" sz="1200" b="0" i="0" kern="1200">
                              <a:solidFill>
                                <a:schemeClr val="tx1"/>
                              </a:solidFill>
                              <a:latin typeface="+mn-lt"/>
                              <a:ea typeface="+mn-ea"/>
                              <a:cs typeface="+mn-cs"/>
                            </a:rPr>
                            <m:t>Wastewater volume</m:t>
                          </m:r>
                          <m:r>
                            <a:rPr lang="en-US" sz="1200" b="0" i="0" kern="1200">
                              <a:solidFill>
                                <a:schemeClr val="tx1"/>
                              </a:solidFill>
                              <a:latin typeface="Cambria Math" panose="02040503050406030204" pitchFamily="18" charset="0"/>
                              <a:ea typeface="+mn-ea"/>
                              <a:cs typeface="+mn-cs"/>
                            </a:rPr>
                            <m:t>×</m:t>
                          </m:r>
                          <m:r>
                            <m:rPr>
                              <m:nor/>
                            </m:rPr>
                            <a:rPr lang="en-US" sz="1200" b="0" i="0" kern="1200">
                              <a:solidFill>
                                <a:schemeClr val="tx1"/>
                              </a:solidFill>
                              <a:latin typeface="+mn-lt"/>
                              <a:ea typeface="+mn-ea"/>
                              <a:cs typeface="+mn-cs"/>
                            </a:rPr>
                            <m:t>Dilution</m:t>
                          </m:r>
                        </m:den>
                      </m:f>
                    </m:oMath>
                  </m:oMathPara>
                </a14:m>
                <a:endParaRPr lang="en-US" b="0" dirty="0"/>
              </a:p>
              <a:p>
                <a:pPr lvl="0"/>
                <a:r>
                  <a:rPr lang="en-US" sz="1200" b="1" i="0" kern="1200" dirty="0">
                    <a:solidFill>
                      <a:schemeClr val="tx1"/>
                    </a:solidFill>
                    <a:effectLst/>
                    <a:latin typeface="+mn-lt"/>
                    <a:ea typeface="+mn-ea"/>
                    <a:cs typeface="+mn-cs"/>
                  </a:rPr>
                  <a:t>Define the safe threshold (PNEC).</a:t>
                </a:r>
                <a:r>
                  <a:rPr lang="en-US" sz="1200" b="0" i="0" kern="1200" dirty="0">
                    <a:solidFill>
                      <a:schemeClr val="tx1"/>
                    </a:solidFill>
                    <a:effectLst/>
                    <a:latin typeface="+mn-lt"/>
                    <a:ea typeface="+mn-ea"/>
                    <a:cs typeface="+mn-cs"/>
                  </a:rPr>
                  <a:t> A predicted no-effect concentration is drawn from ecotoxicity data—experimental endpoints, external watch-lists (e.g., Region Stockholm), QSAR/ECOSAR predictions, or MIC-based cutoffs for antibiotics. [1-2][4]</a:t>
                </a:r>
              </a:p>
              <a:p>
                <a:pPr lvl="0"/>
                <a:r>
                  <a:rPr lang="en-US" sz="1200" b="1" i="0" kern="1200" dirty="0">
                    <a:solidFill>
                      <a:schemeClr val="tx1"/>
                    </a:solidFill>
                    <a:effectLst/>
                    <a:latin typeface="+mn-lt"/>
                    <a:ea typeface="+mn-ea"/>
                    <a:cs typeface="+mn-cs"/>
                  </a:rPr>
                  <a:t>Compute and rank the risk quotient.</a:t>
                </a:r>
                <a:r>
                  <a:rPr lang="en-US" sz="1200" b="0" i="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latin typeface="Cambria Math" panose="02040503050406030204" pitchFamily="18" charset="0"/>
                        <a:ea typeface="+mn-ea"/>
                        <a:cs typeface="+mn-cs"/>
                      </a:rPr>
                      <m:t>𝑅𝑄</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𝑃𝐸𝐶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𝑃𝑁𝐸𝐶</m:t>
                    </m:r>
                  </m:oMath>
                </a14:m>
                <a:r>
                  <a:rPr lang="en-US" sz="1200" b="0" i="0" kern="1200" dirty="0">
                    <a:solidFill>
                      <a:schemeClr val="tx1"/>
                    </a:solidFill>
                    <a:effectLst/>
                    <a:latin typeface="+mn-lt"/>
                    <a:ea typeface="+mn-ea"/>
                    <a:cs typeface="+mn-cs"/>
                  </a:rPr>
                  <a:t>; an </a:t>
                </a:r>
                <a14:m>
                  <m:oMath xmlns:m="http://schemas.openxmlformats.org/officeDocument/2006/math">
                    <m:r>
                      <a:rPr lang="en-US" sz="1200" i="1" kern="1200">
                        <a:solidFill>
                          <a:schemeClr val="tx1"/>
                        </a:solidFill>
                        <a:latin typeface="Cambria Math" panose="02040503050406030204" pitchFamily="18" charset="0"/>
                        <a:ea typeface="+mn-ea"/>
                        <a:cs typeface="+mn-cs"/>
                      </a:rPr>
                      <m:t>𝑅𝑄</m:t>
                    </m:r>
                    <m:r>
                      <a:rPr lang="en-US" sz="1200" i="0" kern="1200">
                        <a:solidFill>
                          <a:schemeClr val="tx1"/>
                        </a:solidFill>
                        <a:latin typeface="Cambria Math" panose="02040503050406030204" pitchFamily="18" charset="0"/>
                        <a:ea typeface="+mn-ea"/>
                        <a:cs typeface="+mn-cs"/>
                      </a:rPr>
                      <m:t>≥1</m:t>
                    </m:r>
                  </m:oMath>
                </a14:m>
                <a:r>
                  <a:rPr lang="en-US" sz="1200" b="0" i="0" kern="1200" dirty="0">
                    <a:solidFill>
                      <a:schemeClr val="tx1"/>
                    </a:solidFill>
                    <a:effectLst/>
                    <a:latin typeface="+mn-lt"/>
                    <a:ea typeface="+mn-ea"/>
                    <a:cs typeface="+mn-cs"/>
                  </a:rPr>
                  <a:t> flags potential environmental risk, and drugs are ranked to prioritize the highest-risk substances. Several studies extend the base method with sensitivity analyses, spatial/seasonal variation (e.g., water-scarcity adjustment), persistence/bioaccumulation flags, or validation against measured concentrations. [1-5]</a:t>
                </a:r>
              </a:p>
              <a:p>
                <a:r>
                  <a:rPr lang="en-US" sz="1200" b="1" i="0" kern="1200" dirty="0">
                    <a:solidFill>
                      <a:schemeClr val="tx1"/>
                    </a:solidFill>
                    <a:effectLst/>
                    <a:latin typeface="+mn-lt"/>
                    <a:ea typeface="+mn-ea"/>
                    <a:cs typeface="+mn-cs"/>
                  </a:rPr>
                  <a:t>Key common assumptions and shared limitations.</a:t>
                </a:r>
                <a:r>
                  <a:rPr lang="en-US" sz="1200" b="0" i="0" kern="1200" dirty="0">
                    <a:solidFill>
                      <a:schemeClr val="tx1"/>
                    </a:solidFill>
                    <a:effectLst/>
                    <a:latin typeface="+mn-lt"/>
                    <a:ea typeface="+mn-ea"/>
                    <a:cs typeface="+mn-cs"/>
                  </a:rPr>
                  <a:t> All rely on literature-derived excretion fractions and generic WWTP removal rates rather than site-specific measurement; all treat utilization data as a proxy for the mass actually reaching wastewater, so all are limited by gaps in that data—chiefly over-the-counter, hospital, and (where not included) veterinary supply, plus the exclusion of metabolites and conjugate back-transformation. The Norway validation showed the approach tends to over-predict risk relative to measured concentrations, underscoring that these are conservative screening/prioritization tools, not exposure measurements. [2][4]</a:t>
                </a:r>
              </a:p>
              <a:p>
                <a:r>
                  <a:rPr lang="en-US" sz="1200" b="0" i="0" kern="1200" dirty="0">
                    <a:solidFill>
                      <a:schemeClr val="tx1"/>
                    </a:solidFill>
                    <a:effectLst/>
                    <a:latin typeface="+mn-lt"/>
                    <a:ea typeface="+mn-ea"/>
                    <a:cs typeface="+mn-cs"/>
                  </a:rPr>
                  <a:t>Would you like to explore how closely these consumption-based PEC estimates match measured environmental concentrations?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endParaRPr lang="en-US" dirty="0"/>
              </a:p>
            </p:txBody>
          </p:sp>
        </mc:Choice>
        <mc:Fallback xmlns="">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Correct — "dispensing data" is the more precise term.</a:t>
                </a:r>
                <a:r>
                  <a:rPr lang="en-US" sz="1200" b="0" i="0" kern="1200" dirty="0">
                    <a:solidFill>
                      <a:schemeClr val="tx1"/>
                    </a:solidFill>
                    <a:effectLst/>
                    <a:latin typeface="+mn-lt"/>
                    <a:ea typeface="+mn-ea"/>
                    <a:cs typeface="+mn-cs"/>
                  </a:rPr>
                  <a:t> What the Catalonia study and similar pharmacy/reimbursement-based assessments actually capture is the quantity of drug dispensed (handed over at the pharmacy and typically reimbursed), which sits between what was prescribed and what was truly consumed:</a:t>
                </a:r>
              </a:p>
              <a:p>
                <a:pPr lvl="0"/>
                <a:r>
                  <a:rPr lang="en-US" sz="1200" b="1" i="0" kern="1200" dirty="0">
                    <a:solidFill>
                      <a:schemeClr val="tx1"/>
                    </a:solidFill>
                    <a:effectLst/>
                    <a:latin typeface="+mn-lt"/>
                    <a:ea typeface="+mn-ea"/>
                    <a:cs typeface="+mn-cs"/>
                  </a:rPr>
                  <a:t>Prescribed ≠ dispensed:</a:t>
                </a:r>
                <a:r>
                  <a:rPr lang="en-US" sz="1200" b="0" i="0" kern="1200" dirty="0">
                    <a:solidFill>
                      <a:schemeClr val="tx1"/>
                    </a:solidFill>
                    <a:effectLst/>
                    <a:latin typeface="+mn-lt"/>
                    <a:ea typeface="+mn-ea"/>
                    <a:cs typeface="+mn-cs"/>
                  </a:rPr>
                  <a:t> a prescription may be written but never filled (primary non-adherence). Prescription-issuance data would overcount relative to dispensing.</a:t>
                </a:r>
              </a:p>
              <a:p>
                <a:pPr lvl="0"/>
                <a:r>
                  <a:rPr lang="en-US" sz="1200" b="1" i="0" kern="1200" dirty="0">
                    <a:solidFill>
                      <a:schemeClr val="tx1"/>
                    </a:solidFill>
                    <a:effectLst/>
                    <a:latin typeface="+mn-lt"/>
                    <a:ea typeface="+mn-ea"/>
                    <a:cs typeface="+mn-cs"/>
                  </a:rPr>
                  <a:t>Dispensed ≠ consumed:</a:t>
                </a:r>
                <a:r>
                  <a:rPr lang="en-US" sz="1200" b="0" i="0" kern="1200" dirty="0">
                    <a:solidFill>
                      <a:schemeClr val="tx1"/>
                    </a:solidFill>
                    <a:effectLst/>
                    <a:latin typeface="+mn-lt"/>
                    <a:ea typeface="+mn-ea"/>
                    <a:cs typeface="+mn-cs"/>
                  </a:rPr>
                  <a:t> medicines dispensed may be only partially taken, discarded, stockpiled, or flushed unused. Ironically, unused drugs flushed or landfilled can still reach the environment, so "consumed" is not even the ideal exposure denominator for an environmental model — total dispensed mass is arguably closer to the mass that can enter the waste stream, whether via excretion of what was taken or disposal of what was not.</a:t>
                </a:r>
              </a:p>
              <a:p>
                <a:r>
                  <a:rPr lang="en-US" sz="1200" b="0" i="0" kern="1200" dirty="0">
                    <a:solidFill>
                      <a:schemeClr val="tx1"/>
                    </a:solidFill>
                    <a:effectLst/>
                    <a:latin typeface="+mn-lt"/>
                    <a:ea typeface="+mn-ea"/>
                    <a:cs typeface="+mn-cs"/>
                  </a:rPr>
                  <a:t>So the label "prescription-consumption data" is loose shorthand. Strictly, these datasets are </a:t>
                </a:r>
                <a:r>
                  <a:rPr lang="en-US" sz="1200" b="1" i="0" kern="1200" dirty="0">
                    <a:solidFill>
                      <a:schemeClr val="tx1"/>
                    </a:solidFill>
                    <a:effectLst/>
                    <a:latin typeface="+mn-lt"/>
                    <a:ea typeface="+mn-ea"/>
                    <a:cs typeface="+mn-cs"/>
                  </a:rPr>
                  <a:t>dispensing/reimbursement records</a:t>
                </a:r>
                <a:r>
                  <a:rPr lang="en-US" sz="1200" b="0" i="0" kern="1200" dirty="0">
                    <a:solidFill>
                      <a:schemeClr val="tx1"/>
                    </a:solidFill>
                    <a:effectLst/>
                    <a:latin typeface="+mn-lt"/>
                    <a:ea typeface="+mn-ea"/>
                    <a:cs typeface="+mn-cs"/>
                  </a:rPr>
                  <a:t>, and they are used as a proxy for consumption (and thus for environmental input mass). The distinction matters for interpretation:</a:t>
                </a:r>
              </a:p>
              <a:p>
                <a:pPr lvl="0"/>
                <a:r>
                  <a:rPr lang="en-US" sz="1200" b="0" i="0" kern="1200" dirty="0">
                    <a:solidFill>
                      <a:schemeClr val="tx1"/>
                    </a:solidFill>
                    <a:effectLst/>
                    <a:latin typeface="+mn-lt"/>
                    <a:ea typeface="+mn-ea"/>
                    <a:cs typeface="+mn-cs"/>
                  </a:rPr>
                  <a:t>It is a </a:t>
                </a:r>
                <a:r>
                  <a:rPr lang="en-US" sz="1200" b="1" i="0" kern="1200" dirty="0">
                    <a:solidFill>
                      <a:schemeClr val="tx1"/>
                    </a:solidFill>
                    <a:effectLst/>
                    <a:latin typeface="+mn-lt"/>
                    <a:ea typeface="+mn-ea"/>
                    <a:cs typeface="+mn-cs"/>
                  </a:rPr>
                  <a:t>proxy, with directional error</a:t>
                </a:r>
                <a:r>
                  <a:rPr lang="en-US" sz="1200" b="0" i="0" kern="1200" dirty="0">
                    <a:solidFill>
                      <a:schemeClr val="tx1"/>
                    </a:solidFill>
                    <a:effectLst/>
                    <a:latin typeface="+mn-lt"/>
                    <a:ea typeface="+mn-ea"/>
                    <a:cs typeface="+mn-cs"/>
                  </a:rPr>
                  <a:t> — dispensed mass overestimates the fraction actually ingested and excreted, but may underestimate total environmental load if a portion is disposed of unused and separately enters the environment.</a:t>
                </a:r>
              </a:p>
              <a:p>
                <a:pPr lvl="0"/>
                <a:r>
                  <a:rPr lang="en-US" sz="1200" b="1" i="0" kern="1200" dirty="0">
                    <a:solidFill>
                      <a:schemeClr val="tx1"/>
                    </a:solidFill>
                    <a:effectLst/>
                    <a:latin typeface="+mn-lt"/>
                    <a:ea typeface="+mn-ea"/>
                    <a:cs typeface="+mn-cs"/>
                  </a:rPr>
                  <a:t>Excretion-fraction assumptions</a:t>
                </a:r>
                <a:r>
                  <a:rPr lang="en-US" sz="1200" b="0" i="0" kern="1200" dirty="0">
                    <a:solidFill>
                      <a:schemeClr val="tx1"/>
                    </a:solidFill>
                    <a:effectLst/>
                    <a:latin typeface="+mn-lt"/>
                    <a:ea typeface="+mn-ea"/>
                    <a:cs typeface="+mn-cs"/>
                  </a:rPr>
                  <a:t> in the PEC equation implicitly assume the dispensed drug was taken. Non-adherence breaks that assumption, adding uncertainty not usually quantified.</a:t>
                </a:r>
              </a:p>
              <a:p>
                <a:pPr lvl="0"/>
                <a:r>
                  <a:rPr lang="en-US" sz="1200" b="0" i="0" kern="1200" dirty="0">
                    <a:solidFill>
                      <a:schemeClr val="tx1"/>
                    </a:solidFill>
                    <a:effectLst/>
                    <a:latin typeface="+mn-lt"/>
                    <a:ea typeface="+mn-ea"/>
                    <a:cs typeface="+mn-cs"/>
                  </a:rPr>
                  <a:t>It still </a:t>
                </a:r>
                <a:r>
                  <a:rPr lang="en-US" sz="1200" b="1" i="0" kern="1200" dirty="0">
                    <a:solidFill>
                      <a:schemeClr val="tx1"/>
                    </a:solidFill>
                    <a:effectLst/>
                    <a:latin typeface="+mn-lt"/>
                    <a:ea typeface="+mn-ea"/>
                    <a:cs typeface="+mn-cs"/>
                  </a:rPr>
                  <a:t>excludes OTC, hospital-only, and veterinary use</a:t>
                </a:r>
                <a:r>
                  <a:rPr lang="en-US" sz="1200" b="0" i="0" kern="1200" dirty="0">
                    <a:solidFill>
                      <a:schemeClr val="tx1"/>
                    </a:solidFill>
                    <a:effectLst/>
                    <a:latin typeface="+mn-lt"/>
                    <a:ea typeface="+mn-ea"/>
                    <a:cs typeface="+mn-cs"/>
                  </a:rPr>
                  <a:t> and any illicit or unregistered supply, so even as a dispensing metric it is incomplete for total environmental input.</a:t>
                </a:r>
              </a:p>
              <a:p>
                <a:r>
                  <a:rPr lang="en-US" sz="1200" b="0" i="0" kern="1200" dirty="0">
                    <a:solidFill>
                      <a:schemeClr val="tx1"/>
                    </a:solidFill>
                    <a:effectLst/>
                    <a:latin typeface="+mn-lt"/>
                    <a:ea typeface="+mn-ea"/>
                    <a:cs typeface="+mn-cs"/>
                  </a:rPr>
                  <a:t>For precision in your write-up, "dispensing data (used as a proxy for consumption)" or "reimbursement/dispensing data" describes these inputs more accurately than either "prescription" or "consumption" alone.</a:t>
                </a:r>
              </a:p>
              <a:p>
                <a:r>
                  <a:rPr lang="en-US" sz="1200" b="0" i="0" kern="1200" dirty="0">
                    <a:solidFill>
                      <a:schemeClr val="tx1"/>
                    </a:solidFill>
                    <a:effectLst/>
                    <a:latin typeface="+mn-lt"/>
                    <a:ea typeface="+mn-ea"/>
                    <a:cs typeface="+mn-cs"/>
                  </a:rPr>
                  <a:t>Would you like to explore how non-adherence and unused-drug disposal bias dispensing-based PEC estimates?</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"Dispensing data" is the accurate label for prescription/reimbursement-based claims inputs</a:t>
                </a:r>
                <a:r>
                  <a:rPr lang="en-US" sz="1200" b="0" i="0" kern="1200" dirty="0">
                    <a:solidFill>
                      <a:schemeClr val="tx1"/>
                    </a:solidFill>
                    <a:effectLst/>
                    <a:latin typeface="+mn-lt"/>
                    <a:ea typeface="+mn-ea"/>
                    <a:cs typeface="+mn-cs"/>
                  </a:rPr>
                  <a:t>, and the table below adopts it, reserving "sales/wholesale" and "national consumption statistics" for studies whose inputs are not pharmacy-level claims. Added examples that likewise build on large-scale drug utilization datasets: Greece (Iatrou, 24 antimicrobials from national consumption statistics), Australia (Day &amp;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community antibiotics from national dispensing/PBS-type data), and Ireland (Monahan, national human vs. veterinary antibiotic usage). [1-3] The France effluent-screening and Portugal 16-drug validation studies remain excluded because they are not built on a large utilization dataset.</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Research question</a:t>
                </a:r>
              </a:p>
              <a:p>
                <a:pPr fontAlgn="b"/>
                <a:r>
                  <a:rPr lang="en-US" sz="1200" b="1" i="0" kern="1200" dirty="0">
                    <a:solidFill>
                      <a:schemeClr val="tx1"/>
                    </a:solidFill>
                    <a:effectLst/>
                    <a:latin typeface="+mn-lt"/>
                    <a:ea typeface="+mn-ea"/>
                    <a:cs typeface="+mn-cs"/>
                  </a:rPr>
                  <a:t>Data source (precise type)</a:t>
                </a:r>
              </a:p>
              <a:p>
                <a:pPr fontAlgn="b"/>
                <a:r>
                  <a:rPr lang="en-US" sz="1200" b="1" i="0" kern="1200" dirty="0">
                    <a:solidFill>
                      <a:schemeClr val="tx1"/>
                    </a:solidFill>
                    <a:effectLst/>
                    <a:latin typeface="+mn-lt"/>
                    <a:ea typeface="+mn-ea"/>
                    <a:cs typeface="+mn-cs"/>
                  </a:rPr>
                  <a:t>Key assumptions</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Main limitations</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listWhich</a:t>
                </a:r>
                <a:r>
                  <a:rPr lang="en-US" sz="1200" b="0" i="0" kern="1200" dirty="0">
                    <a:solidFill>
                      <a:schemeClr val="tx1"/>
                    </a:solidFill>
                    <a:effectLst/>
                    <a:latin typeface="+mn-lt"/>
                    <a:ea typeface="+mn-ea"/>
                    <a:cs typeface="+mn-cs"/>
                  </a:rPr>
                  <a:t> watch-list drugs pose greatest environmental risk in </a:t>
                </a:r>
                <a:r>
                  <a:rPr lang="en-US" sz="1200" b="0" i="0" kern="1200" dirty="0" err="1">
                    <a:solidFill>
                      <a:schemeClr val="tx1"/>
                    </a:solidFill>
                    <a:effectLst/>
                    <a:latin typeface="+mn-lt"/>
                    <a:ea typeface="+mn-ea"/>
                    <a:cs typeface="+mn-cs"/>
                  </a:rPr>
                  <a:t>Italy?National</a:t>
                </a:r>
                <a:r>
                  <a:rPr lang="en-US" sz="1200" b="0" i="0" kern="1200" dirty="0">
                    <a:solidFill>
                      <a:schemeClr val="tx1"/>
                    </a:solidFill>
                    <a:effectLst/>
                    <a:latin typeface="+mn-lt"/>
                    <a:ea typeface="+mn-ea"/>
                    <a:cs typeface="+mn-cs"/>
                  </a:rPr>
                  <a:t> drug utilization statistics 2019–21; 25-drug Stockholm PNEC </a:t>
                </a:r>
                <a:r>
                  <a:rPr lang="en-US" sz="1200" b="0" i="0" kern="1200" dirty="0" err="1">
                    <a:solidFill>
                      <a:schemeClr val="tx1"/>
                    </a:solidFill>
                    <a:effectLst/>
                    <a:latin typeface="+mn-lt"/>
                    <a:ea typeface="+mn-ea"/>
                    <a:cs typeface="+mn-cs"/>
                  </a:rPr>
                  <a:t>listStandard</a:t>
                </a:r>
                <a:r>
                  <a:rPr lang="en-US" sz="1200" b="0" i="0" kern="1200" dirty="0">
                    <a:solidFill>
                      <a:schemeClr val="tx1"/>
                    </a:solidFill>
                    <a:effectLst/>
                    <a:latin typeface="+mn-lt"/>
                    <a:ea typeface="+mn-ea"/>
                    <a:cs typeface="+mn-cs"/>
                  </a:rPr>
                  <a:t> excretion + dilution; external Stockholm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levonorgestrel, ciprofloxacin, amoxicillin, azithromycin, venlafaxine, sertraline, diclofenac25 pre-selected drugs; external PNECs; no measured </a:t>
                </a:r>
                <a:r>
                  <a:rPr lang="en-US" sz="1200" b="0" i="0" kern="1200" dirty="0" err="1">
                    <a:solidFill>
                      <a:schemeClr val="tx1"/>
                    </a:solidFill>
                    <a:effectLst/>
                    <a:latin typeface="+mn-lt"/>
                    <a:ea typeface="+mn-ea"/>
                    <a:cs typeface="+mn-cs"/>
                  </a:rPr>
                  <a:t>validationGiunchi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 [4]</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SpainWhich</a:t>
                </a:r>
                <a:r>
                  <a:rPr lang="en-US" sz="1200" b="0" i="0" kern="1200" dirty="0">
                    <a:solidFill>
                      <a:schemeClr val="tx1"/>
                    </a:solidFill>
                    <a:effectLst/>
                    <a:latin typeface="+mn-lt"/>
                    <a:ea typeface="+mn-ea"/>
                    <a:cs typeface="+mn-cs"/>
                  </a:rPr>
                  <a:t> of 810 drugs to prioritize; how does risk vary spatially/</a:t>
                </a:r>
                <a:r>
                  <a:rPr lang="en-US" sz="1200" b="0" i="0" kern="1200" dirty="0" err="1">
                    <a:solidFill>
                      <a:schemeClr val="tx1"/>
                    </a:solidFill>
                    <a:effectLst/>
                    <a:latin typeface="+mn-lt"/>
                    <a:ea typeface="+mn-ea"/>
                    <a:cs typeface="+mn-cs"/>
                  </a:rPr>
                  <a:t>seasonally?Regional</a:t>
                </a:r>
                <a:r>
                  <a:rPr lang="en-US" sz="1200" b="0" i="0" kern="1200" dirty="0">
                    <a:solidFill>
                      <a:schemeClr val="tx1"/>
                    </a:solidFill>
                    <a:effectLst/>
                    <a:latin typeface="+mn-lt"/>
                    <a:ea typeface="+mn-ea"/>
                    <a:cs typeface="+mn-cs"/>
                  </a:rPr>
                  <a:t> dispensing/reimbursement data 2014–21, 810 </a:t>
                </a:r>
                <a:r>
                  <a:rPr lang="en-US" sz="1200" b="0" i="0" kern="1200" dirty="0" err="1">
                    <a:solidFill>
                      <a:schemeClr val="tx1"/>
                    </a:solidFill>
                    <a:effectLst/>
                    <a:latin typeface="+mn-lt"/>
                    <a:ea typeface="+mn-ea"/>
                    <a:cs typeface="+mn-cs"/>
                  </a:rPr>
                  <a:t>substancesExcretion</a:t>
                </a:r>
                <a:r>
                  <a:rPr lang="en-US" sz="1200" b="0" i="0" kern="1200" dirty="0">
                    <a:solidFill>
                      <a:schemeClr val="tx1"/>
                    </a:solidFill>
                    <a:effectLst/>
                    <a:latin typeface="+mn-lt"/>
                    <a:ea typeface="+mn-ea"/>
                    <a:cs typeface="+mn-cs"/>
                  </a:rPr>
                  <a:t>, WWTP removal, dilution; water-scarcity factor261/810 exceeded EMA 10 ng/L in 2021; rose with </a:t>
                </a:r>
                <a:r>
                  <a:rPr lang="en-US" sz="1200" b="0" i="0" kern="1200" dirty="0" err="1">
                    <a:solidFill>
                      <a:schemeClr val="tx1"/>
                    </a:solidFill>
                    <a:effectLst/>
                    <a:latin typeface="+mn-lt"/>
                    <a:ea typeface="+mn-ea"/>
                    <a:cs typeface="+mn-cs"/>
                  </a:rPr>
                  <a:t>scarcityDispensing</a:t>
                </a:r>
                <a:r>
                  <a:rPr lang="en-US" sz="1200" b="0" i="0" kern="1200" dirty="0">
                    <a:solidFill>
                      <a:schemeClr val="tx1"/>
                    </a:solidFill>
                    <a:effectLst/>
                    <a:latin typeface="+mn-lt"/>
                    <a:ea typeface="+mn-ea"/>
                    <a:cs typeface="+mn-cs"/>
                  </a:rPr>
                  <a:t>-only (no OTC/hospital/vet); default parameters; single </a:t>
                </a:r>
                <a:r>
                  <a:rPr lang="en-US" sz="1200" b="0" i="0" kern="1200" dirty="0" err="1">
                    <a:solidFill>
                      <a:schemeClr val="tx1"/>
                    </a:solidFill>
                    <a:effectLst/>
                    <a:latin typeface="+mn-lt"/>
                    <a:ea typeface="+mn-ea"/>
                    <a:cs typeface="+mn-cs"/>
                  </a:rPr>
                  <a:t>thresholdDomínguez</a:t>
                </a:r>
                <a:r>
                  <a:rPr lang="en-US" sz="1200" b="0" i="0" kern="1200" dirty="0">
                    <a:solidFill>
                      <a:schemeClr val="tx1"/>
                    </a:solidFill>
                    <a:effectLst/>
                    <a:latin typeface="+mn-lt"/>
                    <a:ea typeface="+mn-ea"/>
                    <a:cs typeface="+mn-cs"/>
                  </a:rPr>
                  <a:t>-García, Environ Res, 2025 [5]</a:t>
                </a:r>
              </a:p>
              <a:p>
                <a:r>
                  <a:rPr lang="en-US" sz="1200" b="0" i="0" kern="1200" dirty="0" err="1">
                    <a:solidFill>
                      <a:schemeClr val="tx1"/>
                    </a:solidFill>
                    <a:effectLst/>
                    <a:latin typeface="+mn-lt"/>
                    <a:ea typeface="+mn-ea"/>
                    <a:cs typeface="+mn-cs"/>
                  </a:rPr>
                  <a:t>NorwayCan</a:t>
                </a:r>
                <a:r>
                  <a:rPr lang="en-US" sz="1200" b="0" i="0" kern="1200" dirty="0">
                    <a:solidFill>
                      <a:schemeClr val="tx1"/>
                    </a:solidFill>
                    <a:effectLst/>
                    <a:latin typeface="+mn-lt"/>
                    <a:ea typeface="+mn-ea"/>
                    <a:cs typeface="+mn-cs"/>
                  </a:rPr>
                  <a:t> national sales data reliably predict risk vs. </a:t>
                </a:r>
                <a:r>
                  <a:rPr lang="en-US" sz="1200" b="0" i="0" kern="1200" dirty="0" err="1">
                    <a:solidFill>
                      <a:schemeClr val="tx1"/>
                    </a:solidFill>
                    <a:effectLst/>
                    <a:latin typeface="+mn-lt"/>
                    <a:ea typeface="+mn-ea"/>
                    <a:cs typeface="+mn-cs"/>
                  </a:rPr>
                  <a:t>measurements?National</a:t>
                </a:r>
                <a:r>
                  <a:rPr lang="en-US" sz="1200" b="0" i="0" kern="1200" dirty="0">
                    <a:solidFill>
                      <a:schemeClr val="tx1"/>
                    </a:solidFill>
                    <a:effectLst/>
                    <a:latin typeface="+mn-lt"/>
                    <a:ea typeface="+mn-ea"/>
                    <a:cs typeface="+mn-cs"/>
                  </a:rPr>
                  <a:t> wholesale + prescription + veterinary sales 2016–19, ~200 </a:t>
                </a:r>
                <a:r>
                  <a:rPr lang="en-US" sz="1200" b="0" i="0" kern="1200" dirty="0" err="1">
                    <a:solidFill>
                      <a:schemeClr val="tx1"/>
                    </a:solidFill>
                    <a:effectLst/>
                    <a:latin typeface="+mn-lt"/>
                    <a:ea typeface="+mn-ea"/>
                    <a:cs typeface="+mn-cs"/>
                  </a:rPr>
                  <a:t>APIsConservative</a:t>
                </a:r>
                <a:r>
                  <a:rPr lang="en-US" sz="1200" b="0" i="0" kern="1200" dirty="0">
                    <a:solidFill>
                      <a:schemeClr val="tx1"/>
                    </a:solidFill>
                    <a:effectLst/>
                    <a:latin typeface="+mn-lt"/>
                    <a:ea typeface="+mn-ea"/>
                    <a:cs typeface="+mn-cs"/>
                  </a:rPr>
                  <a:t> PEC; adds persistence/bioaccumulation flags17 APIs RQ &gt;1; levonorgestrel RQ 220, ciprofloxacin RQ 56Overpredicted 18/20 vs. measured; OTC gap (~70%); sparse PNEC/PBT </a:t>
                </a:r>
                <a:r>
                  <a:rPr lang="en-US" sz="1200" b="0" i="0" kern="1200" dirty="0" err="1">
                    <a:solidFill>
                      <a:schemeClr val="tx1"/>
                    </a:solidFill>
                    <a:effectLst/>
                    <a:latin typeface="+mn-lt"/>
                    <a:ea typeface="+mn-ea"/>
                    <a:cs typeface="+mn-cs"/>
                  </a:rPr>
                  <a:t>dataWelch</a:t>
                </a:r>
                <a:r>
                  <a:rPr lang="en-US" sz="1200" b="0" i="0" kern="1200" dirty="0">
                    <a:solidFill>
                      <a:schemeClr val="tx1"/>
                    </a:solidFill>
                    <a:effectLst/>
                    <a:latin typeface="+mn-lt"/>
                    <a:ea typeface="+mn-ea"/>
                    <a:cs typeface="+mn-cs"/>
                  </a:rPr>
                  <a:t>,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 [6]</a:t>
                </a:r>
              </a:p>
              <a:p>
                <a:r>
                  <a:rPr lang="en-US" sz="1200" b="0" i="0" kern="1200" dirty="0" err="1">
                    <a:solidFill>
                      <a:schemeClr val="tx1"/>
                    </a:solidFill>
                    <a:effectLst/>
                    <a:latin typeface="+mn-lt"/>
                    <a:ea typeface="+mn-ea"/>
                    <a:cs typeface="+mn-cs"/>
                  </a:rPr>
                  <a:t>GreeceWhat</a:t>
                </a:r>
                <a:r>
                  <a:rPr lang="en-US" sz="1200" b="0" i="0" kern="1200" dirty="0">
                    <a:solidFill>
                      <a:schemeClr val="tx1"/>
                    </a:solidFill>
                    <a:effectLst/>
                    <a:latin typeface="+mn-lt"/>
                    <a:ea typeface="+mn-ea"/>
                    <a:cs typeface="+mn-cs"/>
                  </a:rPr>
                  <a:t> environmental risk arises from national antimicrobial </a:t>
                </a:r>
                <a:r>
                  <a:rPr lang="en-US" sz="1200" b="0" i="0" kern="1200" dirty="0" err="1">
                    <a:solidFill>
                      <a:schemeClr val="tx1"/>
                    </a:solidFill>
                    <a:effectLst/>
                    <a:latin typeface="+mn-lt"/>
                    <a:ea typeface="+mn-ea"/>
                    <a:cs typeface="+mn-cs"/>
                  </a:rPr>
                  <a:t>consumption?National</a:t>
                </a:r>
                <a:r>
                  <a:rPr lang="en-US" sz="1200" b="0" i="0" kern="1200" dirty="0">
                    <a:solidFill>
                      <a:schemeClr val="tx1"/>
                    </a:solidFill>
                    <a:effectLst/>
                    <a:latin typeface="+mn-lt"/>
                    <a:ea typeface="+mn-ea"/>
                    <a:cs typeface="+mn-cs"/>
                  </a:rPr>
                  <a:t> antimicrobial consumption statistics 2008–10, 24 </a:t>
                </a:r>
                <a:r>
                  <a:rPr lang="en-US" sz="1200" b="0" i="0" kern="1200" dirty="0" err="1">
                    <a:solidFill>
                      <a:schemeClr val="tx1"/>
                    </a:solidFill>
                    <a:effectLst/>
                    <a:latin typeface="+mn-lt"/>
                    <a:ea typeface="+mn-ea"/>
                    <a:cs typeface="+mn-cs"/>
                  </a:rPr>
                  <a:t>drugsMass</a:t>
                </a:r>
                <a:r>
                  <a:rPr lang="en-US" sz="1200" b="0" i="0" kern="1200" dirty="0">
                    <a:solidFill>
                      <a:schemeClr val="tx1"/>
                    </a:solidFill>
                    <a:effectLst/>
                    <a:latin typeface="+mn-lt"/>
                    <a:ea typeface="+mn-ea"/>
                    <a:cs typeface="+mn-cs"/>
                  </a:rPr>
                  <a:t> balance; literature excretion/removal; ECOSAR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for 7/24 (algae); amoxicillin, clarithromycin RQ &gt;80 </a:t>
                </a:r>
                <a:r>
                  <a:rPr lang="en-US" sz="1200" b="0" i="0" kern="1200" dirty="0" err="1">
                    <a:solidFill>
                      <a:schemeClr val="tx1"/>
                    </a:solidFill>
                    <a:effectLst/>
                    <a:latin typeface="+mn-lt"/>
                    <a:ea typeface="+mn-ea"/>
                    <a:cs typeface="+mn-cs"/>
                  </a:rPr>
                  <a:t>chronicAntimicrobials</a:t>
                </a:r>
                <a:r>
                  <a:rPr lang="en-US" sz="1200" b="0" i="0" kern="1200" dirty="0">
                    <a:solidFill>
                      <a:schemeClr val="tx1"/>
                    </a:solidFill>
                    <a:effectLst/>
                    <a:latin typeface="+mn-lt"/>
                    <a:ea typeface="+mn-ea"/>
                    <a:cs typeface="+mn-cs"/>
                  </a:rPr>
                  <a:t> only; literature/ECOSAR toxicity; no local </a:t>
                </a:r>
                <a:r>
                  <a:rPr lang="en-US" sz="1200" b="0" i="0" kern="1200" dirty="0" err="1">
                    <a:solidFill>
                      <a:schemeClr val="tx1"/>
                    </a:solidFill>
                    <a:effectLst/>
                    <a:latin typeface="+mn-lt"/>
                    <a:ea typeface="+mn-ea"/>
                    <a:cs typeface="+mn-cs"/>
                  </a:rPr>
                  <a:t>measurementIatrou</a:t>
                </a:r>
                <a:r>
                  <a:rPr lang="en-US" sz="1200" b="0" i="0" kern="1200" dirty="0">
                    <a:solidFill>
                      <a:schemeClr val="tx1"/>
                    </a:solidFill>
                    <a:effectLst/>
                    <a:latin typeface="+mn-lt"/>
                    <a:ea typeface="+mn-ea"/>
                    <a:cs typeface="+mn-cs"/>
                  </a:rPr>
                  <a:t>,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 [1]</a:t>
                </a:r>
              </a:p>
              <a:p>
                <a:r>
                  <a:rPr lang="en-US" sz="1200" b="0" i="0" kern="1200" dirty="0" err="1">
                    <a:solidFill>
                      <a:schemeClr val="tx1"/>
                    </a:solidFill>
                    <a:effectLst/>
                    <a:latin typeface="+mn-lt"/>
                    <a:ea typeface="+mn-ea"/>
                    <a:cs typeface="+mn-cs"/>
                  </a:rPr>
                  <a:t>AustraliaWhich</a:t>
                </a:r>
                <a:r>
                  <a:rPr lang="en-US" sz="1200" b="0" i="0" kern="1200" dirty="0">
                    <a:solidFill>
                      <a:schemeClr val="tx1"/>
                    </a:solidFill>
                    <a:effectLst/>
                    <a:latin typeface="+mn-lt"/>
                    <a:ea typeface="+mn-ea"/>
                    <a:cs typeface="+mn-cs"/>
                  </a:rPr>
                  <a:t> community antibiotics exceed risk thresholds </a:t>
                </a:r>
                <a:r>
                  <a:rPr lang="en-US" sz="1200" b="0" i="0" kern="1200" dirty="0" err="1">
                    <a:solidFill>
                      <a:schemeClr val="tx1"/>
                    </a:solidFill>
                    <a:effectLst/>
                    <a:latin typeface="+mn-lt"/>
                    <a:ea typeface="+mn-ea"/>
                    <a:cs typeface="+mn-cs"/>
                  </a:rPr>
                  <a:t>nationally?National</a:t>
                </a:r>
                <a:r>
                  <a:rPr lang="en-US" sz="1200" b="0" i="0" kern="1200" dirty="0">
                    <a:solidFill>
                      <a:schemeClr val="tx1"/>
                    </a:solidFill>
                    <a:effectLst/>
                    <a:latin typeface="+mn-lt"/>
                    <a:ea typeface="+mn-ea"/>
                    <a:cs typeface="+mn-cs"/>
                  </a:rPr>
                  <a:t> community dispensing data; </a:t>
                </a:r>
                <a:r>
                  <a:rPr lang="en-US" sz="1200" b="0" i="0" kern="1200" dirty="0" err="1">
                    <a:solidFill>
                      <a:schemeClr val="tx1"/>
                    </a:solidFill>
                    <a:effectLst/>
                    <a:latin typeface="+mn-lt"/>
                    <a:ea typeface="+mn-ea"/>
                    <a:cs typeface="+mn-cs"/>
                  </a:rPr>
                  <a:t>antibioticsPEC</a:t>
                </a:r>
                <a:r>
                  <a:rPr lang="en-US" sz="1200" b="0" i="0" kern="1200" dirty="0">
                    <a:solidFill>
                      <a:schemeClr val="tx1"/>
                    </a:solidFill>
                    <a:effectLst/>
                    <a:latin typeface="+mn-lt"/>
                    <a:ea typeface="+mn-ea"/>
                    <a:cs typeface="+mn-cs"/>
                  </a:rPr>
                  <a:t>/RQ with sensitivity analysis of assessor </a:t>
                </a:r>
                <a:r>
                  <a:rPr lang="en-US" sz="1200" b="0" i="0" kern="1200" dirty="0" err="1">
                    <a:solidFill>
                      <a:schemeClr val="tx1"/>
                    </a:solidFill>
                    <a:effectLst/>
                    <a:latin typeface="+mn-lt"/>
                    <a:ea typeface="+mn-ea"/>
                    <a:cs typeface="+mn-cs"/>
                  </a:rPr>
                  <a:t>assumptionsAmoxicillin</a:t>
                </a:r>
                <a:r>
                  <a:rPr lang="en-US" sz="1200" b="0" i="0" kern="1200" dirty="0">
                    <a:solidFill>
                      <a:schemeClr val="tx1"/>
                    </a:solidFill>
                    <a:effectLst/>
                    <a:latin typeface="+mn-lt"/>
                    <a:ea typeface="+mn-ea"/>
                    <a:cs typeface="+mn-cs"/>
                  </a:rPr>
                  <a:t>, cefalexin, clindamycin, azithromycin, phenoxymethylpenicillin exceed </a:t>
                </a:r>
                <a:r>
                  <a:rPr lang="en-US" sz="1200" b="0" i="0" kern="1200" dirty="0" err="1">
                    <a:solidFill>
                      <a:schemeClr val="tx1"/>
                    </a:solidFill>
                    <a:effectLst/>
                    <a:latin typeface="+mn-lt"/>
                    <a:ea typeface="+mn-ea"/>
                    <a:cs typeface="+mn-cs"/>
                  </a:rPr>
                  <a:t>thresholdsRQ</a:t>
                </a:r>
                <a:r>
                  <a:rPr lang="en-US" sz="1200" b="0" i="0" kern="1200" dirty="0">
                    <a:solidFill>
                      <a:schemeClr val="tx1"/>
                    </a:solidFill>
                    <a:effectLst/>
                    <a:latin typeface="+mn-lt"/>
                    <a:ea typeface="+mn-ea"/>
                    <a:cs typeface="+mn-cs"/>
                  </a:rPr>
                  <a:t> highly sensitive to assumptions; antibiotics only; no ERA </a:t>
                </a:r>
                <a:r>
                  <a:rPr lang="en-US" sz="1200" b="0" i="0" kern="1200" dirty="0" err="1">
                    <a:solidFill>
                      <a:schemeClr val="tx1"/>
                    </a:solidFill>
                    <a:effectLst/>
                    <a:latin typeface="+mn-lt"/>
                    <a:ea typeface="+mn-ea"/>
                    <a:cs typeface="+mn-cs"/>
                  </a:rPr>
                  <a:t>infrastructureDay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 [2]</a:t>
                </a:r>
              </a:p>
              <a:p>
                <a:r>
                  <a:rPr lang="en-US" sz="1200" b="0" i="0" kern="1200" dirty="0" err="1">
                    <a:solidFill>
                      <a:schemeClr val="tx1"/>
                    </a:solidFill>
                    <a:effectLst/>
                    <a:latin typeface="+mn-lt"/>
                    <a:ea typeface="+mn-ea"/>
                    <a:cs typeface="+mn-cs"/>
                  </a:rPr>
                  <a:t>IrelandHow</a:t>
                </a:r>
                <a:r>
                  <a:rPr lang="en-US" sz="1200" b="0" i="0" kern="1200" dirty="0">
                    <a:solidFill>
                      <a:schemeClr val="tx1"/>
                    </a:solidFill>
                    <a:effectLst/>
                    <a:latin typeface="+mn-lt"/>
                    <a:ea typeface="+mn-ea"/>
                    <a:cs typeface="+mn-cs"/>
                  </a:rPr>
                  <a:t> do human vs. veterinary antibiotic usage compare as pollution </a:t>
                </a:r>
                <a:r>
                  <a:rPr lang="en-US" sz="1200" b="0" i="0" kern="1200" dirty="0" err="1">
                    <a:solidFill>
                      <a:schemeClr val="tx1"/>
                    </a:solidFill>
                    <a:effectLst/>
                    <a:latin typeface="+mn-lt"/>
                    <a:ea typeface="+mn-ea"/>
                    <a:cs typeface="+mn-cs"/>
                  </a:rPr>
                  <a:t>sources?National</a:t>
                </a:r>
                <a:r>
                  <a:rPr lang="en-US" sz="1200" b="0" i="0" kern="1200" dirty="0">
                    <a:solidFill>
                      <a:schemeClr val="tx1"/>
                    </a:solidFill>
                    <a:effectLst/>
                    <a:latin typeface="+mn-lt"/>
                    <a:ea typeface="+mn-ea"/>
                    <a:cs typeface="+mn-cs"/>
                  </a:rPr>
                  <a:t> human + veterinary antibiotic usage data; 6 </a:t>
                </a:r>
                <a:r>
                  <a:rPr lang="en-US" sz="1200" b="0" i="0" kern="1200" dirty="0" err="1">
                    <a:solidFill>
                      <a:schemeClr val="tx1"/>
                    </a:solidFill>
                    <a:effectLst/>
                    <a:latin typeface="+mn-lt"/>
                    <a:ea typeface="+mn-ea"/>
                    <a:cs typeface="+mn-cs"/>
                  </a:rPr>
                  <a:t>classesProbabilistic</a:t>
                </a:r>
                <a:r>
                  <a:rPr lang="en-US" sz="1200" b="0" i="0" kern="1200" dirty="0">
                    <a:solidFill>
                      <a:schemeClr val="tx1"/>
                    </a:solidFill>
                    <a:effectLst/>
                    <a:latin typeface="+mn-lt"/>
                    <a:ea typeface="+mn-ea"/>
                    <a:cs typeface="+mn-cs"/>
                  </a:rPr>
                  <a:t> usage, metabolism, degradation, removal; MIC-based </a:t>
                </a:r>
                <a:r>
                  <a:rPr lang="en-US" sz="1200" b="0" i="0" kern="1200" dirty="0" err="1">
                    <a:solidFill>
                      <a:schemeClr val="tx1"/>
                    </a:solidFill>
                    <a:effectLst/>
                    <a:latin typeface="+mn-lt"/>
                    <a:ea typeface="+mn-ea"/>
                    <a:cs typeface="+mn-cs"/>
                  </a:rPr>
                  <a:t>RQHealthcare</a:t>
                </a:r>
                <a:r>
                  <a:rPr lang="en-US" sz="1200" b="0" i="0" kern="1200" dirty="0">
                    <a:solidFill>
                      <a:schemeClr val="tx1"/>
                    </a:solidFill>
                    <a:effectLst/>
                    <a:latin typeface="+mn-lt"/>
                    <a:ea typeface="+mn-ea"/>
                    <a:cs typeface="+mn-cs"/>
                  </a:rPr>
                  <a:t> RQ &gt; agriculture; macrolides and penicillins </a:t>
                </a:r>
                <a:r>
                  <a:rPr lang="en-US" sz="1200" b="0" i="0" kern="1200" dirty="0" err="1">
                    <a:solidFill>
                      <a:schemeClr val="tx1"/>
                    </a:solidFill>
                    <a:effectLst/>
                    <a:latin typeface="+mn-lt"/>
                    <a:ea typeface="+mn-ea"/>
                    <a:cs typeface="+mn-cs"/>
                  </a:rPr>
                  <a:t>highestClass</a:t>
                </a:r>
                <a:r>
                  <a:rPr lang="en-US" sz="1200" b="0" i="0" kern="1200" dirty="0">
                    <a:solidFill>
                      <a:schemeClr val="tx1"/>
                    </a:solidFill>
                    <a:effectLst/>
                    <a:latin typeface="+mn-lt"/>
                    <a:ea typeface="+mn-ea"/>
                    <a:cs typeface="+mn-cs"/>
                  </a:rPr>
                  <a:t>-level (not per-drug); MIC-based endpoints; screening-</a:t>
                </a:r>
                <a:r>
                  <a:rPr lang="en-US" sz="1200" b="0" i="0" kern="1200" dirty="0" err="1">
                    <a:solidFill>
                      <a:schemeClr val="tx1"/>
                    </a:solidFill>
                    <a:effectLst/>
                    <a:latin typeface="+mn-lt"/>
                    <a:ea typeface="+mn-ea"/>
                    <a:cs typeface="+mn-cs"/>
                  </a:rPr>
                  <a:t>levelMonahan</a:t>
                </a:r>
                <a:r>
                  <a:rPr lang="en-US" sz="1200" b="0" i="0" kern="1200" dirty="0">
                    <a:solidFill>
                      <a:schemeClr val="tx1"/>
                    </a:solidFill>
                    <a:effectLst/>
                    <a:latin typeface="+mn-lt"/>
                    <a:ea typeface="+mn-ea"/>
                    <a:cs typeface="+mn-cs"/>
                  </a:rPr>
                  <a:t>, Sci Total Environ, 2022 [3]</a:t>
                </a:r>
              </a:p>
              <a:p>
                <a:r>
                  <a:rPr lang="en-US" sz="1200" b="0" i="0" kern="1200" dirty="0">
                    <a:solidFill>
                      <a:schemeClr val="tx1"/>
                    </a:solidFill>
                    <a:effectLst/>
                    <a:latin typeface="+mn-lt"/>
                    <a:ea typeface="+mn-ea"/>
                    <a:cs typeface="+mn-cs"/>
                  </a:rPr>
                  <a:t>[1-6]</a:t>
                </a:r>
              </a:p>
              <a:p>
                <a:r>
                  <a:rPr lang="en-US" sz="1200" b="0" i="0" kern="1200" dirty="0">
                    <a:solidFill>
                      <a:schemeClr val="tx1"/>
                    </a:solidFill>
                    <a:effectLst/>
                    <a:latin typeface="+mn-lt"/>
                    <a:ea typeface="+mn-ea"/>
                    <a:cs typeface="+mn-cs"/>
                  </a:rPr>
                  <a:t>The distinction now carried in the "Data source" column separates three input types that all qualify as large-scale utilization datasets but differ in what they actually count: </a:t>
                </a:r>
                <a:r>
                  <a:rPr lang="en-US" sz="1200" b="1" i="0" kern="1200" dirty="0">
                    <a:solidFill>
                      <a:schemeClr val="tx1"/>
                    </a:solidFill>
                    <a:effectLst/>
                    <a:latin typeface="+mn-lt"/>
                    <a:ea typeface="+mn-ea"/>
                    <a:cs typeface="+mn-cs"/>
                  </a:rPr>
                  <a:t>dispensing/reimbursement (claims) data</a:t>
                </a:r>
                <a:r>
                  <a:rPr lang="en-US" sz="1200" b="0" i="0" kern="1200" dirty="0">
                    <a:solidFill>
                      <a:schemeClr val="tx1"/>
                    </a:solidFill>
                    <a:effectLst/>
                    <a:latin typeface="+mn-lt"/>
                    <a:ea typeface="+mn-ea"/>
                    <a:cs typeface="+mn-cs"/>
                  </a:rPr>
                  <a:t> (Catalonia, Australia), </a:t>
                </a:r>
                <a:r>
                  <a:rPr lang="en-US" sz="1200" b="1" i="0" kern="1200" dirty="0">
                    <a:solidFill>
                      <a:schemeClr val="tx1"/>
                    </a:solidFill>
                    <a:effectLst/>
                    <a:latin typeface="+mn-lt"/>
                    <a:ea typeface="+mn-ea"/>
                    <a:cs typeface="+mn-cs"/>
                  </a:rPr>
                  <a:t>sales/wholesale data</a:t>
                </a:r>
                <a:r>
                  <a:rPr lang="en-US" sz="1200" b="0" i="0" kern="1200" dirty="0">
                    <a:solidFill>
                      <a:schemeClr val="tx1"/>
                    </a:solidFill>
                    <a:effectLst/>
                    <a:latin typeface="+mn-lt"/>
                    <a:ea typeface="+mn-ea"/>
                    <a:cs typeface="+mn-cs"/>
                  </a:rPr>
                  <a:t> (Norway), and </a:t>
                </a:r>
                <a:r>
                  <a:rPr lang="en-US" sz="1200" b="1" i="0" kern="1200" dirty="0">
                    <a:solidFill>
                      <a:schemeClr val="tx1"/>
                    </a:solidFill>
                    <a:effectLst/>
                    <a:latin typeface="+mn-lt"/>
                    <a:ea typeface="+mn-ea"/>
                    <a:cs typeface="+mn-cs"/>
                  </a:rPr>
                  <a:t>aggregated national consumption statistics</a:t>
                </a:r>
                <a:r>
                  <a:rPr lang="en-US" sz="1200" b="0" i="0" kern="1200" dirty="0">
                    <a:solidFill>
                      <a:schemeClr val="tx1"/>
                    </a:solidFill>
                    <a:effectLst/>
                    <a:latin typeface="+mn-lt"/>
                    <a:ea typeface="+mn-ea"/>
                    <a:cs typeface="+mn-cs"/>
                  </a:rPr>
                  <a:t> (Italy, Greece, Ireland). Only the claims-based rows measure drug handed over at the point of dispensing, and as discussed, this remains a proxy for consumption that excludes OTC, hospital, and veterinary supply.</a:t>
                </a:r>
              </a:p>
              <a:p>
                <a:r>
                  <a:rPr lang="en-US" sz="1200" b="0" i="0" kern="1200" dirty="0">
                    <a:solidFill>
                      <a:schemeClr val="tx1"/>
                    </a:solidFill>
                    <a:effectLst/>
                    <a:latin typeface="+mn-lt"/>
                    <a:ea typeface="+mn-ea"/>
                    <a:cs typeface="+mn-cs"/>
                  </a:rPr>
                  <a:t>Would you like to compare risk quotients for shared antibiotics like ciprofloxacin and amoxicillin across these consumption-based studies?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a:t>
                </a:r>
                <a:r>
                  <a:rPr lang="en-US" sz="1200" b="0" i="0" kern="1200" dirty="0" err="1">
                    <a:solidFill>
                      <a:schemeClr val="tx1"/>
                    </a:solidFill>
                    <a:effectLst/>
                    <a:latin typeface="+mn-lt"/>
                    <a:ea typeface="+mn-ea"/>
                    <a:cs typeface="+mn-cs"/>
                  </a:rPr>
                  <a:t>C.Recent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Named data sources now specified where the source publications or the national systems identify them</a:t>
                </a:r>
                <a:r>
                  <a:rPr lang="en-US" sz="1200" b="0" i="0" kern="1200" dirty="0">
                    <a:solidFill>
                      <a:schemeClr val="tx1"/>
                    </a:solidFill>
                    <a:effectLst/>
                    <a:latin typeface="+mn-lt"/>
                    <a:ea typeface="+mn-ea"/>
                    <a:cs typeface="+mn-cs"/>
                  </a:rPr>
                  <a:t>; two studies (Catalonia, Greece) do not name a specific database in the retrieved text, so those cells state the input type and flag that the platform is unnamed.</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Named data source</a:t>
                </a:r>
              </a:p>
              <a:p>
                <a:pPr fontAlgn="b"/>
                <a:r>
                  <a:rPr lang="en-US" sz="1200" b="1" i="0" kern="1200" dirty="0">
                    <a:solidFill>
                      <a:schemeClr val="tx1"/>
                    </a:solidFill>
                    <a:effectLst/>
                    <a:latin typeface="+mn-lt"/>
                    <a:ea typeface="+mn-ea"/>
                    <a:cs typeface="+mn-cs"/>
                  </a:rPr>
                  <a:t>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[1-2]National reimbursed-prescription utilization statistics25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[3]Dispensing/reimbursement (claims)810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[4-6]Wholesale + prescription + veterinary sales~200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[7]National consumption statistics24 antimicrobials, 2008–10RQ &gt;1 for 7/24 (algae); amoxicillin, clarithromycin RQ &gt;80 chronic [7]Iatrou,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[8-10]National dispensing (claims)Community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[8]Day,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[11]National usage (human + veterinary)6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[11]Monahan, Sci Total Environ, 2022</a:t>
                </a:r>
              </a:p>
              <a:p>
                <a:r>
                  <a:rPr lang="en-US" sz="1200" b="0" i="0" kern="1200" dirty="0">
                    <a:solidFill>
                      <a:schemeClr val="tx1"/>
                    </a:solidFill>
                    <a:effectLst/>
                    <a:latin typeface="+mn-lt"/>
                    <a:ea typeface="+mn-ea"/>
                    <a:cs typeface="+mn-cs"/>
                  </a:rPr>
                  <a:t>Two caveats on precision: the </a:t>
                </a:r>
                <a:r>
                  <a:rPr lang="en-US" sz="1200" b="1" i="0" kern="1200" dirty="0">
                    <a:solidFill>
                      <a:schemeClr val="tx1"/>
                    </a:solidFill>
                    <a:effectLst/>
                    <a:latin typeface="+mn-lt"/>
                    <a:ea typeface="+mn-ea"/>
                    <a:cs typeface="+mn-cs"/>
                  </a:rPr>
                  <a:t>Italian analysis draws on AIFA's </a:t>
                </a:r>
                <a:r>
                  <a:rPr lang="en-US" sz="1200" b="1" i="0" kern="1200" dirty="0" err="1">
                    <a:solidFill>
                      <a:schemeClr val="tx1"/>
                    </a:solidFill>
                    <a:effectLst/>
                    <a:latin typeface="+mn-lt"/>
                    <a:ea typeface="+mn-ea"/>
                    <a:cs typeface="+mn-cs"/>
                  </a:rPr>
                  <a:t>OsMed</a:t>
                </a:r>
                <a:r>
                  <a:rPr lang="en-US" sz="1200" b="1" i="0" kern="1200" dirty="0">
                    <a:solidFill>
                      <a:schemeClr val="tx1"/>
                    </a:solidFill>
                    <a:effectLst/>
                    <a:latin typeface="+mn-lt"/>
                    <a:ea typeface="+mn-ea"/>
                    <a:cs typeface="+mn-cs"/>
                  </a:rPr>
                  <a:t> system</a:t>
                </a:r>
                <a:r>
                  <a:rPr lang="en-US" sz="1200" b="0" i="0" kern="1200" dirty="0">
                    <a:solidFill>
                      <a:schemeClr val="tx1"/>
                    </a:solidFill>
                    <a:effectLst/>
                    <a:latin typeface="+mn-lt"/>
                    <a:ea typeface="+mn-ea"/>
                    <a:cs typeface="+mn-cs"/>
                  </a:rPr>
                  <a:t> — the database of all prescribed drugs reimbursed by the Italian National Health Service — confirmed as the utilization source in AIFA's own 2025 follow-up assessment. [2][12] For </a:t>
                </a:r>
                <a:r>
                  <a:rPr lang="en-US" sz="1200" b="1" i="0" kern="1200" dirty="0">
                    <a:solidFill>
                      <a:schemeClr val="tx1"/>
                    </a:solidFill>
                    <a:effectLst/>
                    <a:latin typeface="+mn-lt"/>
                    <a:ea typeface="+mn-ea"/>
                    <a:cs typeface="+mn-cs"/>
                  </a:rPr>
                  <a:t>Norway, </a:t>
                </a:r>
                <a:r>
                  <a:rPr lang="en-US" sz="1200" b="1" i="0" kern="1200" dirty="0" err="1">
                    <a:solidFill>
                      <a:schemeClr val="tx1"/>
                    </a:solidFill>
                    <a:effectLst/>
                    <a:latin typeface="+mn-lt"/>
                    <a:ea typeface="+mn-ea"/>
                    <a:cs typeface="+mn-cs"/>
                  </a:rPr>
                  <a:t>NorPD</a:t>
                </a:r>
                <a:r>
                  <a:rPr lang="en-US" sz="1200" b="1" i="0" kern="1200" dirty="0">
                    <a:solidFill>
                      <a:schemeClr val="tx1"/>
                    </a:solidFill>
                    <a:effectLst/>
                    <a:latin typeface="+mn-lt"/>
                    <a:ea typeface="+mn-ea"/>
                    <a:cs typeface="+mn-cs"/>
                  </a:rPr>
                  <a:t> captures only community-pharmacy dispensing and omits over-the-counter sales</a:t>
                </a:r>
                <a:r>
                  <a:rPr lang="en-US" sz="1200" b="0" i="0" kern="1200" dirty="0">
                    <a:solidFill>
                      <a:schemeClr val="tx1"/>
                    </a:solidFill>
                    <a:effectLst/>
                    <a:latin typeface="+mn-lt"/>
                    <a:ea typeface="+mn-ea"/>
                    <a:cs typeface="+mn-cs"/>
                  </a:rPr>
                  <a:t>, which is why the authors supplemented it with wholesale statistics; that OTC gap accounts for the finding that prescriptions explained only ~70% of PEC magnitude. [4][6] The </a:t>
                </a:r>
                <a:r>
                  <a:rPr lang="en-US" sz="1200" b="1" i="0" kern="1200" dirty="0">
                    <a:solidFill>
                      <a:schemeClr val="tx1"/>
                    </a:solidFill>
                    <a:effectLst/>
                    <a:latin typeface="+mn-lt"/>
                    <a:ea typeface="+mn-ea"/>
                    <a:cs typeface="+mn-cs"/>
                  </a:rPr>
                  <a:t>Catalonia and Greece studies use national/regional utilization figures but do not name a specific database platform</a:t>
                </a:r>
                <a:r>
                  <a:rPr lang="en-US" sz="1200" b="0" i="0" kern="1200" dirty="0">
                    <a:solidFill>
                      <a:schemeClr val="tx1"/>
                    </a:solidFill>
                    <a:effectLst/>
                    <a:latin typeface="+mn-lt"/>
                    <a:ea typeface="+mn-ea"/>
                    <a:cs typeface="+mn-cs"/>
                  </a:rPr>
                  <a:t> in the retrieved text, so those should not be attributed to a named registry without verifying the source methods section.</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21"/>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22"/>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3"/>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24"/>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al.RecentObservational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25"/>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12.</a:t>
                </a:r>
              </a:p>
              <a:p>
                <a:r>
                  <a:rPr lang="en-US" sz="1200" b="0" i="0" u="none" strike="noStrike" kern="1200" dirty="0">
                    <a:solidFill>
                      <a:schemeClr val="tx1"/>
                    </a:solidFill>
                    <a:effectLst/>
                    <a:latin typeface="+mn-lt"/>
                    <a:ea typeface="+mn-ea"/>
                    <a:cs typeface="+mn-cs"/>
                    <a:hlinkClick r:id="rId26"/>
                  </a:rPr>
                  <a:t>Assessing the Environmental Impact of Medicines in Italy Using Data From the Italian Medicines Agency.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2025.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a:t>
                </a:r>
                <a:r>
                  <a:rPr lang="en-US" sz="1200" b="0" i="0" kern="1200" dirty="0" err="1">
                    <a:solidFill>
                      <a:schemeClr val="tx1"/>
                    </a:solidFill>
                    <a:effectLst/>
                    <a:latin typeface="+mn-lt"/>
                    <a:ea typeface="+mn-ea"/>
                    <a:cs typeface="+mn-cs"/>
                  </a:rPr>
                  <a:t>Cangini</a:t>
                </a:r>
                <a:r>
                  <a:rPr lang="en-US" sz="1200" b="0" i="0" kern="1200" dirty="0">
                    <a:solidFill>
                      <a:schemeClr val="tx1"/>
                    </a:solidFill>
                    <a:effectLst/>
                    <a:latin typeface="+mn-lt"/>
                    <a:ea typeface="+mn-ea"/>
                    <a:cs typeface="+mn-cs"/>
                  </a:rPr>
                  <a:t> A,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Data source and input type merged into a single column</a:t>
                </a:r>
                <a:r>
                  <a:rPr lang="en-US" sz="1200" b="0" i="0" kern="1200" dirty="0">
                    <a:solidFill>
                      <a:schemeClr val="tx1"/>
                    </a:solidFill>
                    <a:effectLst/>
                    <a:latin typeface="+mn-lt"/>
                    <a:ea typeface="+mn-ea"/>
                    <a:cs typeface="+mn-cs"/>
                  </a:rPr>
                  <a:t> below; all other content is unchanged from the prior version.</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Data source (named + 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national reimbursed-prescription utilization statistics [1-2]25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dispensing/reimbursement (claims) [3]810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wholesale + prescription + veterinary sales [4-6]~200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[4]24 antimicrobials, 2008–10RQ &gt;1 for 7/24 (algae); amoxicillin, clarithromycin RQ &gt;80 chronic [4]Iatrou,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national dispensing (claims) [7-9]Community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[7]Day,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national usage (human + veterinary) [10]6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[10]Monahan, Sci Total Environ, 2022</a:t>
                </a:r>
              </a:p>
              <a:p>
                <a:r>
                  <a:rPr lang="en-US" sz="1200" b="0" i="0" kern="1200" dirty="0">
                    <a:solidFill>
                      <a:schemeClr val="tx1"/>
                    </a:solidFill>
                    <a:effectLst/>
                    <a:latin typeface="+mn-lt"/>
                    <a:ea typeface="+mn-ea"/>
                    <a:cs typeface="+mn-cs"/>
                  </a:rPr>
                  <a:t>[1-11]</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21"/>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22"/>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23"/>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24"/>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25"/>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The shared research question</a:t>
                </a:r>
                <a:r>
                  <a:rPr lang="en-US" sz="1200" b="0" i="0" kern="1200" dirty="0">
                    <a:solidFill>
                      <a:schemeClr val="tx1"/>
                    </a:solidFill>
                    <a:effectLst/>
                    <a:latin typeface="+mn-lt"/>
                    <a:ea typeface="+mn-ea"/>
                    <a:cs typeface="+mn-cs"/>
                  </a:rPr>
                  <a:t> across these studies is: which pharmaceuticals, based on how much of each drug a population actually uses, pose the greatest risk to the aquatic environment—and can large-scale drug utilization data substitute for costly environmental sampling to identify and prioritize those substances? Each study operationalizes this slightly differently (screening a national formulary, a pre-set watch-list, antibiotics only, or human vs. veterinary sources), but all ask the same underlying question: can consumption/dispensing data reliably predict environmental risk and rank drugs of concern. [1-4]</a:t>
                </a:r>
              </a:p>
              <a:p>
                <a:r>
                  <a:rPr lang="en-US" sz="1200" b="1" i="0" kern="1200" dirty="0">
                    <a:solidFill>
                      <a:schemeClr val="tx1"/>
                    </a:solidFill>
                    <a:effectLst/>
                    <a:latin typeface="+mn-lt"/>
                    <a:ea typeface="+mn-ea"/>
                    <a:cs typeface="+mn-cs"/>
                  </a:rPr>
                  <a:t>The common method is the consumption-driven PEC/PNEC (risk quotient) approach</a:t>
                </a:r>
                <a:r>
                  <a:rPr lang="en-US" sz="1200" b="0" i="0" kern="1200" dirty="0">
                    <a:solidFill>
                      <a:schemeClr val="tx1"/>
                    </a:solidFill>
                    <a:effectLst/>
                    <a:latin typeface="+mn-lt"/>
                    <a:ea typeface="+mn-ea"/>
                    <a:cs typeface="+mn-cs"/>
                  </a:rPr>
                  <a:t>, which proceeds in four steps shared across all six studies:</a:t>
                </a:r>
              </a:p>
              <a:p>
                <a:pPr lvl="0"/>
                <a:r>
                  <a:rPr lang="en-US" sz="1200" b="1" i="0" kern="1200" dirty="0">
                    <a:solidFill>
                      <a:schemeClr val="tx1"/>
                    </a:solidFill>
                    <a:effectLst/>
                    <a:latin typeface="+mn-lt"/>
                    <a:ea typeface="+mn-ea"/>
                    <a:cs typeface="+mn-cs"/>
                  </a:rPr>
                  <a:t>Quantify drug mass used.</a:t>
                </a:r>
                <a:r>
                  <a:rPr lang="en-US" sz="1200" b="0" i="0" kern="1200" dirty="0">
                    <a:solidFill>
                      <a:schemeClr val="tx1"/>
                    </a:solidFill>
                    <a:effectLst/>
                    <a:latin typeface="+mn-lt"/>
                    <a:ea typeface="+mn-ea"/>
                    <a:cs typeface="+mn-cs"/>
                  </a:rPr>
                  <a:t> Aggregate utilization data (dispensing/claims, wholesale/sales, or national consumption statistics) are converted to total kilograms of active pharmaceutical ingredient consumed per population per year. [1-2][4]</a:t>
                </a:r>
              </a:p>
              <a:p>
                <a:pPr lvl="0"/>
                <a:r>
                  <a:rPr lang="en-US" sz="1200" b="1" i="0" kern="1200" dirty="0">
                    <a:solidFill>
                      <a:schemeClr val="tx1"/>
                    </a:solidFill>
                    <a:effectLst/>
                    <a:latin typeface="+mn-lt"/>
                    <a:ea typeface="+mn-ea"/>
                    <a:cs typeface="+mn-cs"/>
                  </a:rPr>
                  <a:t>Estimate the environmental concentration (PEC).</a:t>
                </a:r>
                <a:r>
                  <a:rPr lang="en-US" sz="1200" b="0" i="0" kern="1200" dirty="0">
                    <a:solidFill>
                      <a:schemeClr val="tx1"/>
                    </a:solidFill>
                    <a:effectLst/>
                    <a:latin typeface="+mn-lt"/>
                    <a:ea typeface="+mn-ea"/>
                    <a:cs typeface="+mn-cs"/>
                  </a:rPr>
                  <a:t> The consumed mass is multiplied by a fraction excreted unchanged (from literature), reduced by wastewater-treatment removal efficiency, then divided by wastewater volume and a dilution factor to yield a predicted concentration in effluent or receiving surface water. [1-2][4]</a:t>
                </a:r>
              </a:p>
              <a:p>
                <a:r>
                  <a:rPr lang="en-US" sz="1200" i="0" kern="1200">
                    <a:solidFill>
                      <a:schemeClr val="tx1"/>
                    </a:solidFill>
                    <a:latin typeface="+mn-lt"/>
                    <a:ea typeface="+mn-ea"/>
                    <a:cs typeface="+mn-cs"/>
                  </a:rPr>
                  <a:t>𝑃𝐸𝐶=(</a:t>
                </a:r>
                <a:r>
                  <a:rPr lang="en-US" sz="1200" b="0" i="0" kern="1200">
                    <a:solidFill>
                      <a:schemeClr val="tx1"/>
                    </a:solidFill>
                    <a:latin typeface="+mn-lt"/>
                    <a:ea typeface="+mn-ea"/>
                    <a:cs typeface="+mn-cs"/>
                  </a:rPr>
                  <a:t>"Mass consumed" ×𝐹_𝑒𝑥𝑐𝑟𝑒𝑡𝑖𝑜𝑛×(1−𝑅_𝑟𝑒𝑚𝑜𝑣𝑎𝑙 ))/("Wastewater volume" ×"Dilution" )</a:t>
                </a:r>
                <a:endParaRPr lang="en-US" b="0" dirty="0"/>
              </a:p>
              <a:p>
                <a:pPr lvl="0"/>
                <a:r>
                  <a:rPr lang="en-US" sz="1200" b="1" i="0" kern="1200" dirty="0">
                    <a:solidFill>
                      <a:schemeClr val="tx1"/>
                    </a:solidFill>
                    <a:effectLst/>
                    <a:latin typeface="+mn-lt"/>
                    <a:ea typeface="+mn-ea"/>
                    <a:cs typeface="+mn-cs"/>
                  </a:rPr>
                  <a:t>Define the safe threshold (PNEC).</a:t>
                </a:r>
                <a:r>
                  <a:rPr lang="en-US" sz="1200" b="0" i="0" kern="1200" dirty="0">
                    <a:solidFill>
                      <a:schemeClr val="tx1"/>
                    </a:solidFill>
                    <a:effectLst/>
                    <a:latin typeface="+mn-lt"/>
                    <a:ea typeface="+mn-ea"/>
                    <a:cs typeface="+mn-cs"/>
                  </a:rPr>
                  <a:t> A predicted no-effect concentration is drawn from ecotoxicity data—experimental endpoints, external watch-lists (e.g., Region Stockholm), QSAR/ECOSAR predictions, or MIC-based cutoffs for antibiotics. [1-2][4]</a:t>
                </a:r>
              </a:p>
              <a:p>
                <a:pPr lvl="0"/>
                <a:r>
                  <a:rPr lang="en-US" sz="1200" b="1" i="0" kern="1200" dirty="0">
                    <a:solidFill>
                      <a:schemeClr val="tx1"/>
                    </a:solidFill>
                    <a:effectLst/>
                    <a:latin typeface="+mn-lt"/>
                    <a:ea typeface="+mn-ea"/>
                    <a:cs typeface="+mn-cs"/>
                  </a:rPr>
                  <a:t>Compute and rank the risk quotient.</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𝑅𝑄=𝑃𝐸𝐶/𝑃𝑁𝐸𝐶</a:t>
                </a:r>
                <a:r>
                  <a:rPr lang="en-US" sz="1200" b="0" i="0" kern="1200" dirty="0">
                    <a:solidFill>
                      <a:schemeClr val="tx1"/>
                    </a:solidFill>
                    <a:effectLst/>
                    <a:latin typeface="+mn-lt"/>
                    <a:ea typeface="+mn-ea"/>
                    <a:cs typeface="+mn-cs"/>
                  </a:rPr>
                  <a:t>; an </a:t>
                </a:r>
                <a:r>
                  <a:rPr lang="en-US" sz="1200" i="0" kern="1200">
                    <a:solidFill>
                      <a:schemeClr val="tx1"/>
                    </a:solidFill>
                    <a:latin typeface="+mn-lt"/>
                    <a:ea typeface="+mn-ea"/>
                    <a:cs typeface="+mn-cs"/>
                  </a:rPr>
                  <a:t>𝑅𝑄≥1</a:t>
                </a:r>
                <a:r>
                  <a:rPr lang="en-US" sz="1200" b="0" i="0" kern="1200" dirty="0">
                    <a:solidFill>
                      <a:schemeClr val="tx1"/>
                    </a:solidFill>
                    <a:effectLst/>
                    <a:latin typeface="+mn-lt"/>
                    <a:ea typeface="+mn-ea"/>
                    <a:cs typeface="+mn-cs"/>
                  </a:rPr>
                  <a:t> flags potential environmental risk, and drugs are ranked to prioritize the highest-risk substances. Several studies extend the base method with sensitivity analyses, spatial/seasonal variation (e.g., water-scarcity adjustment), persistence/bioaccumulation flags, or validation against measured concentrations. [1-5]</a:t>
                </a:r>
              </a:p>
              <a:p>
                <a:r>
                  <a:rPr lang="en-US" sz="1200" b="1" i="0" kern="1200" dirty="0">
                    <a:solidFill>
                      <a:schemeClr val="tx1"/>
                    </a:solidFill>
                    <a:effectLst/>
                    <a:latin typeface="+mn-lt"/>
                    <a:ea typeface="+mn-ea"/>
                    <a:cs typeface="+mn-cs"/>
                  </a:rPr>
                  <a:t>Key common assumptions and shared limitations.</a:t>
                </a:r>
                <a:r>
                  <a:rPr lang="en-US" sz="1200" b="0" i="0" kern="1200" dirty="0">
                    <a:solidFill>
                      <a:schemeClr val="tx1"/>
                    </a:solidFill>
                    <a:effectLst/>
                    <a:latin typeface="+mn-lt"/>
                    <a:ea typeface="+mn-ea"/>
                    <a:cs typeface="+mn-cs"/>
                  </a:rPr>
                  <a:t> All rely on literature-derived excretion fractions and generic WWTP removal rates rather than site-specific measurement; all treat utilization data as a proxy for the mass actually reaching wastewater, so all are limited by gaps in that data—chiefly over-the-counter, hospital, and (where not included) veterinary supply, plus the exclusion of metabolites and conjugate back-transformation. The Norway validation showed the approach tends to over-predict risk relative to measured concentrations, underscoring that these are conservative screening/prioritization tools, not exposure measurements. [2][4]</a:t>
                </a:r>
              </a:p>
              <a:p>
                <a:r>
                  <a:rPr lang="en-US" sz="1200" b="0" i="0" kern="1200" dirty="0">
                    <a:solidFill>
                      <a:schemeClr val="tx1"/>
                    </a:solidFill>
                    <a:effectLst/>
                    <a:latin typeface="+mn-lt"/>
                    <a:ea typeface="+mn-ea"/>
                    <a:cs typeface="+mn-cs"/>
                  </a:rPr>
                  <a:t>Would you like to explore how closely these consumption-based PEC estimates match measured environmental concentrations?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endParaRPr lang="en-US" dirty="0"/>
              </a:p>
            </p:txBody>
          </p:sp>
        </mc:Fallback>
      </mc:AlternateContent>
    </p:spTree>
    <p:extLst>
      <p:ext uri="{BB962C8B-B14F-4D97-AF65-F5344CB8AC3E}">
        <p14:creationId xmlns:p14="http://schemas.microsoft.com/office/powerpoint/2010/main" val="1587905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 default (Phase I) surface-water PEC = (DOSE_ai × F_pen) / (WASTEW_inhab × DILUTION). Defaults: F_pen (fraction of population treated) = 0.01 (1%); WASTEW_inhab = 200 L/inhab/day; DILUTION = 10. Metabolism and removal set to worst case (=1 / 0%), so the default PEC deliberately overestimates for most drugs (Cannata 2024; Welch 2023).
Refined (Phase II) PEC = (A × F_exc × (1 − R)) / (V × P × D × 365).
A: Consumption: total mass of active ingredient used per year, from utilization/sales data; most influential parameter (Pereira 2017).
F_exc: Excretion/metabolism: fraction of parent excreted unchanged; deconjugation of phase II metabolites can raise the effective load (Pereira 2017; Meyer 2025).
R: Wastewater removal: fraction eliminated (biodegradation + sorption); highly compound-specific (~0% carbamazepine to &gt;90% acetaminophen); modeled via SimpleTreat (~±30%) or conservatively set to 0 (Comber 2019; Park 2020).
V × P × D: Dilution: per-capita wastewater volume, population served, and effluent-to-river dilution; spatially explicit river-flow dilution replaces the fixed default of 10, critical in water-scarce catchments (Zhu 2019; Dominguez-Garcia 2025).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130B-4034-C225-1606-87A61F900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E160D-0F55-9B5A-9262-4F2EF385D013}"/>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3742268-5E60-F228-82A0-601832FCC337}"/>
                  </a:ext>
                </a:extLst>
              </p:cNvPr>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Correct — "dispensing data" is the more precise term.</a:t>
                </a:r>
                <a:r>
                  <a:rPr lang="en-US" sz="1200" b="0" i="0" kern="1200" dirty="0">
                    <a:solidFill>
                      <a:schemeClr val="tx1"/>
                    </a:solidFill>
                    <a:effectLst/>
                    <a:latin typeface="+mn-lt"/>
                    <a:ea typeface="+mn-ea"/>
                    <a:cs typeface="+mn-cs"/>
                  </a:rPr>
                  <a:t> What the Catalonia study and similar pharmacy/reimbursement-based assessments actually capture is the quantity of drug dispensed (handed over at the pharmacy and typically reimbursed), which sits between what was prescribed and what was truly consumed:</a:t>
                </a:r>
              </a:p>
              <a:p>
                <a:pPr lvl="0"/>
                <a:r>
                  <a:rPr lang="en-US" sz="1200" b="1" i="0" kern="1200" dirty="0">
                    <a:solidFill>
                      <a:schemeClr val="tx1"/>
                    </a:solidFill>
                    <a:effectLst/>
                    <a:latin typeface="+mn-lt"/>
                    <a:ea typeface="+mn-ea"/>
                    <a:cs typeface="+mn-cs"/>
                  </a:rPr>
                  <a:t>Prescribed ≠ dispensed:</a:t>
                </a:r>
                <a:r>
                  <a:rPr lang="en-US" sz="1200" b="0" i="0" kern="1200" dirty="0">
                    <a:solidFill>
                      <a:schemeClr val="tx1"/>
                    </a:solidFill>
                    <a:effectLst/>
                    <a:latin typeface="+mn-lt"/>
                    <a:ea typeface="+mn-ea"/>
                    <a:cs typeface="+mn-cs"/>
                  </a:rPr>
                  <a:t> a prescription may be written but never filled (primary non-adherence). Prescription-issuance data would overcount relative to dispensing.</a:t>
                </a:r>
              </a:p>
              <a:p>
                <a:pPr lvl="0"/>
                <a:r>
                  <a:rPr lang="en-US" sz="1200" b="1" i="0" kern="1200" dirty="0">
                    <a:solidFill>
                      <a:schemeClr val="tx1"/>
                    </a:solidFill>
                    <a:effectLst/>
                    <a:latin typeface="+mn-lt"/>
                    <a:ea typeface="+mn-ea"/>
                    <a:cs typeface="+mn-cs"/>
                  </a:rPr>
                  <a:t>Dispensed ≠ consumed:</a:t>
                </a:r>
                <a:r>
                  <a:rPr lang="en-US" sz="1200" b="0" i="0" kern="1200" dirty="0">
                    <a:solidFill>
                      <a:schemeClr val="tx1"/>
                    </a:solidFill>
                    <a:effectLst/>
                    <a:latin typeface="+mn-lt"/>
                    <a:ea typeface="+mn-ea"/>
                    <a:cs typeface="+mn-cs"/>
                  </a:rPr>
                  <a:t> medicines dispensed may be only partially taken, discarded, stockpiled, or flushed unused. Ironically, unused drugs flushed or landfilled can still reach the environment, so "consumed" is not even the ideal exposure denominator for an environmental model — total dispensed mass is arguably closer to the mass that can enter the waste stream, whether via excretion of what was taken or disposal of what was not.</a:t>
                </a:r>
              </a:p>
              <a:p>
                <a:r>
                  <a:rPr lang="en-US" sz="1200" b="0" i="0" kern="1200" dirty="0">
                    <a:solidFill>
                      <a:schemeClr val="tx1"/>
                    </a:solidFill>
                    <a:effectLst/>
                    <a:latin typeface="+mn-lt"/>
                    <a:ea typeface="+mn-ea"/>
                    <a:cs typeface="+mn-cs"/>
                  </a:rPr>
                  <a:t>So the label "prescription-consumption data" is loose shorthand. Strictly, these datasets are </a:t>
                </a:r>
                <a:r>
                  <a:rPr lang="en-US" sz="1200" b="1" i="0" kern="1200" dirty="0">
                    <a:solidFill>
                      <a:schemeClr val="tx1"/>
                    </a:solidFill>
                    <a:effectLst/>
                    <a:latin typeface="+mn-lt"/>
                    <a:ea typeface="+mn-ea"/>
                    <a:cs typeface="+mn-cs"/>
                  </a:rPr>
                  <a:t>dispensing/reimbursement records</a:t>
                </a:r>
                <a:r>
                  <a:rPr lang="en-US" sz="1200" b="0" i="0" kern="1200" dirty="0">
                    <a:solidFill>
                      <a:schemeClr val="tx1"/>
                    </a:solidFill>
                    <a:effectLst/>
                    <a:latin typeface="+mn-lt"/>
                    <a:ea typeface="+mn-ea"/>
                    <a:cs typeface="+mn-cs"/>
                  </a:rPr>
                  <a:t>, and they are used as a proxy for consumption (and thus for environmental input mass). The distinction matters for interpretation:</a:t>
                </a:r>
              </a:p>
              <a:p>
                <a:pPr lvl="0"/>
                <a:r>
                  <a:rPr lang="en-US" sz="1200" b="0" i="0" kern="1200" dirty="0">
                    <a:solidFill>
                      <a:schemeClr val="tx1"/>
                    </a:solidFill>
                    <a:effectLst/>
                    <a:latin typeface="+mn-lt"/>
                    <a:ea typeface="+mn-ea"/>
                    <a:cs typeface="+mn-cs"/>
                  </a:rPr>
                  <a:t>It is a </a:t>
                </a:r>
                <a:r>
                  <a:rPr lang="en-US" sz="1200" b="1" i="0" kern="1200" dirty="0">
                    <a:solidFill>
                      <a:schemeClr val="tx1"/>
                    </a:solidFill>
                    <a:effectLst/>
                    <a:latin typeface="+mn-lt"/>
                    <a:ea typeface="+mn-ea"/>
                    <a:cs typeface="+mn-cs"/>
                  </a:rPr>
                  <a:t>proxy, with directional error</a:t>
                </a:r>
                <a:r>
                  <a:rPr lang="en-US" sz="1200" b="0" i="0" kern="1200" dirty="0">
                    <a:solidFill>
                      <a:schemeClr val="tx1"/>
                    </a:solidFill>
                    <a:effectLst/>
                    <a:latin typeface="+mn-lt"/>
                    <a:ea typeface="+mn-ea"/>
                    <a:cs typeface="+mn-cs"/>
                  </a:rPr>
                  <a:t> — dispensed mass overestimates the fraction actually ingested and excreted, but may underestimate total environmental load if a portion is disposed of unused and separately enters the environment.</a:t>
                </a:r>
              </a:p>
              <a:p>
                <a:pPr lvl="0"/>
                <a:r>
                  <a:rPr lang="en-US" sz="1200" b="1" i="0" kern="1200" dirty="0">
                    <a:solidFill>
                      <a:schemeClr val="tx1"/>
                    </a:solidFill>
                    <a:effectLst/>
                    <a:latin typeface="+mn-lt"/>
                    <a:ea typeface="+mn-ea"/>
                    <a:cs typeface="+mn-cs"/>
                  </a:rPr>
                  <a:t>Excretion-fraction assumptions</a:t>
                </a:r>
                <a:r>
                  <a:rPr lang="en-US" sz="1200" b="0" i="0" kern="1200" dirty="0">
                    <a:solidFill>
                      <a:schemeClr val="tx1"/>
                    </a:solidFill>
                    <a:effectLst/>
                    <a:latin typeface="+mn-lt"/>
                    <a:ea typeface="+mn-ea"/>
                    <a:cs typeface="+mn-cs"/>
                  </a:rPr>
                  <a:t> in the PEC equation implicitly assume the dispensed drug was taken. Non-adherence breaks that assumption, adding uncertainty not usually quantified.</a:t>
                </a:r>
              </a:p>
              <a:p>
                <a:pPr lvl="0"/>
                <a:r>
                  <a:rPr lang="en-US" sz="1200" b="0" i="0" kern="1200" dirty="0">
                    <a:solidFill>
                      <a:schemeClr val="tx1"/>
                    </a:solidFill>
                    <a:effectLst/>
                    <a:latin typeface="+mn-lt"/>
                    <a:ea typeface="+mn-ea"/>
                    <a:cs typeface="+mn-cs"/>
                  </a:rPr>
                  <a:t>It still </a:t>
                </a:r>
                <a:r>
                  <a:rPr lang="en-US" sz="1200" b="1" i="0" kern="1200" dirty="0">
                    <a:solidFill>
                      <a:schemeClr val="tx1"/>
                    </a:solidFill>
                    <a:effectLst/>
                    <a:latin typeface="+mn-lt"/>
                    <a:ea typeface="+mn-ea"/>
                    <a:cs typeface="+mn-cs"/>
                  </a:rPr>
                  <a:t>excludes OTC, hospital-only, and veterinary use</a:t>
                </a:r>
                <a:r>
                  <a:rPr lang="en-US" sz="1200" b="0" i="0" kern="1200" dirty="0">
                    <a:solidFill>
                      <a:schemeClr val="tx1"/>
                    </a:solidFill>
                    <a:effectLst/>
                    <a:latin typeface="+mn-lt"/>
                    <a:ea typeface="+mn-ea"/>
                    <a:cs typeface="+mn-cs"/>
                  </a:rPr>
                  <a:t> and any illicit or unregistered supply, so even as a dispensing metric it is incomplete for total environmental input.</a:t>
                </a:r>
              </a:p>
              <a:p>
                <a:r>
                  <a:rPr lang="en-US" sz="1200" b="0" i="0" kern="1200" dirty="0">
                    <a:solidFill>
                      <a:schemeClr val="tx1"/>
                    </a:solidFill>
                    <a:effectLst/>
                    <a:latin typeface="+mn-lt"/>
                    <a:ea typeface="+mn-ea"/>
                    <a:cs typeface="+mn-cs"/>
                  </a:rPr>
                  <a:t>For precision in your write-up, "dispensing data (used as a proxy for consumption)" or "reimbursement/dispensing data" describes these inputs more accurately than either "prescription" or "consumption" alone.</a:t>
                </a:r>
              </a:p>
              <a:p>
                <a:r>
                  <a:rPr lang="en-US" sz="1200" b="0" i="0" kern="1200" dirty="0">
                    <a:solidFill>
                      <a:schemeClr val="tx1"/>
                    </a:solidFill>
                    <a:effectLst/>
                    <a:latin typeface="+mn-lt"/>
                    <a:ea typeface="+mn-ea"/>
                    <a:cs typeface="+mn-cs"/>
                  </a:rPr>
                  <a:t>Would you like to explore how non-adherence and unused-drug disposal bias dispensing-based PEC estimates?</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"Dispensing data" is the accurate label for prescription/reimbursement-based claims inputs</a:t>
                </a:r>
                <a:r>
                  <a:rPr lang="en-US" sz="1200" b="0" i="0" kern="1200" dirty="0">
                    <a:solidFill>
                      <a:schemeClr val="tx1"/>
                    </a:solidFill>
                    <a:effectLst/>
                    <a:latin typeface="+mn-lt"/>
                    <a:ea typeface="+mn-ea"/>
                    <a:cs typeface="+mn-cs"/>
                  </a:rPr>
                  <a:t>, and the table below adopts it, reserving "sales/wholesale" and "national consumption statistics" for studies whose inputs are not pharmacy-level claims. Added examples that likewise build on large-scale drug utilization datasets: Greece (Iatrou, 24 antimicrobials from national consumption statistics), Australia (Day &amp;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community antibiotics from national dispensing/PBS-type data), and Ireland (Monahan, national human vs. veterinary antibiotic usage). [1-3] The France effluent-screening and Portugal 16-drug validation studies remain excluded because they are not built on a large utilization dataset.</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Research question</a:t>
                </a:r>
              </a:p>
              <a:p>
                <a:pPr fontAlgn="b"/>
                <a:r>
                  <a:rPr lang="en-US" sz="1200" b="1" i="0" kern="1200" dirty="0">
                    <a:solidFill>
                      <a:schemeClr val="tx1"/>
                    </a:solidFill>
                    <a:effectLst/>
                    <a:latin typeface="+mn-lt"/>
                    <a:ea typeface="+mn-ea"/>
                    <a:cs typeface="+mn-cs"/>
                  </a:rPr>
                  <a:t>Data source (precise type)</a:t>
                </a:r>
              </a:p>
              <a:p>
                <a:pPr fontAlgn="b"/>
                <a:r>
                  <a:rPr lang="en-US" sz="1200" b="1" i="0" kern="1200" dirty="0">
                    <a:solidFill>
                      <a:schemeClr val="tx1"/>
                    </a:solidFill>
                    <a:effectLst/>
                    <a:latin typeface="+mn-lt"/>
                    <a:ea typeface="+mn-ea"/>
                    <a:cs typeface="+mn-cs"/>
                  </a:rPr>
                  <a:t>Key assumptions</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Main limitations</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listWhich</a:t>
                </a:r>
                <a:r>
                  <a:rPr lang="en-US" sz="1200" b="0" i="0" kern="1200" dirty="0">
                    <a:solidFill>
                      <a:schemeClr val="tx1"/>
                    </a:solidFill>
                    <a:effectLst/>
                    <a:latin typeface="+mn-lt"/>
                    <a:ea typeface="+mn-ea"/>
                    <a:cs typeface="+mn-cs"/>
                  </a:rPr>
                  <a:t> watch-list drugs pose greatest environmental risk in </a:t>
                </a:r>
                <a:r>
                  <a:rPr lang="en-US" sz="1200" b="0" i="0" kern="1200" dirty="0" err="1">
                    <a:solidFill>
                      <a:schemeClr val="tx1"/>
                    </a:solidFill>
                    <a:effectLst/>
                    <a:latin typeface="+mn-lt"/>
                    <a:ea typeface="+mn-ea"/>
                    <a:cs typeface="+mn-cs"/>
                  </a:rPr>
                  <a:t>Italy?National</a:t>
                </a:r>
                <a:r>
                  <a:rPr lang="en-US" sz="1200" b="0" i="0" kern="1200" dirty="0">
                    <a:solidFill>
                      <a:schemeClr val="tx1"/>
                    </a:solidFill>
                    <a:effectLst/>
                    <a:latin typeface="+mn-lt"/>
                    <a:ea typeface="+mn-ea"/>
                    <a:cs typeface="+mn-cs"/>
                  </a:rPr>
                  <a:t> drug utilization statistics 2019–21; 25-drug Stockholm PNEC </a:t>
                </a:r>
                <a:r>
                  <a:rPr lang="en-US" sz="1200" b="0" i="0" kern="1200" dirty="0" err="1">
                    <a:solidFill>
                      <a:schemeClr val="tx1"/>
                    </a:solidFill>
                    <a:effectLst/>
                    <a:latin typeface="+mn-lt"/>
                    <a:ea typeface="+mn-ea"/>
                    <a:cs typeface="+mn-cs"/>
                  </a:rPr>
                  <a:t>listStandard</a:t>
                </a:r>
                <a:r>
                  <a:rPr lang="en-US" sz="1200" b="0" i="0" kern="1200" dirty="0">
                    <a:solidFill>
                      <a:schemeClr val="tx1"/>
                    </a:solidFill>
                    <a:effectLst/>
                    <a:latin typeface="+mn-lt"/>
                    <a:ea typeface="+mn-ea"/>
                    <a:cs typeface="+mn-cs"/>
                  </a:rPr>
                  <a:t> excretion + dilution; external Stockholm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levonorgestrel, ciprofloxacin, amoxicillin, azithromycin, venlafaxine, sertraline, diclofenac25 pre-selected drugs; external PNECs; no measured </a:t>
                </a:r>
                <a:r>
                  <a:rPr lang="en-US" sz="1200" b="0" i="0" kern="1200" dirty="0" err="1">
                    <a:solidFill>
                      <a:schemeClr val="tx1"/>
                    </a:solidFill>
                    <a:effectLst/>
                    <a:latin typeface="+mn-lt"/>
                    <a:ea typeface="+mn-ea"/>
                    <a:cs typeface="+mn-cs"/>
                  </a:rPr>
                  <a:t>validationGiunchi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 [4]</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SpainWhich</a:t>
                </a:r>
                <a:r>
                  <a:rPr lang="en-US" sz="1200" b="0" i="0" kern="1200" dirty="0">
                    <a:solidFill>
                      <a:schemeClr val="tx1"/>
                    </a:solidFill>
                    <a:effectLst/>
                    <a:latin typeface="+mn-lt"/>
                    <a:ea typeface="+mn-ea"/>
                    <a:cs typeface="+mn-cs"/>
                  </a:rPr>
                  <a:t> of 810 drugs to prioritize; how does risk vary spatially/</a:t>
                </a:r>
                <a:r>
                  <a:rPr lang="en-US" sz="1200" b="0" i="0" kern="1200" dirty="0" err="1">
                    <a:solidFill>
                      <a:schemeClr val="tx1"/>
                    </a:solidFill>
                    <a:effectLst/>
                    <a:latin typeface="+mn-lt"/>
                    <a:ea typeface="+mn-ea"/>
                    <a:cs typeface="+mn-cs"/>
                  </a:rPr>
                  <a:t>seasonally?Regional</a:t>
                </a:r>
                <a:r>
                  <a:rPr lang="en-US" sz="1200" b="0" i="0" kern="1200" dirty="0">
                    <a:solidFill>
                      <a:schemeClr val="tx1"/>
                    </a:solidFill>
                    <a:effectLst/>
                    <a:latin typeface="+mn-lt"/>
                    <a:ea typeface="+mn-ea"/>
                    <a:cs typeface="+mn-cs"/>
                  </a:rPr>
                  <a:t> dispensing/reimbursement data 2014–21, 810 </a:t>
                </a:r>
                <a:r>
                  <a:rPr lang="en-US" sz="1200" b="0" i="0" kern="1200" dirty="0" err="1">
                    <a:solidFill>
                      <a:schemeClr val="tx1"/>
                    </a:solidFill>
                    <a:effectLst/>
                    <a:latin typeface="+mn-lt"/>
                    <a:ea typeface="+mn-ea"/>
                    <a:cs typeface="+mn-cs"/>
                  </a:rPr>
                  <a:t>substancesExcretion</a:t>
                </a:r>
                <a:r>
                  <a:rPr lang="en-US" sz="1200" b="0" i="0" kern="1200" dirty="0">
                    <a:solidFill>
                      <a:schemeClr val="tx1"/>
                    </a:solidFill>
                    <a:effectLst/>
                    <a:latin typeface="+mn-lt"/>
                    <a:ea typeface="+mn-ea"/>
                    <a:cs typeface="+mn-cs"/>
                  </a:rPr>
                  <a:t>, WWTP removal, dilution; water-scarcity factor261/810 exceeded EMA 10 ng/L in 2021; rose with </a:t>
                </a:r>
                <a:r>
                  <a:rPr lang="en-US" sz="1200" b="0" i="0" kern="1200" dirty="0" err="1">
                    <a:solidFill>
                      <a:schemeClr val="tx1"/>
                    </a:solidFill>
                    <a:effectLst/>
                    <a:latin typeface="+mn-lt"/>
                    <a:ea typeface="+mn-ea"/>
                    <a:cs typeface="+mn-cs"/>
                  </a:rPr>
                  <a:t>scarcityDispensing</a:t>
                </a:r>
                <a:r>
                  <a:rPr lang="en-US" sz="1200" b="0" i="0" kern="1200" dirty="0">
                    <a:solidFill>
                      <a:schemeClr val="tx1"/>
                    </a:solidFill>
                    <a:effectLst/>
                    <a:latin typeface="+mn-lt"/>
                    <a:ea typeface="+mn-ea"/>
                    <a:cs typeface="+mn-cs"/>
                  </a:rPr>
                  <a:t>-only (no OTC/hospital/vet); default parameters; single </a:t>
                </a:r>
                <a:r>
                  <a:rPr lang="en-US" sz="1200" b="0" i="0" kern="1200" dirty="0" err="1">
                    <a:solidFill>
                      <a:schemeClr val="tx1"/>
                    </a:solidFill>
                    <a:effectLst/>
                    <a:latin typeface="+mn-lt"/>
                    <a:ea typeface="+mn-ea"/>
                    <a:cs typeface="+mn-cs"/>
                  </a:rPr>
                  <a:t>thresholdDomínguez</a:t>
                </a:r>
                <a:r>
                  <a:rPr lang="en-US" sz="1200" b="0" i="0" kern="1200" dirty="0">
                    <a:solidFill>
                      <a:schemeClr val="tx1"/>
                    </a:solidFill>
                    <a:effectLst/>
                    <a:latin typeface="+mn-lt"/>
                    <a:ea typeface="+mn-ea"/>
                    <a:cs typeface="+mn-cs"/>
                  </a:rPr>
                  <a:t>-García, Environ Res, 2025 [5]</a:t>
                </a:r>
              </a:p>
              <a:p>
                <a:r>
                  <a:rPr lang="en-US" sz="1200" b="0" i="0" kern="1200" dirty="0" err="1">
                    <a:solidFill>
                      <a:schemeClr val="tx1"/>
                    </a:solidFill>
                    <a:effectLst/>
                    <a:latin typeface="+mn-lt"/>
                    <a:ea typeface="+mn-ea"/>
                    <a:cs typeface="+mn-cs"/>
                  </a:rPr>
                  <a:t>NorwayCan</a:t>
                </a:r>
                <a:r>
                  <a:rPr lang="en-US" sz="1200" b="0" i="0" kern="1200" dirty="0">
                    <a:solidFill>
                      <a:schemeClr val="tx1"/>
                    </a:solidFill>
                    <a:effectLst/>
                    <a:latin typeface="+mn-lt"/>
                    <a:ea typeface="+mn-ea"/>
                    <a:cs typeface="+mn-cs"/>
                  </a:rPr>
                  <a:t> national sales data reliably predict risk vs. </a:t>
                </a:r>
                <a:r>
                  <a:rPr lang="en-US" sz="1200" b="0" i="0" kern="1200" dirty="0" err="1">
                    <a:solidFill>
                      <a:schemeClr val="tx1"/>
                    </a:solidFill>
                    <a:effectLst/>
                    <a:latin typeface="+mn-lt"/>
                    <a:ea typeface="+mn-ea"/>
                    <a:cs typeface="+mn-cs"/>
                  </a:rPr>
                  <a:t>measurements?National</a:t>
                </a:r>
                <a:r>
                  <a:rPr lang="en-US" sz="1200" b="0" i="0" kern="1200" dirty="0">
                    <a:solidFill>
                      <a:schemeClr val="tx1"/>
                    </a:solidFill>
                    <a:effectLst/>
                    <a:latin typeface="+mn-lt"/>
                    <a:ea typeface="+mn-ea"/>
                    <a:cs typeface="+mn-cs"/>
                  </a:rPr>
                  <a:t> wholesale + prescription + veterinary sales 2016–19, ~200 </a:t>
                </a:r>
                <a:r>
                  <a:rPr lang="en-US" sz="1200" b="0" i="0" kern="1200" dirty="0" err="1">
                    <a:solidFill>
                      <a:schemeClr val="tx1"/>
                    </a:solidFill>
                    <a:effectLst/>
                    <a:latin typeface="+mn-lt"/>
                    <a:ea typeface="+mn-ea"/>
                    <a:cs typeface="+mn-cs"/>
                  </a:rPr>
                  <a:t>APIsConservative</a:t>
                </a:r>
                <a:r>
                  <a:rPr lang="en-US" sz="1200" b="0" i="0" kern="1200" dirty="0">
                    <a:solidFill>
                      <a:schemeClr val="tx1"/>
                    </a:solidFill>
                    <a:effectLst/>
                    <a:latin typeface="+mn-lt"/>
                    <a:ea typeface="+mn-ea"/>
                    <a:cs typeface="+mn-cs"/>
                  </a:rPr>
                  <a:t> PEC; adds persistence/bioaccumulation flags17 APIs RQ &gt;1; levonorgestrel RQ 220, ciprofloxacin RQ 56Overpredicted 18/20 vs. measured; OTC gap (~70%); sparse PNEC/PBT </a:t>
                </a:r>
                <a:r>
                  <a:rPr lang="en-US" sz="1200" b="0" i="0" kern="1200" dirty="0" err="1">
                    <a:solidFill>
                      <a:schemeClr val="tx1"/>
                    </a:solidFill>
                    <a:effectLst/>
                    <a:latin typeface="+mn-lt"/>
                    <a:ea typeface="+mn-ea"/>
                    <a:cs typeface="+mn-cs"/>
                  </a:rPr>
                  <a:t>dataWelch</a:t>
                </a:r>
                <a:r>
                  <a:rPr lang="en-US" sz="1200" b="0" i="0" kern="1200" dirty="0">
                    <a:solidFill>
                      <a:schemeClr val="tx1"/>
                    </a:solidFill>
                    <a:effectLst/>
                    <a:latin typeface="+mn-lt"/>
                    <a:ea typeface="+mn-ea"/>
                    <a:cs typeface="+mn-cs"/>
                  </a:rPr>
                  <a:t>,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 [6]</a:t>
                </a:r>
              </a:p>
              <a:p>
                <a:r>
                  <a:rPr lang="en-US" sz="1200" b="0" i="0" kern="1200" dirty="0" err="1">
                    <a:solidFill>
                      <a:schemeClr val="tx1"/>
                    </a:solidFill>
                    <a:effectLst/>
                    <a:latin typeface="+mn-lt"/>
                    <a:ea typeface="+mn-ea"/>
                    <a:cs typeface="+mn-cs"/>
                  </a:rPr>
                  <a:t>GreeceWhat</a:t>
                </a:r>
                <a:r>
                  <a:rPr lang="en-US" sz="1200" b="0" i="0" kern="1200" dirty="0">
                    <a:solidFill>
                      <a:schemeClr val="tx1"/>
                    </a:solidFill>
                    <a:effectLst/>
                    <a:latin typeface="+mn-lt"/>
                    <a:ea typeface="+mn-ea"/>
                    <a:cs typeface="+mn-cs"/>
                  </a:rPr>
                  <a:t> environmental risk arises from national antimicrobial </a:t>
                </a:r>
                <a:r>
                  <a:rPr lang="en-US" sz="1200" b="0" i="0" kern="1200" dirty="0" err="1">
                    <a:solidFill>
                      <a:schemeClr val="tx1"/>
                    </a:solidFill>
                    <a:effectLst/>
                    <a:latin typeface="+mn-lt"/>
                    <a:ea typeface="+mn-ea"/>
                    <a:cs typeface="+mn-cs"/>
                  </a:rPr>
                  <a:t>consumption?National</a:t>
                </a:r>
                <a:r>
                  <a:rPr lang="en-US" sz="1200" b="0" i="0" kern="1200" dirty="0">
                    <a:solidFill>
                      <a:schemeClr val="tx1"/>
                    </a:solidFill>
                    <a:effectLst/>
                    <a:latin typeface="+mn-lt"/>
                    <a:ea typeface="+mn-ea"/>
                    <a:cs typeface="+mn-cs"/>
                  </a:rPr>
                  <a:t> antimicrobial consumption statistics 2008–10, 24 </a:t>
                </a:r>
                <a:r>
                  <a:rPr lang="en-US" sz="1200" b="0" i="0" kern="1200" dirty="0" err="1">
                    <a:solidFill>
                      <a:schemeClr val="tx1"/>
                    </a:solidFill>
                    <a:effectLst/>
                    <a:latin typeface="+mn-lt"/>
                    <a:ea typeface="+mn-ea"/>
                    <a:cs typeface="+mn-cs"/>
                  </a:rPr>
                  <a:t>drugsMass</a:t>
                </a:r>
                <a:r>
                  <a:rPr lang="en-US" sz="1200" b="0" i="0" kern="1200" dirty="0">
                    <a:solidFill>
                      <a:schemeClr val="tx1"/>
                    </a:solidFill>
                    <a:effectLst/>
                    <a:latin typeface="+mn-lt"/>
                    <a:ea typeface="+mn-ea"/>
                    <a:cs typeface="+mn-cs"/>
                  </a:rPr>
                  <a:t> balance; literature excretion/removal; ECOSAR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for 7/24 (algae); amoxicillin, clarithromycin RQ &gt;80 </a:t>
                </a:r>
                <a:r>
                  <a:rPr lang="en-US" sz="1200" b="0" i="0" kern="1200" dirty="0" err="1">
                    <a:solidFill>
                      <a:schemeClr val="tx1"/>
                    </a:solidFill>
                    <a:effectLst/>
                    <a:latin typeface="+mn-lt"/>
                    <a:ea typeface="+mn-ea"/>
                    <a:cs typeface="+mn-cs"/>
                  </a:rPr>
                  <a:t>chronicAntimicrobials</a:t>
                </a:r>
                <a:r>
                  <a:rPr lang="en-US" sz="1200" b="0" i="0" kern="1200" dirty="0">
                    <a:solidFill>
                      <a:schemeClr val="tx1"/>
                    </a:solidFill>
                    <a:effectLst/>
                    <a:latin typeface="+mn-lt"/>
                    <a:ea typeface="+mn-ea"/>
                    <a:cs typeface="+mn-cs"/>
                  </a:rPr>
                  <a:t> only; literature/ECOSAR toxicity; no local </a:t>
                </a:r>
                <a:r>
                  <a:rPr lang="en-US" sz="1200" b="0" i="0" kern="1200" dirty="0" err="1">
                    <a:solidFill>
                      <a:schemeClr val="tx1"/>
                    </a:solidFill>
                    <a:effectLst/>
                    <a:latin typeface="+mn-lt"/>
                    <a:ea typeface="+mn-ea"/>
                    <a:cs typeface="+mn-cs"/>
                  </a:rPr>
                  <a:t>measurementIatrou</a:t>
                </a:r>
                <a:r>
                  <a:rPr lang="en-US" sz="1200" b="0" i="0" kern="1200" dirty="0">
                    <a:solidFill>
                      <a:schemeClr val="tx1"/>
                    </a:solidFill>
                    <a:effectLst/>
                    <a:latin typeface="+mn-lt"/>
                    <a:ea typeface="+mn-ea"/>
                    <a:cs typeface="+mn-cs"/>
                  </a:rPr>
                  <a:t>,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 [1]</a:t>
                </a:r>
              </a:p>
              <a:p>
                <a:r>
                  <a:rPr lang="en-US" sz="1200" b="0" i="0" kern="1200" dirty="0" err="1">
                    <a:solidFill>
                      <a:schemeClr val="tx1"/>
                    </a:solidFill>
                    <a:effectLst/>
                    <a:latin typeface="+mn-lt"/>
                    <a:ea typeface="+mn-ea"/>
                    <a:cs typeface="+mn-cs"/>
                  </a:rPr>
                  <a:t>AustraliaWhich</a:t>
                </a:r>
                <a:r>
                  <a:rPr lang="en-US" sz="1200" b="0" i="0" kern="1200" dirty="0">
                    <a:solidFill>
                      <a:schemeClr val="tx1"/>
                    </a:solidFill>
                    <a:effectLst/>
                    <a:latin typeface="+mn-lt"/>
                    <a:ea typeface="+mn-ea"/>
                    <a:cs typeface="+mn-cs"/>
                  </a:rPr>
                  <a:t> community antibiotics exceed risk thresholds </a:t>
                </a:r>
                <a:r>
                  <a:rPr lang="en-US" sz="1200" b="0" i="0" kern="1200" dirty="0" err="1">
                    <a:solidFill>
                      <a:schemeClr val="tx1"/>
                    </a:solidFill>
                    <a:effectLst/>
                    <a:latin typeface="+mn-lt"/>
                    <a:ea typeface="+mn-ea"/>
                    <a:cs typeface="+mn-cs"/>
                  </a:rPr>
                  <a:t>nationally?National</a:t>
                </a:r>
                <a:r>
                  <a:rPr lang="en-US" sz="1200" b="0" i="0" kern="1200" dirty="0">
                    <a:solidFill>
                      <a:schemeClr val="tx1"/>
                    </a:solidFill>
                    <a:effectLst/>
                    <a:latin typeface="+mn-lt"/>
                    <a:ea typeface="+mn-ea"/>
                    <a:cs typeface="+mn-cs"/>
                  </a:rPr>
                  <a:t> community dispensing data; </a:t>
                </a:r>
                <a:r>
                  <a:rPr lang="en-US" sz="1200" b="0" i="0" kern="1200" dirty="0" err="1">
                    <a:solidFill>
                      <a:schemeClr val="tx1"/>
                    </a:solidFill>
                    <a:effectLst/>
                    <a:latin typeface="+mn-lt"/>
                    <a:ea typeface="+mn-ea"/>
                    <a:cs typeface="+mn-cs"/>
                  </a:rPr>
                  <a:t>antibioticsPEC</a:t>
                </a:r>
                <a:r>
                  <a:rPr lang="en-US" sz="1200" b="0" i="0" kern="1200" dirty="0">
                    <a:solidFill>
                      <a:schemeClr val="tx1"/>
                    </a:solidFill>
                    <a:effectLst/>
                    <a:latin typeface="+mn-lt"/>
                    <a:ea typeface="+mn-ea"/>
                    <a:cs typeface="+mn-cs"/>
                  </a:rPr>
                  <a:t>/RQ with sensitivity analysis of assessor </a:t>
                </a:r>
                <a:r>
                  <a:rPr lang="en-US" sz="1200" b="0" i="0" kern="1200" dirty="0" err="1">
                    <a:solidFill>
                      <a:schemeClr val="tx1"/>
                    </a:solidFill>
                    <a:effectLst/>
                    <a:latin typeface="+mn-lt"/>
                    <a:ea typeface="+mn-ea"/>
                    <a:cs typeface="+mn-cs"/>
                  </a:rPr>
                  <a:t>assumptionsAmoxicillin</a:t>
                </a:r>
                <a:r>
                  <a:rPr lang="en-US" sz="1200" b="0" i="0" kern="1200" dirty="0">
                    <a:solidFill>
                      <a:schemeClr val="tx1"/>
                    </a:solidFill>
                    <a:effectLst/>
                    <a:latin typeface="+mn-lt"/>
                    <a:ea typeface="+mn-ea"/>
                    <a:cs typeface="+mn-cs"/>
                  </a:rPr>
                  <a:t>, cefalexin, clindamycin, azithromycin, phenoxymethylpenicillin exceed </a:t>
                </a:r>
                <a:r>
                  <a:rPr lang="en-US" sz="1200" b="0" i="0" kern="1200" dirty="0" err="1">
                    <a:solidFill>
                      <a:schemeClr val="tx1"/>
                    </a:solidFill>
                    <a:effectLst/>
                    <a:latin typeface="+mn-lt"/>
                    <a:ea typeface="+mn-ea"/>
                    <a:cs typeface="+mn-cs"/>
                  </a:rPr>
                  <a:t>thresholdsRQ</a:t>
                </a:r>
                <a:r>
                  <a:rPr lang="en-US" sz="1200" b="0" i="0" kern="1200" dirty="0">
                    <a:solidFill>
                      <a:schemeClr val="tx1"/>
                    </a:solidFill>
                    <a:effectLst/>
                    <a:latin typeface="+mn-lt"/>
                    <a:ea typeface="+mn-ea"/>
                    <a:cs typeface="+mn-cs"/>
                  </a:rPr>
                  <a:t> highly sensitive to assumptions; antibiotics only; no ERA </a:t>
                </a:r>
                <a:r>
                  <a:rPr lang="en-US" sz="1200" b="0" i="0" kern="1200" dirty="0" err="1">
                    <a:solidFill>
                      <a:schemeClr val="tx1"/>
                    </a:solidFill>
                    <a:effectLst/>
                    <a:latin typeface="+mn-lt"/>
                    <a:ea typeface="+mn-ea"/>
                    <a:cs typeface="+mn-cs"/>
                  </a:rPr>
                  <a:t>infrastructureDay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 [2]</a:t>
                </a:r>
              </a:p>
              <a:p>
                <a:r>
                  <a:rPr lang="en-US" sz="1200" b="0" i="0" kern="1200" dirty="0" err="1">
                    <a:solidFill>
                      <a:schemeClr val="tx1"/>
                    </a:solidFill>
                    <a:effectLst/>
                    <a:latin typeface="+mn-lt"/>
                    <a:ea typeface="+mn-ea"/>
                    <a:cs typeface="+mn-cs"/>
                  </a:rPr>
                  <a:t>IrelandHow</a:t>
                </a:r>
                <a:r>
                  <a:rPr lang="en-US" sz="1200" b="0" i="0" kern="1200" dirty="0">
                    <a:solidFill>
                      <a:schemeClr val="tx1"/>
                    </a:solidFill>
                    <a:effectLst/>
                    <a:latin typeface="+mn-lt"/>
                    <a:ea typeface="+mn-ea"/>
                    <a:cs typeface="+mn-cs"/>
                  </a:rPr>
                  <a:t> do human vs. veterinary antibiotic usage compare as pollution </a:t>
                </a:r>
                <a:r>
                  <a:rPr lang="en-US" sz="1200" b="0" i="0" kern="1200" dirty="0" err="1">
                    <a:solidFill>
                      <a:schemeClr val="tx1"/>
                    </a:solidFill>
                    <a:effectLst/>
                    <a:latin typeface="+mn-lt"/>
                    <a:ea typeface="+mn-ea"/>
                    <a:cs typeface="+mn-cs"/>
                  </a:rPr>
                  <a:t>sources?National</a:t>
                </a:r>
                <a:r>
                  <a:rPr lang="en-US" sz="1200" b="0" i="0" kern="1200" dirty="0">
                    <a:solidFill>
                      <a:schemeClr val="tx1"/>
                    </a:solidFill>
                    <a:effectLst/>
                    <a:latin typeface="+mn-lt"/>
                    <a:ea typeface="+mn-ea"/>
                    <a:cs typeface="+mn-cs"/>
                  </a:rPr>
                  <a:t> human + veterinary antibiotic usage data; 6 </a:t>
                </a:r>
                <a:r>
                  <a:rPr lang="en-US" sz="1200" b="0" i="0" kern="1200" dirty="0" err="1">
                    <a:solidFill>
                      <a:schemeClr val="tx1"/>
                    </a:solidFill>
                    <a:effectLst/>
                    <a:latin typeface="+mn-lt"/>
                    <a:ea typeface="+mn-ea"/>
                    <a:cs typeface="+mn-cs"/>
                  </a:rPr>
                  <a:t>classesProbabilistic</a:t>
                </a:r>
                <a:r>
                  <a:rPr lang="en-US" sz="1200" b="0" i="0" kern="1200" dirty="0">
                    <a:solidFill>
                      <a:schemeClr val="tx1"/>
                    </a:solidFill>
                    <a:effectLst/>
                    <a:latin typeface="+mn-lt"/>
                    <a:ea typeface="+mn-ea"/>
                    <a:cs typeface="+mn-cs"/>
                  </a:rPr>
                  <a:t> usage, metabolism, degradation, removal; MIC-based </a:t>
                </a:r>
                <a:r>
                  <a:rPr lang="en-US" sz="1200" b="0" i="0" kern="1200" dirty="0" err="1">
                    <a:solidFill>
                      <a:schemeClr val="tx1"/>
                    </a:solidFill>
                    <a:effectLst/>
                    <a:latin typeface="+mn-lt"/>
                    <a:ea typeface="+mn-ea"/>
                    <a:cs typeface="+mn-cs"/>
                  </a:rPr>
                  <a:t>RQHealthcare</a:t>
                </a:r>
                <a:r>
                  <a:rPr lang="en-US" sz="1200" b="0" i="0" kern="1200" dirty="0">
                    <a:solidFill>
                      <a:schemeClr val="tx1"/>
                    </a:solidFill>
                    <a:effectLst/>
                    <a:latin typeface="+mn-lt"/>
                    <a:ea typeface="+mn-ea"/>
                    <a:cs typeface="+mn-cs"/>
                  </a:rPr>
                  <a:t> RQ &gt; agriculture; macrolides and penicillins </a:t>
                </a:r>
                <a:r>
                  <a:rPr lang="en-US" sz="1200" b="0" i="0" kern="1200" dirty="0" err="1">
                    <a:solidFill>
                      <a:schemeClr val="tx1"/>
                    </a:solidFill>
                    <a:effectLst/>
                    <a:latin typeface="+mn-lt"/>
                    <a:ea typeface="+mn-ea"/>
                    <a:cs typeface="+mn-cs"/>
                  </a:rPr>
                  <a:t>highestClass</a:t>
                </a:r>
                <a:r>
                  <a:rPr lang="en-US" sz="1200" b="0" i="0" kern="1200" dirty="0">
                    <a:solidFill>
                      <a:schemeClr val="tx1"/>
                    </a:solidFill>
                    <a:effectLst/>
                    <a:latin typeface="+mn-lt"/>
                    <a:ea typeface="+mn-ea"/>
                    <a:cs typeface="+mn-cs"/>
                  </a:rPr>
                  <a:t>-level (not per-drug); MIC-based endpoints; screening-</a:t>
                </a:r>
                <a:r>
                  <a:rPr lang="en-US" sz="1200" b="0" i="0" kern="1200" dirty="0" err="1">
                    <a:solidFill>
                      <a:schemeClr val="tx1"/>
                    </a:solidFill>
                    <a:effectLst/>
                    <a:latin typeface="+mn-lt"/>
                    <a:ea typeface="+mn-ea"/>
                    <a:cs typeface="+mn-cs"/>
                  </a:rPr>
                  <a:t>levelMonahan</a:t>
                </a:r>
                <a:r>
                  <a:rPr lang="en-US" sz="1200" b="0" i="0" kern="1200" dirty="0">
                    <a:solidFill>
                      <a:schemeClr val="tx1"/>
                    </a:solidFill>
                    <a:effectLst/>
                    <a:latin typeface="+mn-lt"/>
                    <a:ea typeface="+mn-ea"/>
                    <a:cs typeface="+mn-cs"/>
                  </a:rPr>
                  <a:t>, Sci Total Environ, 2022 [3]</a:t>
                </a:r>
              </a:p>
              <a:p>
                <a:r>
                  <a:rPr lang="en-US" sz="1200" b="0" i="0" kern="1200" dirty="0">
                    <a:solidFill>
                      <a:schemeClr val="tx1"/>
                    </a:solidFill>
                    <a:effectLst/>
                    <a:latin typeface="+mn-lt"/>
                    <a:ea typeface="+mn-ea"/>
                    <a:cs typeface="+mn-cs"/>
                  </a:rPr>
                  <a:t>[1-6]</a:t>
                </a:r>
              </a:p>
              <a:p>
                <a:r>
                  <a:rPr lang="en-US" sz="1200" b="0" i="0" kern="1200" dirty="0">
                    <a:solidFill>
                      <a:schemeClr val="tx1"/>
                    </a:solidFill>
                    <a:effectLst/>
                    <a:latin typeface="+mn-lt"/>
                    <a:ea typeface="+mn-ea"/>
                    <a:cs typeface="+mn-cs"/>
                  </a:rPr>
                  <a:t>The distinction now carried in the "Data source" column separates three input types that all qualify as large-scale utilization datasets but differ in what they actually count: </a:t>
                </a:r>
                <a:r>
                  <a:rPr lang="en-US" sz="1200" b="1" i="0" kern="1200" dirty="0">
                    <a:solidFill>
                      <a:schemeClr val="tx1"/>
                    </a:solidFill>
                    <a:effectLst/>
                    <a:latin typeface="+mn-lt"/>
                    <a:ea typeface="+mn-ea"/>
                    <a:cs typeface="+mn-cs"/>
                  </a:rPr>
                  <a:t>dispensing/reimbursement (claims) data</a:t>
                </a:r>
                <a:r>
                  <a:rPr lang="en-US" sz="1200" b="0" i="0" kern="1200" dirty="0">
                    <a:solidFill>
                      <a:schemeClr val="tx1"/>
                    </a:solidFill>
                    <a:effectLst/>
                    <a:latin typeface="+mn-lt"/>
                    <a:ea typeface="+mn-ea"/>
                    <a:cs typeface="+mn-cs"/>
                  </a:rPr>
                  <a:t> (Catalonia, Australia), </a:t>
                </a:r>
                <a:r>
                  <a:rPr lang="en-US" sz="1200" b="1" i="0" kern="1200" dirty="0">
                    <a:solidFill>
                      <a:schemeClr val="tx1"/>
                    </a:solidFill>
                    <a:effectLst/>
                    <a:latin typeface="+mn-lt"/>
                    <a:ea typeface="+mn-ea"/>
                    <a:cs typeface="+mn-cs"/>
                  </a:rPr>
                  <a:t>sales/wholesale data</a:t>
                </a:r>
                <a:r>
                  <a:rPr lang="en-US" sz="1200" b="0" i="0" kern="1200" dirty="0">
                    <a:solidFill>
                      <a:schemeClr val="tx1"/>
                    </a:solidFill>
                    <a:effectLst/>
                    <a:latin typeface="+mn-lt"/>
                    <a:ea typeface="+mn-ea"/>
                    <a:cs typeface="+mn-cs"/>
                  </a:rPr>
                  <a:t> (Norway), and </a:t>
                </a:r>
                <a:r>
                  <a:rPr lang="en-US" sz="1200" b="1" i="0" kern="1200" dirty="0">
                    <a:solidFill>
                      <a:schemeClr val="tx1"/>
                    </a:solidFill>
                    <a:effectLst/>
                    <a:latin typeface="+mn-lt"/>
                    <a:ea typeface="+mn-ea"/>
                    <a:cs typeface="+mn-cs"/>
                  </a:rPr>
                  <a:t>aggregated national consumption statistics</a:t>
                </a:r>
                <a:r>
                  <a:rPr lang="en-US" sz="1200" b="0" i="0" kern="1200" dirty="0">
                    <a:solidFill>
                      <a:schemeClr val="tx1"/>
                    </a:solidFill>
                    <a:effectLst/>
                    <a:latin typeface="+mn-lt"/>
                    <a:ea typeface="+mn-ea"/>
                    <a:cs typeface="+mn-cs"/>
                  </a:rPr>
                  <a:t> (Italy, Greece, Ireland). Only the claims-based rows measure drug handed over at the point of dispensing, and as discussed, this remains a proxy for consumption that excludes OTC, hospital, and veterinary supply.</a:t>
                </a:r>
              </a:p>
              <a:p>
                <a:r>
                  <a:rPr lang="en-US" sz="1200" b="0" i="0" kern="1200" dirty="0">
                    <a:solidFill>
                      <a:schemeClr val="tx1"/>
                    </a:solidFill>
                    <a:effectLst/>
                    <a:latin typeface="+mn-lt"/>
                    <a:ea typeface="+mn-ea"/>
                    <a:cs typeface="+mn-cs"/>
                  </a:rPr>
                  <a:t>Would you like to compare risk quotients for shared antibiotics like ciprofloxacin and amoxicillin across these consumption-based studies?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a:t>
                </a:r>
                <a:r>
                  <a:rPr lang="en-US" sz="1200" b="0" i="0" kern="1200" dirty="0" err="1">
                    <a:solidFill>
                      <a:schemeClr val="tx1"/>
                    </a:solidFill>
                    <a:effectLst/>
                    <a:latin typeface="+mn-lt"/>
                    <a:ea typeface="+mn-ea"/>
                    <a:cs typeface="+mn-cs"/>
                  </a:rPr>
                  <a:t>C.Recent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Named data sources now specified where the source publications or the national systems identify them</a:t>
                </a:r>
                <a:r>
                  <a:rPr lang="en-US" sz="1200" b="0" i="0" kern="1200" dirty="0">
                    <a:solidFill>
                      <a:schemeClr val="tx1"/>
                    </a:solidFill>
                    <a:effectLst/>
                    <a:latin typeface="+mn-lt"/>
                    <a:ea typeface="+mn-ea"/>
                    <a:cs typeface="+mn-cs"/>
                  </a:rPr>
                  <a:t>; two studies (Catalonia, Greece) do not name a specific database in the retrieved text, so those cells state the input type and flag that the platform is unnamed.</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Named data source</a:t>
                </a:r>
              </a:p>
              <a:p>
                <a:pPr fontAlgn="b"/>
                <a:r>
                  <a:rPr lang="en-US" sz="1200" b="1" i="0" kern="1200" dirty="0">
                    <a:solidFill>
                      <a:schemeClr val="tx1"/>
                    </a:solidFill>
                    <a:effectLst/>
                    <a:latin typeface="+mn-lt"/>
                    <a:ea typeface="+mn-ea"/>
                    <a:cs typeface="+mn-cs"/>
                  </a:rPr>
                  <a:t>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[1-2]National reimbursed-prescription utilization statistics25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[3]Dispensing/reimbursement (claims)810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[4-6]Wholesale + prescription + veterinary sales~200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[7]National consumption statistics24 antimicrobials, 2008–10RQ &gt;1 for 7/24 (algae); amoxicillin, clarithromycin RQ &gt;80 chronic [7]Iatrou,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[8-10]National dispensing (claims)Community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[8]Day,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[11]National usage (human + veterinary)6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[11]Monahan, Sci Total Environ, 2022</a:t>
                </a:r>
              </a:p>
              <a:p>
                <a:r>
                  <a:rPr lang="en-US" sz="1200" b="0" i="0" kern="1200" dirty="0">
                    <a:solidFill>
                      <a:schemeClr val="tx1"/>
                    </a:solidFill>
                    <a:effectLst/>
                    <a:latin typeface="+mn-lt"/>
                    <a:ea typeface="+mn-ea"/>
                    <a:cs typeface="+mn-cs"/>
                  </a:rPr>
                  <a:t>Two caveats on precision: the </a:t>
                </a:r>
                <a:r>
                  <a:rPr lang="en-US" sz="1200" b="1" i="0" kern="1200" dirty="0">
                    <a:solidFill>
                      <a:schemeClr val="tx1"/>
                    </a:solidFill>
                    <a:effectLst/>
                    <a:latin typeface="+mn-lt"/>
                    <a:ea typeface="+mn-ea"/>
                    <a:cs typeface="+mn-cs"/>
                  </a:rPr>
                  <a:t>Italian analysis draws on AIFA's </a:t>
                </a:r>
                <a:r>
                  <a:rPr lang="en-US" sz="1200" b="1" i="0" kern="1200" dirty="0" err="1">
                    <a:solidFill>
                      <a:schemeClr val="tx1"/>
                    </a:solidFill>
                    <a:effectLst/>
                    <a:latin typeface="+mn-lt"/>
                    <a:ea typeface="+mn-ea"/>
                    <a:cs typeface="+mn-cs"/>
                  </a:rPr>
                  <a:t>OsMed</a:t>
                </a:r>
                <a:r>
                  <a:rPr lang="en-US" sz="1200" b="1" i="0" kern="1200" dirty="0">
                    <a:solidFill>
                      <a:schemeClr val="tx1"/>
                    </a:solidFill>
                    <a:effectLst/>
                    <a:latin typeface="+mn-lt"/>
                    <a:ea typeface="+mn-ea"/>
                    <a:cs typeface="+mn-cs"/>
                  </a:rPr>
                  <a:t> system</a:t>
                </a:r>
                <a:r>
                  <a:rPr lang="en-US" sz="1200" b="0" i="0" kern="1200" dirty="0">
                    <a:solidFill>
                      <a:schemeClr val="tx1"/>
                    </a:solidFill>
                    <a:effectLst/>
                    <a:latin typeface="+mn-lt"/>
                    <a:ea typeface="+mn-ea"/>
                    <a:cs typeface="+mn-cs"/>
                  </a:rPr>
                  <a:t> — the database of all prescribed drugs reimbursed by the Italian National Health Service — confirmed as the utilization source in AIFA's own 2025 follow-up assessment. [2][12] For </a:t>
                </a:r>
                <a:r>
                  <a:rPr lang="en-US" sz="1200" b="1" i="0" kern="1200" dirty="0">
                    <a:solidFill>
                      <a:schemeClr val="tx1"/>
                    </a:solidFill>
                    <a:effectLst/>
                    <a:latin typeface="+mn-lt"/>
                    <a:ea typeface="+mn-ea"/>
                    <a:cs typeface="+mn-cs"/>
                  </a:rPr>
                  <a:t>Norway, </a:t>
                </a:r>
                <a:r>
                  <a:rPr lang="en-US" sz="1200" b="1" i="0" kern="1200" dirty="0" err="1">
                    <a:solidFill>
                      <a:schemeClr val="tx1"/>
                    </a:solidFill>
                    <a:effectLst/>
                    <a:latin typeface="+mn-lt"/>
                    <a:ea typeface="+mn-ea"/>
                    <a:cs typeface="+mn-cs"/>
                  </a:rPr>
                  <a:t>NorPD</a:t>
                </a:r>
                <a:r>
                  <a:rPr lang="en-US" sz="1200" b="1" i="0" kern="1200" dirty="0">
                    <a:solidFill>
                      <a:schemeClr val="tx1"/>
                    </a:solidFill>
                    <a:effectLst/>
                    <a:latin typeface="+mn-lt"/>
                    <a:ea typeface="+mn-ea"/>
                    <a:cs typeface="+mn-cs"/>
                  </a:rPr>
                  <a:t> captures only community-pharmacy dispensing and omits over-the-counter sales</a:t>
                </a:r>
                <a:r>
                  <a:rPr lang="en-US" sz="1200" b="0" i="0" kern="1200" dirty="0">
                    <a:solidFill>
                      <a:schemeClr val="tx1"/>
                    </a:solidFill>
                    <a:effectLst/>
                    <a:latin typeface="+mn-lt"/>
                    <a:ea typeface="+mn-ea"/>
                    <a:cs typeface="+mn-cs"/>
                  </a:rPr>
                  <a:t>, which is why the authors supplemented it with wholesale statistics; that OTC gap accounts for the finding that prescriptions explained only ~70% of PEC magnitude. [4][6] The </a:t>
                </a:r>
                <a:r>
                  <a:rPr lang="en-US" sz="1200" b="1" i="0" kern="1200" dirty="0">
                    <a:solidFill>
                      <a:schemeClr val="tx1"/>
                    </a:solidFill>
                    <a:effectLst/>
                    <a:latin typeface="+mn-lt"/>
                    <a:ea typeface="+mn-ea"/>
                    <a:cs typeface="+mn-cs"/>
                  </a:rPr>
                  <a:t>Catalonia and Greece studies use national/regional utilization figures but do not name a specific database platform</a:t>
                </a:r>
                <a:r>
                  <a:rPr lang="en-US" sz="1200" b="0" i="0" kern="1200" dirty="0">
                    <a:solidFill>
                      <a:schemeClr val="tx1"/>
                    </a:solidFill>
                    <a:effectLst/>
                    <a:latin typeface="+mn-lt"/>
                    <a:ea typeface="+mn-ea"/>
                    <a:cs typeface="+mn-cs"/>
                  </a:rPr>
                  <a:t> in the retrieved text, so those should not be attributed to a named registry without verifying the source methods section.</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9"/>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0"/>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11"/>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12"/>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al.RecentObservational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13"/>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12.</a:t>
                </a:r>
              </a:p>
              <a:p>
                <a:r>
                  <a:rPr lang="en-US" sz="1200" b="0" i="0" u="none" strike="noStrike" kern="1200" dirty="0">
                    <a:solidFill>
                      <a:schemeClr val="tx1"/>
                    </a:solidFill>
                    <a:effectLst/>
                    <a:latin typeface="+mn-lt"/>
                    <a:ea typeface="+mn-ea"/>
                    <a:cs typeface="+mn-cs"/>
                    <a:hlinkClick r:id="rId14"/>
                  </a:rPr>
                  <a:t>Assessing the Environmental Impact of Medicines in Italy Using Data From the Italian Medicines Agency.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2025.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a:t>
                </a:r>
                <a:r>
                  <a:rPr lang="en-US" sz="1200" b="0" i="0" kern="1200" dirty="0" err="1">
                    <a:solidFill>
                      <a:schemeClr val="tx1"/>
                    </a:solidFill>
                    <a:effectLst/>
                    <a:latin typeface="+mn-lt"/>
                    <a:ea typeface="+mn-ea"/>
                    <a:cs typeface="+mn-cs"/>
                  </a:rPr>
                  <a:t>Cangini</a:t>
                </a:r>
                <a:r>
                  <a:rPr lang="en-US" sz="1200" b="0" i="0" kern="1200" dirty="0">
                    <a:solidFill>
                      <a:schemeClr val="tx1"/>
                    </a:solidFill>
                    <a:effectLst/>
                    <a:latin typeface="+mn-lt"/>
                    <a:ea typeface="+mn-ea"/>
                    <a:cs typeface="+mn-cs"/>
                  </a:rPr>
                  <a:t> A,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Data source and input type merged into a single column</a:t>
                </a:r>
                <a:r>
                  <a:rPr lang="en-US" sz="1200" b="0" i="0" kern="1200" dirty="0">
                    <a:solidFill>
                      <a:schemeClr val="tx1"/>
                    </a:solidFill>
                    <a:effectLst/>
                    <a:latin typeface="+mn-lt"/>
                    <a:ea typeface="+mn-ea"/>
                    <a:cs typeface="+mn-cs"/>
                  </a:rPr>
                  <a:t> below; all other content is unchanged from the prior version.</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Data source (named + 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national reimbursed-prescription utilization statistics [1-2]25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dispensing/reimbursement (claims) [3]810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wholesale + prescription + veterinary sales [4-6]~200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[4]24 antimicrobials, 2008–10RQ &gt;1 for 7/24 (algae); amoxicillin, clarithromycin RQ &gt;80 chronic [4]Iatrou,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national dispensing (claims) [7-9]Community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[7]Day,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national usage (human + veterinary) [10]6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[10]Monahan, Sci Total Environ, 2022</a:t>
                </a:r>
              </a:p>
              <a:p>
                <a:r>
                  <a:rPr lang="en-US" sz="1200" b="0" i="0" kern="1200" dirty="0">
                    <a:solidFill>
                      <a:schemeClr val="tx1"/>
                    </a:solidFill>
                    <a:effectLst/>
                    <a:latin typeface="+mn-lt"/>
                    <a:ea typeface="+mn-ea"/>
                    <a:cs typeface="+mn-cs"/>
                  </a:rPr>
                  <a:t>[1-11]</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4"/>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9"/>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10"/>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11"/>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12"/>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13"/>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The shared research question</a:t>
                </a:r>
                <a:r>
                  <a:rPr lang="en-US" sz="1200" b="0" i="0" kern="1200" dirty="0">
                    <a:solidFill>
                      <a:schemeClr val="tx1"/>
                    </a:solidFill>
                    <a:effectLst/>
                    <a:latin typeface="+mn-lt"/>
                    <a:ea typeface="+mn-ea"/>
                    <a:cs typeface="+mn-cs"/>
                  </a:rPr>
                  <a:t> across these studies is: which pharmaceuticals, based on how much of each drug a population actually uses, pose the greatest risk to the aquatic environment—and can large-scale drug utilization data substitute for costly environmental sampling to identify and prioritize those substances? Each study operationalizes this slightly differently (screening a national formulary, a pre-set watch-list, antibiotics only, or human vs. veterinary sources), but all ask the same underlying question: can consumption/dispensing data reliably predict environmental risk and rank drugs of concern. [1-4]</a:t>
                </a:r>
              </a:p>
              <a:p>
                <a:r>
                  <a:rPr lang="en-US" sz="1200" b="1" i="0" kern="1200" dirty="0">
                    <a:solidFill>
                      <a:schemeClr val="tx1"/>
                    </a:solidFill>
                    <a:effectLst/>
                    <a:latin typeface="+mn-lt"/>
                    <a:ea typeface="+mn-ea"/>
                    <a:cs typeface="+mn-cs"/>
                  </a:rPr>
                  <a:t>The common method is the consumption-driven PEC/PNEC (risk quotient) approach</a:t>
                </a:r>
                <a:r>
                  <a:rPr lang="en-US" sz="1200" b="0" i="0" kern="1200" dirty="0">
                    <a:solidFill>
                      <a:schemeClr val="tx1"/>
                    </a:solidFill>
                    <a:effectLst/>
                    <a:latin typeface="+mn-lt"/>
                    <a:ea typeface="+mn-ea"/>
                    <a:cs typeface="+mn-cs"/>
                  </a:rPr>
                  <a:t>, which proceeds in four steps shared across all six studies:</a:t>
                </a:r>
              </a:p>
              <a:p>
                <a:pPr lvl="0"/>
                <a:r>
                  <a:rPr lang="en-US" sz="1200" b="1" i="0" kern="1200" dirty="0">
                    <a:solidFill>
                      <a:schemeClr val="tx1"/>
                    </a:solidFill>
                    <a:effectLst/>
                    <a:latin typeface="+mn-lt"/>
                    <a:ea typeface="+mn-ea"/>
                    <a:cs typeface="+mn-cs"/>
                  </a:rPr>
                  <a:t>Quantify drug mass used.</a:t>
                </a:r>
                <a:r>
                  <a:rPr lang="en-US" sz="1200" b="0" i="0" kern="1200" dirty="0">
                    <a:solidFill>
                      <a:schemeClr val="tx1"/>
                    </a:solidFill>
                    <a:effectLst/>
                    <a:latin typeface="+mn-lt"/>
                    <a:ea typeface="+mn-ea"/>
                    <a:cs typeface="+mn-cs"/>
                  </a:rPr>
                  <a:t> Aggregate utilization data (dispensing/claims, wholesale/sales, or national consumption statistics) are converted to total kilograms of active pharmaceutical ingredient consumed per population per year. [1-2][4]</a:t>
                </a:r>
              </a:p>
              <a:p>
                <a:pPr lvl="0"/>
                <a:r>
                  <a:rPr lang="en-US" sz="1200" b="1" i="0" kern="1200" dirty="0">
                    <a:solidFill>
                      <a:schemeClr val="tx1"/>
                    </a:solidFill>
                    <a:effectLst/>
                    <a:latin typeface="+mn-lt"/>
                    <a:ea typeface="+mn-ea"/>
                    <a:cs typeface="+mn-cs"/>
                  </a:rPr>
                  <a:t>Estimate the environmental concentration (PEC).</a:t>
                </a:r>
                <a:r>
                  <a:rPr lang="en-US" sz="1200" b="0" i="0" kern="1200" dirty="0">
                    <a:solidFill>
                      <a:schemeClr val="tx1"/>
                    </a:solidFill>
                    <a:effectLst/>
                    <a:latin typeface="+mn-lt"/>
                    <a:ea typeface="+mn-ea"/>
                    <a:cs typeface="+mn-cs"/>
                  </a:rPr>
                  <a:t> The consumed mass is multiplied by a fraction excreted unchanged (from literature), reduced by wastewater-treatment removal efficiency, then divided by wastewater volume and a dilution factor to yield a predicted concentration in effluent or receiving surface water. [1-2][4]</a:t>
                </a:r>
              </a:p>
              <a:p>
                <a:pPr/>
                <a14:m>
                  <m:oMathPara xmlns:m="http://schemas.openxmlformats.org/officeDocument/2006/math">
                    <m:oMath>
                      <m:r>
                        <a:rPr lang="en-US" sz="1200" i="1" kern="1200">
                          <a:solidFill>
                            <a:schemeClr val="tx1"/>
                          </a:solidFill>
                          <a:latin typeface="Cambria Math" panose="02040503050406030204" pitchFamily="18" charset="0"/>
                          <a:ea typeface="+mn-ea"/>
                          <a:cs typeface="+mn-cs"/>
                        </a:rPr>
                        <m:t>𝑃𝐸𝐶</m:t>
                      </m:r>
                      <m:r>
                        <a:rPr lang="en-US" sz="1200" i="0" kern="1200">
                          <a:solidFill>
                            <a:schemeClr val="tx1"/>
                          </a:solidFill>
                          <a:latin typeface="Cambria Math" panose="02040503050406030204" pitchFamily="18" charset="0"/>
                          <a:ea typeface="+mn-ea"/>
                          <a:cs typeface="+mn-cs"/>
                        </a:rPr>
                        <m:t>=</m:t>
                      </m:r>
                      <m:f>
                        <m:fPr>
                          <m:ctrlPr>
                            <a:rPr lang="en-US" sz="1200" b="0" i="0" kern="1200">
                              <a:solidFill>
                                <a:schemeClr val="tx1"/>
                              </a:solidFill>
                              <a:latin typeface="+mn-lt"/>
                              <a:ea typeface="+mn-ea"/>
                              <a:cs typeface="+mn-cs"/>
                            </a:rPr>
                          </m:ctrlPr>
                        </m:fPr>
                        <m:num>
                          <m:r>
                            <m:rPr>
                              <m:nor/>
                            </m:rPr>
                            <a:rPr lang="en-US" sz="1200" b="0" i="0" kern="1200">
                              <a:solidFill>
                                <a:schemeClr val="tx1"/>
                              </a:solidFill>
                              <a:latin typeface="+mn-lt"/>
                              <a:ea typeface="+mn-ea"/>
                              <a:cs typeface="+mn-cs"/>
                            </a:rPr>
                            <m:t>Mass consumed</m:t>
                          </m:r>
                          <m:r>
                            <a:rPr lang="en-US" sz="1200" b="0" i="0" kern="1200">
                              <a:solidFill>
                                <a:schemeClr val="tx1"/>
                              </a:solidFill>
                              <a:latin typeface="Cambria Math" panose="02040503050406030204" pitchFamily="18" charset="0"/>
                              <a:ea typeface="+mn-ea"/>
                              <a:cs typeface="+mn-cs"/>
                            </a:rPr>
                            <m:t>×</m:t>
                          </m:r>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𝐹</m:t>
                              </m:r>
                            </m:e>
                            <m:sub>
                              <m:r>
                                <a:rPr lang="en-US" sz="1200" b="0" i="1" kern="1200">
                                  <a:solidFill>
                                    <a:schemeClr val="tx1"/>
                                  </a:solidFill>
                                  <a:latin typeface="Cambria Math" panose="02040503050406030204" pitchFamily="18" charset="0"/>
                                  <a:ea typeface="+mn-ea"/>
                                  <a:cs typeface="+mn-cs"/>
                                </a:rPr>
                                <m:t>𝑒𝑥𝑐𝑟𝑒𝑡𝑖𝑜𝑛</m:t>
                              </m:r>
                            </m:sub>
                          </m:sSub>
                          <m:r>
                            <a:rPr lang="en-US" sz="1200" b="0" i="0" kern="1200">
                              <a:solidFill>
                                <a:schemeClr val="tx1"/>
                              </a:solidFill>
                              <a:latin typeface="Cambria Math" panose="02040503050406030204" pitchFamily="18" charset="0"/>
                              <a:ea typeface="+mn-ea"/>
                              <a:cs typeface="+mn-cs"/>
                            </a:rPr>
                            <m:t>×</m:t>
                          </m:r>
                          <m:d>
                            <m:dPr>
                              <m:ctrlPr>
                                <a:rPr lang="en-US" sz="1200" b="0" i="0" kern="1200">
                                  <a:solidFill>
                                    <a:schemeClr val="tx1"/>
                                  </a:solidFill>
                                  <a:latin typeface="Cambria Math" panose="02040503050406030204" pitchFamily="18" charset="0"/>
                                  <a:ea typeface="+mn-ea"/>
                                  <a:cs typeface="+mn-cs"/>
                                </a:rPr>
                              </m:ctrlPr>
                            </m:dPr>
                            <m:e>
                              <m:r>
                                <a:rPr lang="en-US" sz="1200" b="0" i="0" kern="1200">
                                  <a:solidFill>
                                    <a:schemeClr val="tx1"/>
                                  </a:solidFill>
                                  <a:latin typeface="Cambria Math" panose="02040503050406030204" pitchFamily="18" charset="0"/>
                                  <a:ea typeface="+mn-ea"/>
                                  <a:cs typeface="+mn-cs"/>
                                </a:rPr>
                                <m:t>1−</m:t>
                              </m:r>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𝑅</m:t>
                                  </m:r>
                                </m:e>
                                <m:sub>
                                  <m:r>
                                    <a:rPr lang="en-US" sz="1200" b="0" i="1" kern="1200">
                                      <a:solidFill>
                                        <a:schemeClr val="tx1"/>
                                      </a:solidFill>
                                      <a:latin typeface="Cambria Math" panose="02040503050406030204" pitchFamily="18" charset="0"/>
                                      <a:ea typeface="+mn-ea"/>
                                      <a:cs typeface="+mn-cs"/>
                                    </a:rPr>
                                    <m:t>𝑟𝑒𝑚𝑜𝑣𝑎𝑙</m:t>
                                  </m:r>
                                </m:sub>
                              </m:sSub>
                            </m:e>
                          </m:d>
                        </m:num>
                        <m:den>
                          <m:r>
                            <m:rPr>
                              <m:nor/>
                            </m:rPr>
                            <a:rPr lang="en-US" sz="1200" b="0" i="0" kern="1200">
                              <a:solidFill>
                                <a:schemeClr val="tx1"/>
                              </a:solidFill>
                              <a:latin typeface="+mn-lt"/>
                              <a:ea typeface="+mn-ea"/>
                              <a:cs typeface="+mn-cs"/>
                            </a:rPr>
                            <m:t>Wastewater volume</m:t>
                          </m:r>
                          <m:r>
                            <a:rPr lang="en-US" sz="1200" b="0" i="0" kern="1200">
                              <a:solidFill>
                                <a:schemeClr val="tx1"/>
                              </a:solidFill>
                              <a:latin typeface="Cambria Math" panose="02040503050406030204" pitchFamily="18" charset="0"/>
                              <a:ea typeface="+mn-ea"/>
                              <a:cs typeface="+mn-cs"/>
                            </a:rPr>
                            <m:t>×</m:t>
                          </m:r>
                          <m:r>
                            <m:rPr>
                              <m:nor/>
                            </m:rPr>
                            <a:rPr lang="en-US" sz="1200" b="0" i="0" kern="1200">
                              <a:solidFill>
                                <a:schemeClr val="tx1"/>
                              </a:solidFill>
                              <a:latin typeface="+mn-lt"/>
                              <a:ea typeface="+mn-ea"/>
                              <a:cs typeface="+mn-cs"/>
                            </a:rPr>
                            <m:t>Dilution</m:t>
                          </m:r>
                        </m:den>
                      </m:f>
                    </m:oMath>
                  </m:oMathPara>
                </a14:m>
                <a:endParaRPr lang="en-US" b="0" dirty="0"/>
              </a:p>
              <a:p>
                <a:pPr lvl="0"/>
                <a:r>
                  <a:rPr lang="en-US" sz="1200" b="1" i="0" kern="1200" dirty="0">
                    <a:solidFill>
                      <a:schemeClr val="tx1"/>
                    </a:solidFill>
                    <a:effectLst/>
                    <a:latin typeface="+mn-lt"/>
                    <a:ea typeface="+mn-ea"/>
                    <a:cs typeface="+mn-cs"/>
                  </a:rPr>
                  <a:t>Define the safe threshold (PNEC).</a:t>
                </a:r>
                <a:r>
                  <a:rPr lang="en-US" sz="1200" b="0" i="0" kern="1200" dirty="0">
                    <a:solidFill>
                      <a:schemeClr val="tx1"/>
                    </a:solidFill>
                    <a:effectLst/>
                    <a:latin typeface="+mn-lt"/>
                    <a:ea typeface="+mn-ea"/>
                    <a:cs typeface="+mn-cs"/>
                  </a:rPr>
                  <a:t> A predicted no-effect concentration is drawn from ecotoxicity data—experimental endpoints, external watch-lists (e.g., Region Stockholm), QSAR/ECOSAR predictions, or MIC-based cutoffs for antibiotics. [1-2][4]</a:t>
                </a:r>
              </a:p>
              <a:p>
                <a:pPr lvl="0"/>
                <a:r>
                  <a:rPr lang="en-US" sz="1200" b="1" i="0" kern="1200" dirty="0">
                    <a:solidFill>
                      <a:schemeClr val="tx1"/>
                    </a:solidFill>
                    <a:effectLst/>
                    <a:latin typeface="+mn-lt"/>
                    <a:ea typeface="+mn-ea"/>
                    <a:cs typeface="+mn-cs"/>
                  </a:rPr>
                  <a:t>Compute and rank the risk quotient.</a:t>
                </a:r>
                <a:r>
                  <a:rPr lang="en-US" sz="1200" b="0" i="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latin typeface="Cambria Math" panose="02040503050406030204" pitchFamily="18" charset="0"/>
                        <a:ea typeface="+mn-ea"/>
                        <a:cs typeface="+mn-cs"/>
                      </a:rPr>
                      <m:t>𝑅𝑄</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𝑃𝐸𝐶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𝑃𝑁𝐸𝐶</m:t>
                    </m:r>
                  </m:oMath>
                </a14:m>
                <a:r>
                  <a:rPr lang="en-US" sz="1200" b="0" i="0" kern="1200" dirty="0">
                    <a:solidFill>
                      <a:schemeClr val="tx1"/>
                    </a:solidFill>
                    <a:effectLst/>
                    <a:latin typeface="+mn-lt"/>
                    <a:ea typeface="+mn-ea"/>
                    <a:cs typeface="+mn-cs"/>
                  </a:rPr>
                  <a:t>; an </a:t>
                </a:r>
                <a14:m>
                  <m:oMath xmlns:m="http://schemas.openxmlformats.org/officeDocument/2006/math">
                    <m:r>
                      <a:rPr lang="en-US" sz="1200" i="1" kern="1200">
                        <a:solidFill>
                          <a:schemeClr val="tx1"/>
                        </a:solidFill>
                        <a:latin typeface="Cambria Math" panose="02040503050406030204" pitchFamily="18" charset="0"/>
                        <a:ea typeface="+mn-ea"/>
                        <a:cs typeface="+mn-cs"/>
                      </a:rPr>
                      <m:t>𝑅𝑄</m:t>
                    </m:r>
                    <m:r>
                      <a:rPr lang="en-US" sz="1200" i="0" kern="1200">
                        <a:solidFill>
                          <a:schemeClr val="tx1"/>
                        </a:solidFill>
                        <a:latin typeface="Cambria Math" panose="02040503050406030204" pitchFamily="18" charset="0"/>
                        <a:ea typeface="+mn-ea"/>
                        <a:cs typeface="+mn-cs"/>
                      </a:rPr>
                      <m:t>≥1</m:t>
                    </m:r>
                  </m:oMath>
                </a14:m>
                <a:r>
                  <a:rPr lang="en-US" sz="1200" b="0" i="0" kern="1200" dirty="0">
                    <a:solidFill>
                      <a:schemeClr val="tx1"/>
                    </a:solidFill>
                    <a:effectLst/>
                    <a:latin typeface="+mn-lt"/>
                    <a:ea typeface="+mn-ea"/>
                    <a:cs typeface="+mn-cs"/>
                  </a:rPr>
                  <a:t> flags potential environmental risk, and drugs are ranked to prioritize the highest-risk substances. Several studies extend the base method with sensitivity analyses, spatial/seasonal variation (e.g., water-scarcity adjustment), persistence/bioaccumulation flags, or validation against measured concentrations. [1-5]</a:t>
                </a:r>
              </a:p>
              <a:p>
                <a:r>
                  <a:rPr lang="en-US" sz="1200" b="1" i="0" kern="1200" dirty="0">
                    <a:solidFill>
                      <a:schemeClr val="tx1"/>
                    </a:solidFill>
                    <a:effectLst/>
                    <a:latin typeface="+mn-lt"/>
                    <a:ea typeface="+mn-ea"/>
                    <a:cs typeface="+mn-cs"/>
                  </a:rPr>
                  <a:t>Key common assumptions and shared limitations.</a:t>
                </a:r>
                <a:r>
                  <a:rPr lang="en-US" sz="1200" b="0" i="0" kern="1200" dirty="0">
                    <a:solidFill>
                      <a:schemeClr val="tx1"/>
                    </a:solidFill>
                    <a:effectLst/>
                    <a:latin typeface="+mn-lt"/>
                    <a:ea typeface="+mn-ea"/>
                    <a:cs typeface="+mn-cs"/>
                  </a:rPr>
                  <a:t> All rely on literature-derived excretion fractions and generic WWTP removal rates rather than site-specific measurement; all treat utilization data as a proxy for the mass actually reaching wastewater, so all are limited by gaps in that data—chiefly over-the-counter, hospital, and (where not included) veterinary supply, plus the exclusion of metabolites and conjugate back-transformation. The Norway validation showed the approach tends to over-predict risk relative to measured concentrations, underscoring that these are conservative screening/prioritization tools, not exposure measurements. [2][4]</a:t>
                </a:r>
              </a:p>
              <a:p>
                <a:r>
                  <a:rPr lang="en-US" sz="1200" b="0" i="0" kern="1200" dirty="0">
                    <a:solidFill>
                      <a:schemeClr val="tx1"/>
                    </a:solidFill>
                    <a:effectLst/>
                    <a:latin typeface="+mn-lt"/>
                    <a:ea typeface="+mn-ea"/>
                    <a:cs typeface="+mn-cs"/>
                  </a:rPr>
                  <a:t>Would you like to explore how closely these consumption-based PEC estimates match measured environmental concentrations?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6"/>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7"/>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8"/>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5"/>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endParaRPr lang="en-US" dirty="0"/>
              </a:p>
            </p:txBody>
          </p:sp>
        </mc:Choice>
        <mc:Fallback xmlns="">
          <p:sp>
            <p:nvSpPr>
              <p:cNvPr id="3" name="Notes Placeholder 2">
                <a:extLst>
                  <a:ext uri="{FF2B5EF4-FFF2-40B4-BE49-F238E27FC236}">
                    <a16:creationId xmlns:a16="http://schemas.microsoft.com/office/drawing/2014/main" id="{83742268-5E60-F228-82A0-601832FCC337}"/>
                  </a:ext>
                </a:extLst>
              </p:cNvPr>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Correct — "dispensing data" is the more precise term.</a:t>
                </a:r>
                <a:r>
                  <a:rPr lang="en-US" sz="1200" b="0" i="0" kern="1200" dirty="0">
                    <a:solidFill>
                      <a:schemeClr val="tx1"/>
                    </a:solidFill>
                    <a:effectLst/>
                    <a:latin typeface="+mn-lt"/>
                    <a:ea typeface="+mn-ea"/>
                    <a:cs typeface="+mn-cs"/>
                  </a:rPr>
                  <a:t> What the Catalonia study and similar pharmacy/reimbursement-based assessments actually capture is the quantity of drug dispensed (handed over at the pharmacy and typically reimbursed), which sits between what was prescribed and what was truly consumed:</a:t>
                </a:r>
              </a:p>
              <a:p>
                <a:pPr lvl="0"/>
                <a:r>
                  <a:rPr lang="en-US" sz="1200" b="1" i="0" kern="1200" dirty="0">
                    <a:solidFill>
                      <a:schemeClr val="tx1"/>
                    </a:solidFill>
                    <a:effectLst/>
                    <a:latin typeface="+mn-lt"/>
                    <a:ea typeface="+mn-ea"/>
                    <a:cs typeface="+mn-cs"/>
                  </a:rPr>
                  <a:t>Prescribed ≠ dispensed:</a:t>
                </a:r>
                <a:r>
                  <a:rPr lang="en-US" sz="1200" b="0" i="0" kern="1200" dirty="0">
                    <a:solidFill>
                      <a:schemeClr val="tx1"/>
                    </a:solidFill>
                    <a:effectLst/>
                    <a:latin typeface="+mn-lt"/>
                    <a:ea typeface="+mn-ea"/>
                    <a:cs typeface="+mn-cs"/>
                  </a:rPr>
                  <a:t> a prescription may be written but never filled (primary non-adherence). Prescription-issuance data would overcount relative to dispensing.</a:t>
                </a:r>
              </a:p>
              <a:p>
                <a:pPr lvl="0"/>
                <a:r>
                  <a:rPr lang="en-US" sz="1200" b="1" i="0" kern="1200" dirty="0">
                    <a:solidFill>
                      <a:schemeClr val="tx1"/>
                    </a:solidFill>
                    <a:effectLst/>
                    <a:latin typeface="+mn-lt"/>
                    <a:ea typeface="+mn-ea"/>
                    <a:cs typeface="+mn-cs"/>
                  </a:rPr>
                  <a:t>Dispensed ≠ consumed:</a:t>
                </a:r>
                <a:r>
                  <a:rPr lang="en-US" sz="1200" b="0" i="0" kern="1200" dirty="0">
                    <a:solidFill>
                      <a:schemeClr val="tx1"/>
                    </a:solidFill>
                    <a:effectLst/>
                    <a:latin typeface="+mn-lt"/>
                    <a:ea typeface="+mn-ea"/>
                    <a:cs typeface="+mn-cs"/>
                  </a:rPr>
                  <a:t> medicines dispensed may be only partially taken, discarded, stockpiled, or flushed unused. Ironically, unused drugs flushed or landfilled can still reach the environment, so "consumed" is not even the ideal exposure denominator for an environmental model — total dispensed mass is arguably closer to the mass that can enter the waste stream, whether via excretion of what was taken or disposal of what was not.</a:t>
                </a:r>
              </a:p>
              <a:p>
                <a:r>
                  <a:rPr lang="en-US" sz="1200" b="0" i="0" kern="1200" dirty="0">
                    <a:solidFill>
                      <a:schemeClr val="tx1"/>
                    </a:solidFill>
                    <a:effectLst/>
                    <a:latin typeface="+mn-lt"/>
                    <a:ea typeface="+mn-ea"/>
                    <a:cs typeface="+mn-cs"/>
                  </a:rPr>
                  <a:t>So the label "prescription-consumption data" is loose shorthand. Strictly, these datasets are </a:t>
                </a:r>
                <a:r>
                  <a:rPr lang="en-US" sz="1200" b="1" i="0" kern="1200" dirty="0">
                    <a:solidFill>
                      <a:schemeClr val="tx1"/>
                    </a:solidFill>
                    <a:effectLst/>
                    <a:latin typeface="+mn-lt"/>
                    <a:ea typeface="+mn-ea"/>
                    <a:cs typeface="+mn-cs"/>
                  </a:rPr>
                  <a:t>dispensing/reimbursement records</a:t>
                </a:r>
                <a:r>
                  <a:rPr lang="en-US" sz="1200" b="0" i="0" kern="1200" dirty="0">
                    <a:solidFill>
                      <a:schemeClr val="tx1"/>
                    </a:solidFill>
                    <a:effectLst/>
                    <a:latin typeface="+mn-lt"/>
                    <a:ea typeface="+mn-ea"/>
                    <a:cs typeface="+mn-cs"/>
                  </a:rPr>
                  <a:t>, and they are used as a proxy for consumption (and thus for environmental input mass). The distinction matters for interpretation:</a:t>
                </a:r>
              </a:p>
              <a:p>
                <a:pPr lvl="0"/>
                <a:r>
                  <a:rPr lang="en-US" sz="1200" b="0" i="0" kern="1200" dirty="0">
                    <a:solidFill>
                      <a:schemeClr val="tx1"/>
                    </a:solidFill>
                    <a:effectLst/>
                    <a:latin typeface="+mn-lt"/>
                    <a:ea typeface="+mn-ea"/>
                    <a:cs typeface="+mn-cs"/>
                  </a:rPr>
                  <a:t>It is a </a:t>
                </a:r>
                <a:r>
                  <a:rPr lang="en-US" sz="1200" b="1" i="0" kern="1200" dirty="0">
                    <a:solidFill>
                      <a:schemeClr val="tx1"/>
                    </a:solidFill>
                    <a:effectLst/>
                    <a:latin typeface="+mn-lt"/>
                    <a:ea typeface="+mn-ea"/>
                    <a:cs typeface="+mn-cs"/>
                  </a:rPr>
                  <a:t>proxy, with directional error</a:t>
                </a:r>
                <a:r>
                  <a:rPr lang="en-US" sz="1200" b="0" i="0" kern="1200" dirty="0">
                    <a:solidFill>
                      <a:schemeClr val="tx1"/>
                    </a:solidFill>
                    <a:effectLst/>
                    <a:latin typeface="+mn-lt"/>
                    <a:ea typeface="+mn-ea"/>
                    <a:cs typeface="+mn-cs"/>
                  </a:rPr>
                  <a:t> — dispensed mass overestimates the fraction actually ingested and excreted, but may underestimate total environmental load if a portion is disposed of unused and separately enters the environment.</a:t>
                </a:r>
              </a:p>
              <a:p>
                <a:pPr lvl="0"/>
                <a:r>
                  <a:rPr lang="en-US" sz="1200" b="1" i="0" kern="1200" dirty="0">
                    <a:solidFill>
                      <a:schemeClr val="tx1"/>
                    </a:solidFill>
                    <a:effectLst/>
                    <a:latin typeface="+mn-lt"/>
                    <a:ea typeface="+mn-ea"/>
                    <a:cs typeface="+mn-cs"/>
                  </a:rPr>
                  <a:t>Excretion-fraction assumptions</a:t>
                </a:r>
                <a:r>
                  <a:rPr lang="en-US" sz="1200" b="0" i="0" kern="1200" dirty="0">
                    <a:solidFill>
                      <a:schemeClr val="tx1"/>
                    </a:solidFill>
                    <a:effectLst/>
                    <a:latin typeface="+mn-lt"/>
                    <a:ea typeface="+mn-ea"/>
                    <a:cs typeface="+mn-cs"/>
                  </a:rPr>
                  <a:t> in the PEC equation implicitly assume the dispensed drug was taken. Non-adherence breaks that assumption, adding uncertainty not usually quantified.</a:t>
                </a:r>
              </a:p>
              <a:p>
                <a:pPr lvl="0"/>
                <a:r>
                  <a:rPr lang="en-US" sz="1200" b="0" i="0" kern="1200" dirty="0">
                    <a:solidFill>
                      <a:schemeClr val="tx1"/>
                    </a:solidFill>
                    <a:effectLst/>
                    <a:latin typeface="+mn-lt"/>
                    <a:ea typeface="+mn-ea"/>
                    <a:cs typeface="+mn-cs"/>
                  </a:rPr>
                  <a:t>It still </a:t>
                </a:r>
                <a:r>
                  <a:rPr lang="en-US" sz="1200" b="1" i="0" kern="1200" dirty="0">
                    <a:solidFill>
                      <a:schemeClr val="tx1"/>
                    </a:solidFill>
                    <a:effectLst/>
                    <a:latin typeface="+mn-lt"/>
                    <a:ea typeface="+mn-ea"/>
                    <a:cs typeface="+mn-cs"/>
                  </a:rPr>
                  <a:t>excludes OTC, hospital-only, and veterinary use</a:t>
                </a:r>
                <a:r>
                  <a:rPr lang="en-US" sz="1200" b="0" i="0" kern="1200" dirty="0">
                    <a:solidFill>
                      <a:schemeClr val="tx1"/>
                    </a:solidFill>
                    <a:effectLst/>
                    <a:latin typeface="+mn-lt"/>
                    <a:ea typeface="+mn-ea"/>
                    <a:cs typeface="+mn-cs"/>
                  </a:rPr>
                  <a:t> and any illicit or unregistered supply, so even as a dispensing metric it is incomplete for total environmental input.</a:t>
                </a:r>
              </a:p>
              <a:p>
                <a:r>
                  <a:rPr lang="en-US" sz="1200" b="0" i="0" kern="1200" dirty="0">
                    <a:solidFill>
                      <a:schemeClr val="tx1"/>
                    </a:solidFill>
                    <a:effectLst/>
                    <a:latin typeface="+mn-lt"/>
                    <a:ea typeface="+mn-ea"/>
                    <a:cs typeface="+mn-cs"/>
                  </a:rPr>
                  <a:t>For precision in your write-up, "dispensing data (used as a proxy for consumption)" or "reimbursement/dispensing data" describes these inputs more accurately than either "prescription" or "consumption" alone.</a:t>
                </a:r>
              </a:p>
              <a:p>
                <a:r>
                  <a:rPr lang="en-US" sz="1200" b="0" i="0" kern="1200" dirty="0">
                    <a:solidFill>
                      <a:schemeClr val="tx1"/>
                    </a:solidFill>
                    <a:effectLst/>
                    <a:latin typeface="+mn-lt"/>
                    <a:ea typeface="+mn-ea"/>
                    <a:cs typeface="+mn-cs"/>
                  </a:rPr>
                  <a:t>Would you like to explore how non-adherence and unused-drug disposal bias dispensing-based PEC estimates?</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"Dispensing data" is the accurate label for prescription/reimbursement-based claims inputs</a:t>
                </a:r>
                <a:r>
                  <a:rPr lang="en-US" sz="1200" b="0" i="0" kern="1200" dirty="0">
                    <a:solidFill>
                      <a:schemeClr val="tx1"/>
                    </a:solidFill>
                    <a:effectLst/>
                    <a:latin typeface="+mn-lt"/>
                    <a:ea typeface="+mn-ea"/>
                    <a:cs typeface="+mn-cs"/>
                  </a:rPr>
                  <a:t>, and the table below adopts it, reserving "sales/wholesale" and "national consumption statistics" for studies whose inputs are not pharmacy-level claims. Added examples that likewise build on large-scale drug utilization datasets: Greece (Iatrou, 24 antimicrobials from national consumption statistics), Australia (Day &amp;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community antibiotics from national dispensing/PBS-type data), and Ireland (Monahan, national human vs. veterinary antibiotic usage). [1-3] The France effluent-screening and Portugal 16-drug validation studies remain excluded because they are not built on a large utilization dataset.</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Research question</a:t>
                </a:r>
              </a:p>
              <a:p>
                <a:pPr fontAlgn="b"/>
                <a:r>
                  <a:rPr lang="en-US" sz="1200" b="1" i="0" kern="1200" dirty="0">
                    <a:solidFill>
                      <a:schemeClr val="tx1"/>
                    </a:solidFill>
                    <a:effectLst/>
                    <a:latin typeface="+mn-lt"/>
                    <a:ea typeface="+mn-ea"/>
                    <a:cs typeface="+mn-cs"/>
                  </a:rPr>
                  <a:t>Data source (precise type)</a:t>
                </a:r>
              </a:p>
              <a:p>
                <a:pPr fontAlgn="b"/>
                <a:r>
                  <a:rPr lang="en-US" sz="1200" b="1" i="0" kern="1200" dirty="0">
                    <a:solidFill>
                      <a:schemeClr val="tx1"/>
                    </a:solidFill>
                    <a:effectLst/>
                    <a:latin typeface="+mn-lt"/>
                    <a:ea typeface="+mn-ea"/>
                    <a:cs typeface="+mn-cs"/>
                  </a:rPr>
                  <a:t>Key assumptions</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Main limitations</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listWhich</a:t>
                </a:r>
                <a:r>
                  <a:rPr lang="en-US" sz="1200" b="0" i="0" kern="1200" dirty="0">
                    <a:solidFill>
                      <a:schemeClr val="tx1"/>
                    </a:solidFill>
                    <a:effectLst/>
                    <a:latin typeface="+mn-lt"/>
                    <a:ea typeface="+mn-ea"/>
                    <a:cs typeface="+mn-cs"/>
                  </a:rPr>
                  <a:t> watch-list drugs pose greatest environmental risk in </a:t>
                </a:r>
                <a:r>
                  <a:rPr lang="en-US" sz="1200" b="0" i="0" kern="1200" dirty="0" err="1">
                    <a:solidFill>
                      <a:schemeClr val="tx1"/>
                    </a:solidFill>
                    <a:effectLst/>
                    <a:latin typeface="+mn-lt"/>
                    <a:ea typeface="+mn-ea"/>
                    <a:cs typeface="+mn-cs"/>
                  </a:rPr>
                  <a:t>Italy?National</a:t>
                </a:r>
                <a:r>
                  <a:rPr lang="en-US" sz="1200" b="0" i="0" kern="1200" dirty="0">
                    <a:solidFill>
                      <a:schemeClr val="tx1"/>
                    </a:solidFill>
                    <a:effectLst/>
                    <a:latin typeface="+mn-lt"/>
                    <a:ea typeface="+mn-ea"/>
                    <a:cs typeface="+mn-cs"/>
                  </a:rPr>
                  <a:t> drug utilization statistics 2019–21; 25-drug Stockholm PNEC </a:t>
                </a:r>
                <a:r>
                  <a:rPr lang="en-US" sz="1200" b="0" i="0" kern="1200" dirty="0" err="1">
                    <a:solidFill>
                      <a:schemeClr val="tx1"/>
                    </a:solidFill>
                    <a:effectLst/>
                    <a:latin typeface="+mn-lt"/>
                    <a:ea typeface="+mn-ea"/>
                    <a:cs typeface="+mn-cs"/>
                  </a:rPr>
                  <a:t>listStandard</a:t>
                </a:r>
                <a:r>
                  <a:rPr lang="en-US" sz="1200" b="0" i="0" kern="1200" dirty="0">
                    <a:solidFill>
                      <a:schemeClr val="tx1"/>
                    </a:solidFill>
                    <a:effectLst/>
                    <a:latin typeface="+mn-lt"/>
                    <a:ea typeface="+mn-ea"/>
                    <a:cs typeface="+mn-cs"/>
                  </a:rPr>
                  <a:t> excretion + dilution; external Stockholm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levonorgestrel, ciprofloxacin, amoxicillin, azithromycin, venlafaxine, sertraline, diclofenac25 pre-selected drugs; external PNECs; no measured </a:t>
                </a:r>
                <a:r>
                  <a:rPr lang="en-US" sz="1200" b="0" i="0" kern="1200" dirty="0" err="1">
                    <a:solidFill>
                      <a:schemeClr val="tx1"/>
                    </a:solidFill>
                    <a:effectLst/>
                    <a:latin typeface="+mn-lt"/>
                    <a:ea typeface="+mn-ea"/>
                    <a:cs typeface="+mn-cs"/>
                  </a:rPr>
                  <a:t>validationGiunchi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 [4]</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SpainWhich</a:t>
                </a:r>
                <a:r>
                  <a:rPr lang="en-US" sz="1200" b="0" i="0" kern="1200" dirty="0">
                    <a:solidFill>
                      <a:schemeClr val="tx1"/>
                    </a:solidFill>
                    <a:effectLst/>
                    <a:latin typeface="+mn-lt"/>
                    <a:ea typeface="+mn-ea"/>
                    <a:cs typeface="+mn-cs"/>
                  </a:rPr>
                  <a:t> of 810 drugs to prioritize; how does risk vary spatially/</a:t>
                </a:r>
                <a:r>
                  <a:rPr lang="en-US" sz="1200" b="0" i="0" kern="1200" dirty="0" err="1">
                    <a:solidFill>
                      <a:schemeClr val="tx1"/>
                    </a:solidFill>
                    <a:effectLst/>
                    <a:latin typeface="+mn-lt"/>
                    <a:ea typeface="+mn-ea"/>
                    <a:cs typeface="+mn-cs"/>
                  </a:rPr>
                  <a:t>seasonally?Regional</a:t>
                </a:r>
                <a:r>
                  <a:rPr lang="en-US" sz="1200" b="0" i="0" kern="1200" dirty="0">
                    <a:solidFill>
                      <a:schemeClr val="tx1"/>
                    </a:solidFill>
                    <a:effectLst/>
                    <a:latin typeface="+mn-lt"/>
                    <a:ea typeface="+mn-ea"/>
                    <a:cs typeface="+mn-cs"/>
                  </a:rPr>
                  <a:t> dispensing/reimbursement data 2014–21, 810 </a:t>
                </a:r>
                <a:r>
                  <a:rPr lang="en-US" sz="1200" b="0" i="0" kern="1200" dirty="0" err="1">
                    <a:solidFill>
                      <a:schemeClr val="tx1"/>
                    </a:solidFill>
                    <a:effectLst/>
                    <a:latin typeface="+mn-lt"/>
                    <a:ea typeface="+mn-ea"/>
                    <a:cs typeface="+mn-cs"/>
                  </a:rPr>
                  <a:t>substancesExcretion</a:t>
                </a:r>
                <a:r>
                  <a:rPr lang="en-US" sz="1200" b="0" i="0" kern="1200" dirty="0">
                    <a:solidFill>
                      <a:schemeClr val="tx1"/>
                    </a:solidFill>
                    <a:effectLst/>
                    <a:latin typeface="+mn-lt"/>
                    <a:ea typeface="+mn-ea"/>
                    <a:cs typeface="+mn-cs"/>
                  </a:rPr>
                  <a:t>, WWTP removal, dilution; water-scarcity factor261/810 exceeded EMA 10 ng/L in 2021; rose with </a:t>
                </a:r>
                <a:r>
                  <a:rPr lang="en-US" sz="1200" b="0" i="0" kern="1200" dirty="0" err="1">
                    <a:solidFill>
                      <a:schemeClr val="tx1"/>
                    </a:solidFill>
                    <a:effectLst/>
                    <a:latin typeface="+mn-lt"/>
                    <a:ea typeface="+mn-ea"/>
                    <a:cs typeface="+mn-cs"/>
                  </a:rPr>
                  <a:t>scarcityDispensing</a:t>
                </a:r>
                <a:r>
                  <a:rPr lang="en-US" sz="1200" b="0" i="0" kern="1200" dirty="0">
                    <a:solidFill>
                      <a:schemeClr val="tx1"/>
                    </a:solidFill>
                    <a:effectLst/>
                    <a:latin typeface="+mn-lt"/>
                    <a:ea typeface="+mn-ea"/>
                    <a:cs typeface="+mn-cs"/>
                  </a:rPr>
                  <a:t>-only (no OTC/hospital/vet); default parameters; single </a:t>
                </a:r>
                <a:r>
                  <a:rPr lang="en-US" sz="1200" b="0" i="0" kern="1200" dirty="0" err="1">
                    <a:solidFill>
                      <a:schemeClr val="tx1"/>
                    </a:solidFill>
                    <a:effectLst/>
                    <a:latin typeface="+mn-lt"/>
                    <a:ea typeface="+mn-ea"/>
                    <a:cs typeface="+mn-cs"/>
                  </a:rPr>
                  <a:t>thresholdDomínguez</a:t>
                </a:r>
                <a:r>
                  <a:rPr lang="en-US" sz="1200" b="0" i="0" kern="1200" dirty="0">
                    <a:solidFill>
                      <a:schemeClr val="tx1"/>
                    </a:solidFill>
                    <a:effectLst/>
                    <a:latin typeface="+mn-lt"/>
                    <a:ea typeface="+mn-ea"/>
                    <a:cs typeface="+mn-cs"/>
                  </a:rPr>
                  <a:t>-García, Environ Res, 2025 [5]</a:t>
                </a:r>
              </a:p>
              <a:p>
                <a:r>
                  <a:rPr lang="en-US" sz="1200" b="0" i="0" kern="1200" dirty="0" err="1">
                    <a:solidFill>
                      <a:schemeClr val="tx1"/>
                    </a:solidFill>
                    <a:effectLst/>
                    <a:latin typeface="+mn-lt"/>
                    <a:ea typeface="+mn-ea"/>
                    <a:cs typeface="+mn-cs"/>
                  </a:rPr>
                  <a:t>NorwayCan</a:t>
                </a:r>
                <a:r>
                  <a:rPr lang="en-US" sz="1200" b="0" i="0" kern="1200" dirty="0">
                    <a:solidFill>
                      <a:schemeClr val="tx1"/>
                    </a:solidFill>
                    <a:effectLst/>
                    <a:latin typeface="+mn-lt"/>
                    <a:ea typeface="+mn-ea"/>
                    <a:cs typeface="+mn-cs"/>
                  </a:rPr>
                  <a:t> national sales data reliably predict risk vs. </a:t>
                </a:r>
                <a:r>
                  <a:rPr lang="en-US" sz="1200" b="0" i="0" kern="1200" dirty="0" err="1">
                    <a:solidFill>
                      <a:schemeClr val="tx1"/>
                    </a:solidFill>
                    <a:effectLst/>
                    <a:latin typeface="+mn-lt"/>
                    <a:ea typeface="+mn-ea"/>
                    <a:cs typeface="+mn-cs"/>
                  </a:rPr>
                  <a:t>measurements?National</a:t>
                </a:r>
                <a:r>
                  <a:rPr lang="en-US" sz="1200" b="0" i="0" kern="1200" dirty="0">
                    <a:solidFill>
                      <a:schemeClr val="tx1"/>
                    </a:solidFill>
                    <a:effectLst/>
                    <a:latin typeface="+mn-lt"/>
                    <a:ea typeface="+mn-ea"/>
                    <a:cs typeface="+mn-cs"/>
                  </a:rPr>
                  <a:t> wholesale + prescription + veterinary sales 2016–19, ~200 </a:t>
                </a:r>
                <a:r>
                  <a:rPr lang="en-US" sz="1200" b="0" i="0" kern="1200" dirty="0" err="1">
                    <a:solidFill>
                      <a:schemeClr val="tx1"/>
                    </a:solidFill>
                    <a:effectLst/>
                    <a:latin typeface="+mn-lt"/>
                    <a:ea typeface="+mn-ea"/>
                    <a:cs typeface="+mn-cs"/>
                  </a:rPr>
                  <a:t>APIsConservative</a:t>
                </a:r>
                <a:r>
                  <a:rPr lang="en-US" sz="1200" b="0" i="0" kern="1200" dirty="0">
                    <a:solidFill>
                      <a:schemeClr val="tx1"/>
                    </a:solidFill>
                    <a:effectLst/>
                    <a:latin typeface="+mn-lt"/>
                    <a:ea typeface="+mn-ea"/>
                    <a:cs typeface="+mn-cs"/>
                  </a:rPr>
                  <a:t> PEC; adds persistence/bioaccumulation flags17 APIs RQ &gt;1; levonorgestrel RQ 220, ciprofloxacin RQ 56Overpredicted 18/20 vs. measured; OTC gap (~70%); sparse PNEC/PBT </a:t>
                </a:r>
                <a:r>
                  <a:rPr lang="en-US" sz="1200" b="0" i="0" kern="1200" dirty="0" err="1">
                    <a:solidFill>
                      <a:schemeClr val="tx1"/>
                    </a:solidFill>
                    <a:effectLst/>
                    <a:latin typeface="+mn-lt"/>
                    <a:ea typeface="+mn-ea"/>
                    <a:cs typeface="+mn-cs"/>
                  </a:rPr>
                  <a:t>dataWelch</a:t>
                </a:r>
                <a:r>
                  <a:rPr lang="en-US" sz="1200" b="0" i="0" kern="1200" dirty="0">
                    <a:solidFill>
                      <a:schemeClr val="tx1"/>
                    </a:solidFill>
                    <a:effectLst/>
                    <a:latin typeface="+mn-lt"/>
                    <a:ea typeface="+mn-ea"/>
                    <a:cs typeface="+mn-cs"/>
                  </a:rPr>
                  <a:t>,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 [6]</a:t>
                </a:r>
              </a:p>
              <a:p>
                <a:r>
                  <a:rPr lang="en-US" sz="1200" b="0" i="0" kern="1200" dirty="0" err="1">
                    <a:solidFill>
                      <a:schemeClr val="tx1"/>
                    </a:solidFill>
                    <a:effectLst/>
                    <a:latin typeface="+mn-lt"/>
                    <a:ea typeface="+mn-ea"/>
                    <a:cs typeface="+mn-cs"/>
                  </a:rPr>
                  <a:t>GreeceWhat</a:t>
                </a:r>
                <a:r>
                  <a:rPr lang="en-US" sz="1200" b="0" i="0" kern="1200" dirty="0">
                    <a:solidFill>
                      <a:schemeClr val="tx1"/>
                    </a:solidFill>
                    <a:effectLst/>
                    <a:latin typeface="+mn-lt"/>
                    <a:ea typeface="+mn-ea"/>
                    <a:cs typeface="+mn-cs"/>
                  </a:rPr>
                  <a:t> environmental risk arises from national antimicrobial </a:t>
                </a:r>
                <a:r>
                  <a:rPr lang="en-US" sz="1200" b="0" i="0" kern="1200" dirty="0" err="1">
                    <a:solidFill>
                      <a:schemeClr val="tx1"/>
                    </a:solidFill>
                    <a:effectLst/>
                    <a:latin typeface="+mn-lt"/>
                    <a:ea typeface="+mn-ea"/>
                    <a:cs typeface="+mn-cs"/>
                  </a:rPr>
                  <a:t>consumption?National</a:t>
                </a:r>
                <a:r>
                  <a:rPr lang="en-US" sz="1200" b="0" i="0" kern="1200" dirty="0">
                    <a:solidFill>
                      <a:schemeClr val="tx1"/>
                    </a:solidFill>
                    <a:effectLst/>
                    <a:latin typeface="+mn-lt"/>
                    <a:ea typeface="+mn-ea"/>
                    <a:cs typeface="+mn-cs"/>
                  </a:rPr>
                  <a:t> antimicrobial consumption statistics 2008–10, 24 </a:t>
                </a:r>
                <a:r>
                  <a:rPr lang="en-US" sz="1200" b="0" i="0" kern="1200" dirty="0" err="1">
                    <a:solidFill>
                      <a:schemeClr val="tx1"/>
                    </a:solidFill>
                    <a:effectLst/>
                    <a:latin typeface="+mn-lt"/>
                    <a:ea typeface="+mn-ea"/>
                    <a:cs typeface="+mn-cs"/>
                  </a:rPr>
                  <a:t>drugsMass</a:t>
                </a:r>
                <a:r>
                  <a:rPr lang="en-US" sz="1200" b="0" i="0" kern="1200" dirty="0">
                    <a:solidFill>
                      <a:schemeClr val="tx1"/>
                    </a:solidFill>
                    <a:effectLst/>
                    <a:latin typeface="+mn-lt"/>
                    <a:ea typeface="+mn-ea"/>
                    <a:cs typeface="+mn-cs"/>
                  </a:rPr>
                  <a:t> balance; literature excretion/removal; ECOSAR </a:t>
                </a:r>
                <a:r>
                  <a:rPr lang="en-US" sz="1200" b="0" i="0" kern="1200" dirty="0" err="1">
                    <a:solidFill>
                      <a:schemeClr val="tx1"/>
                    </a:solidFill>
                    <a:effectLst/>
                    <a:latin typeface="+mn-lt"/>
                    <a:ea typeface="+mn-ea"/>
                    <a:cs typeface="+mn-cs"/>
                  </a:rPr>
                  <a:t>PNECsRQ</a:t>
                </a:r>
                <a:r>
                  <a:rPr lang="en-US" sz="1200" b="0" i="0" kern="1200" dirty="0">
                    <a:solidFill>
                      <a:schemeClr val="tx1"/>
                    </a:solidFill>
                    <a:effectLst/>
                    <a:latin typeface="+mn-lt"/>
                    <a:ea typeface="+mn-ea"/>
                    <a:cs typeface="+mn-cs"/>
                  </a:rPr>
                  <a:t> &gt;1 for 7/24 (algae); amoxicillin, clarithromycin RQ &gt;80 </a:t>
                </a:r>
                <a:r>
                  <a:rPr lang="en-US" sz="1200" b="0" i="0" kern="1200" dirty="0" err="1">
                    <a:solidFill>
                      <a:schemeClr val="tx1"/>
                    </a:solidFill>
                    <a:effectLst/>
                    <a:latin typeface="+mn-lt"/>
                    <a:ea typeface="+mn-ea"/>
                    <a:cs typeface="+mn-cs"/>
                  </a:rPr>
                  <a:t>chronicAntimicrobials</a:t>
                </a:r>
                <a:r>
                  <a:rPr lang="en-US" sz="1200" b="0" i="0" kern="1200" dirty="0">
                    <a:solidFill>
                      <a:schemeClr val="tx1"/>
                    </a:solidFill>
                    <a:effectLst/>
                    <a:latin typeface="+mn-lt"/>
                    <a:ea typeface="+mn-ea"/>
                    <a:cs typeface="+mn-cs"/>
                  </a:rPr>
                  <a:t> only; literature/ECOSAR toxicity; no local </a:t>
                </a:r>
                <a:r>
                  <a:rPr lang="en-US" sz="1200" b="0" i="0" kern="1200" dirty="0" err="1">
                    <a:solidFill>
                      <a:schemeClr val="tx1"/>
                    </a:solidFill>
                    <a:effectLst/>
                    <a:latin typeface="+mn-lt"/>
                    <a:ea typeface="+mn-ea"/>
                    <a:cs typeface="+mn-cs"/>
                  </a:rPr>
                  <a:t>measurementIatrou</a:t>
                </a:r>
                <a:r>
                  <a:rPr lang="en-US" sz="1200" b="0" i="0" kern="1200" dirty="0">
                    <a:solidFill>
                      <a:schemeClr val="tx1"/>
                    </a:solidFill>
                    <a:effectLst/>
                    <a:latin typeface="+mn-lt"/>
                    <a:ea typeface="+mn-ea"/>
                    <a:cs typeface="+mn-cs"/>
                  </a:rPr>
                  <a:t>,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 [1]</a:t>
                </a:r>
              </a:p>
              <a:p>
                <a:r>
                  <a:rPr lang="en-US" sz="1200" b="0" i="0" kern="1200" dirty="0" err="1">
                    <a:solidFill>
                      <a:schemeClr val="tx1"/>
                    </a:solidFill>
                    <a:effectLst/>
                    <a:latin typeface="+mn-lt"/>
                    <a:ea typeface="+mn-ea"/>
                    <a:cs typeface="+mn-cs"/>
                  </a:rPr>
                  <a:t>AustraliaWhich</a:t>
                </a:r>
                <a:r>
                  <a:rPr lang="en-US" sz="1200" b="0" i="0" kern="1200" dirty="0">
                    <a:solidFill>
                      <a:schemeClr val="tx1"/>
                    </a:solidFill>
                    <a:effectLst/>
                    <a:latin typeface="+mn-lt"/>
                    <a:ea typeface="+mn-ea"/>
                    <a:cs typeface="+mn-cs"/>
                  </a:rPr>
                  <a:t> community antibiotics exceed risk thresholds </a:t>
                </a:r>
                <a:r>
                  <a:rPr lang="en-US" sz="1200" b="0" i="0" kern="1200" dirty="0" err="1">
                    <a:solidFill>
                      <a:schemeClr val="tx1"/>
                    </a:solidFill>
                    <a:effectLst/>
                    <a:latin typeface="+mn-lt"/>
                    <a:ea typeface="+mn-ea"/>
                    <a:cs typeface="+mn-cs"/>
                  </a:rPr>
                  <a:t>nationally?National</a:t>
                </a:r>
                <a:r>
                  <a:rPr lang="en-US" sz="1200" b="0" i="0" kern="1200" dirty="0">
                    <a:solidFill>
                      <a:schemeClr val="tx1"/>
                    </a:solidFill>
                    <a:effectLst/>
                    <a:latin typeface="+mn-lt"/>
                    <a:ea typeface="+mn-ea"/>
                    <a:cs typeface="+mn-cs"/>
                  </a:rPr>
                  <a:t> community dispensing data; </a:t>
                </a:r>
                <a:r>
                  <a:rPr lang="en-US" sz="1200" b="0" i="0" kern="1200" dirty="0" err="1">
                    <a:solidFill>
                      <a:schemeClr val="tx1"/>
                    </a:solidFill>
                    <a:effectLst/>
                    <a:latin typeface="+mn-lt"/>
                    <a:ea typeface="+mn-ea"/>
                    <a:cs typeface="+mn-cs"/>
                  </a:rPr>
                  <a:t>antibioticsPEC</a:t>
                </a:r>
                <a:r>
                  <a:rPr lang="en-US" sz="1200" b="0" i="0" kern="1200" dirty="0">
                    <a:solidFill>
                      <a:schemeClr val="tx1"/>
                    </a:solidFill>
                    <a:effectLst/>
                    <a:latin typeface="+mn-lt"/>
                    <a:ea typeface="+mn-ea"/>
                    <a:cs typeface="+mn-cs"/>
                  </a:rPr>
                  <a:t>/RQ with sensitivity analysis of assessor </a:t>
                </a:r>
                <a:r>
                  <a:rPr lang="en-US" sz="1200" b="0" i="0" kern="1200" dirty="0" err="1">
                    <a:solidFill>
                      <a:schemeClr val="tx1"/>
                    </a:solidFill>
                    <a:effectLst/>
                    <a:latin typeface="+mn-lt"/>
                    <a:ea typeface="+mn-ea"/>
                    <a:cs typeface="+mn-cs"/>
                  </a:rPr>
                  <a:t>assumptionsAmoxicillin</a:t>
                </a:r>
                <a:r>
                  <a:rPr lang="en-US" sz="1200" b="0" i="0" kern="1200" dirty="0">
                    <a:solidFill>
                      <a:schemeClr val="tx1"/>
                    </a:solidFill>
                    <a:effectLst/>
                    <a:latin typeface="+mn-lt"/>
                    <a:ea typeface="+mn-ea"/>
                    <a:cs typeface="+mn-cs"/>
                  </a:rPr>
                  <a:t>, cefalexin, clindamycin, azithromycin, phenoxymethylpenicillin exceed </a:t>
                </a:r>
                <a:r>
                  <a:rPr lang="en-US" sz="1200" b="0" i="0" kern="1200" dirty="0" err="1">
                    <a:solidFill>
                      <a:schemeClr val="tx1"/>
                    </a:solidFill>
                    <a:effectLst/>
                    <a:latin typeface="+mn-lt"/>
                    <a:ea typeface="+mn-ea"/>
                    <a:cs typeface="+mn-cs"/>
                  </a:rPr>
                  <a:t>thresholdsRQ</a:t>
                </a:r>
                <a:r>
                  <a:rPr lang="en-US" sz="1200" b="0" i="0" kern="1200" dirty="0">
                    <a:solidFill>
                      <a:schemeClr val="tx1"/>
                    </a:solidFill>
                    <a:effectLst/>
                    <a:latin typeface="+mn-lt"/>
                    <a:ea typeface="+mn-ea"/>
                    <a:cs typeface="+mn-cs"/>
                  </a:rPr>
                  <a:t> highly sensitive to assumptions; antibiotics only; no ERA </a:t>
                </a:r>
                <a:r>
                  <a:rPr lang="en-US" sz="1200" b="0" i="0" kern="1200" dirty="0" err="1">
                    <a:solidFill>
                      <a:schemeClr val="tx1"/>
                    </a:solidFill>
                    <a:effectLst/>
                    <a:latin typeface="+mn-lt"/>
                    <a:ea typeface="+mn-ea"/>
                    <a:cs typeface="+mn-cs"/>
                  </a:rPr>
                  <a:t>infrastructureDay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 [2]</a:t>
                </a:r>
              </a:p>
              <a:p>
                <a:r>
                  <a:rPr lang="en-US" sz="1200" b="0" i="0" kern="1200" dirty="0" err="1">
                    <a:solidFill>
                      <a:schemeClr val="tx1"/>
                    </a:solidFill>
                    <a:effectLst/>
                    <a:latin typeface="+mn-lt"/>
                    <a:ea typeface="+mn-ea"/>
                    <a:cs typeface="+mn-cs"/>
                  </a:rPr>
                  <a:t>IrelandHow</a:t>
                </a:r>
                <a:r>
                  <a:rPr lang="en-US" sz="1200" b="0" i="0" kern="1200" dirty="0">
                    <a:solidFill>
                      <a:schemeClr val="tx1"/>
                    </a:solidFill>
                    <a:effectLst/>
                    <a:latin typeface="+mn-lt"/>
                    <a:ea typeface="+mn-ea"/>
                    <a:cs typeface="+mn-cs"/>
                  </a:rPr>
                  <a:t> do human vs. veterinary antibiotic usage compare as pollution </a:t>
                </a:r>
                <a:r>
                  <a:rPr lang="en-US" sz="1200" b="0" i="0" kern="1200" dirty="0" err="1">
                    <a:solidFill>
                      <a:schemeClr val="tx1"/>
                    </a:solidFill>
                    <a:effectLst/>
                    <a:latin typeface="+mn-lt"/>
                    <a:ea typeface="+mn-ea"/>
                    <a:cs typeface="+mn-cs"/>
                  </a:rPr>
                  <a:t>sources?National</a:t>
                </a:r>
                <a:r>
                  <a:rPr lang="en-US" sz="1200" b="0" i="0" kern="1200" dirty="0">
                    <a:solidFill>
                      <a:schemeClr val="tx1"/>
                    </a:solidFill>
                    <a:effectLst/>
                    <a:latin typeface="+mn-lt"/>
                    <a:ea typeface="+mn-ea"/>
                    <a:cs typeface="+mn-cs"/>
                  </a:rPr>
                  <a:t> human + veterinary antibiotic usage data; 6 </a:t>
                </a:r>
                <a:r>
                  <a:rPr lang="en-US" sz="1200" b="0" i="0" kern="1200" dirty="0" err="1">
                    <a:solidFill>
                      <a:schemeClr val="tx1"/>
                    </a:solidFill>
                    <a:effectLst/>
                    <a:latin typeface="+mn-lt"/>
                    <a:ea typeface="+mn-ea"/>
                    <a:cs typeface="+mn-cs"/>
                  </a:rPr>
                  <a:t>classesProbabilistic</a:t>
                </a:r>
                <a:r>
                  <a:rPr lang="en-US" sz="1200" b="0" i="0" kern="1200" dirty="0">
                    <a:solidFill>
                      <a:schemeClr val="tx1"/>
                    </a:solidFill>
                    <a:effectLst/>
                    <a:latin typeface="+mn-lt"/>
                    <a:ea typeface="+mn-ea"/>
                    <a:cs typeface="+mn-cs"/>
                  </a:rPr>
                  <a:t> usage, metabolism, degradation, removal; MIC-based </a:t>
                </a:r>
                <a:r>
                  <a:rPr lang="en-US" sz="1200" b="0" i="0" kern="1200" dirty="0" err="1">
                    <a:solidFill>
                      <a:schemeClr val="tx1"/>
                    </a:solidFill>
                    <a:effectLst/>
                    <a:latin typeface="+mn-lt"/>
                    <a:ea typeface="+mn-ea"/>
                    <a:cs typeface="+mn-cs"/>
                  </a:rPr>
                  <a:t>RQHealthcare</a:t>
                </a:r>
                <a:r>
                  <a:rPr lang="en-US" sz="1200" b="0" i="0" kern="1200" dirty="0">
                    <a:solidFill>
                      <a:schemeClr val="tx1"/>
                    </a:solidFill>
                    <a:effectLst/>
                    <a:latin typeface="+mn-lt"/>
                    <a:ea typeface="+mn-ea"/>
                    <a:cs typeface="+mn-cs"/>
                  </a:rPr>
                  <a:t> RQ &gt; agriculture; macrolides and penicillins </a:t>
                </a:r>
                <a:r>
                  <a:rPr lang="en-US" sz="1200" b="0" i="0" kern="1200" dirty="0" err="1">
                    <a:solidFill>
                      <a:schemeClr val="tx1"/>
                    </a:solidFill>
                    <a:effectLst/>
                    <a:latin typeface="+mn-lt"/>
                    <a:ea typeface="+mn-ea"/>
                    <a:cs typeface="+mn-cs"/>
                  </a:rPr>
                  <a:t>highestClass</a:t>
                </a:r>
                <a:r>
                  <a:rPr lang="en-US" sz="1200" b="0" i="0" kern="1200" dirty="0">
                    <a:solidFill>
                      <a:schemeClr val="tx1"/>
                    </a:solidFill>
                    <a:effectLst/>
                    <a:latin typeface="+mn-lt"/>
                    <a:ea typeface="+mn-ea"/>
                    <a:cs typeface="+mn-cs"/>
                  </a:rPr>
                  <a:t>-level (not per-drug); MIC-based endpoints; screening-</a:t>
                </a:r>
                <a:r>
                  <a:rPr lang="en-US" sz="1200" b="0" i="0" kern="1200" dirty="0" err="1">
                    <a:solidFill>
                      <a:schemeClr val="tx1"/>
                    </a:solidFill>
                    <a:effectLst/>
                    <a:latin typeface="+mn-lt"/>
                    <a:ea typeface="+mn-ea"/>
                    <a:cs typeface="+mn-cs"/>
                  </a:rPr>
                  <a:t>levelMonahan</a:t>
                </a:r>
                <a:r>
                  <a:rPr lang="en-US" sz="1200" b="0" i="0" kern="1200" dirty="0">
                    <a:solidFill>
                      <a:schemeClr val="tx1"/>
                    </a:solidFill>
                    <a:effectLst/>
                    <a:latin typeface="+mn-lt"/>
                    <a:ea typeface="+mn-ea"/>
                    <a:cs typeface="+mn-cs"/>
                  </a:rPr>
                  <a:t>, Sci Total Environ, 2022 [3]</a:t>
                </a:r>
              </a:p>
              <a:p>
                <a:r>
                  <a:rPr lang="en-US" sz="1200" b="0" i="0" kern="1200" dirty="0">
                    <a:solidFill>
                      <a:schemeClr val="tx1"/>
                    </a:solidFill>
                    <a:effectLst/>
                    <a:latin typeface="+mn-lt"/>
                    <a:ea typeface="+mn-ea"/>
                    <a:cs typeface="+mn-cs"/>
                  </a:rPr>
                  <a:t>[1-6]</a:t>
                </a:r>
              </a:p>
              <a:p>
                <a:r>
                  <a:rPr lang="en-US" sz="1200" b="0" i="0" kern="1200" dirty="0">
                    <a:solidFill>
                      <a:schemeClr val="tx1"/>
                    </a:solidFill>
                    <a:effectLst/>
                    <a:latin typeface="+mn-lt"/>
                    <a:ea typeface="+mn-ea"/>
                    <a:cs typeface="+mn-cs"/>
                  </a:rPr>
                  <a:t>The distinction now carried in the "Data source" column separates three input types that all qualify as large-scale utilization datasets but differ in what they actually count: </a:t>
                </a:r>
                <a:r>
                  <a:rPr lang="en-US" sz="1200" b="1" i="0" kern="1200" dirty="0">
                    <a:solidFill>
                      <a:schemeClr val="tx1"/>
                    </a:solidFill>
                    <a:effectLst/>
                    <a:latin typeface="+mn-lt"/>
                    <a:ea typeface="+mn-ea"/>
                    <a:cs typeface="+mn-cs"/>
                  </a:rPr>
                  <a:t>dispensing/reimbursement (claims) data</a:t>
                </a:r>
                <a:r>
                  <a:rPr lang="en-US" sz="1200" b="0" i="0" kern="1200" dirty="0">
                    <a:solidFill>
                      <a:schemeClr val="tx1"/>
                    </a:solidFill>
                    <a:effectLst/>
                    <a:latin typeface="+mn-lt"/>
                    <a:ea typeface="+mn-ea"/>
                    <a:cs typeface="+mn-cs"/>
                  </a:rPr>
                  <a:t> (Catalonia, Australia), </a:t>
                </a:r>
                <a:r>
                  <a:rPr lang="en-US" sz="1200" b="1" i="0" kern="1200" dirty="0">
                    <a:solidFill>
                      <a:schemeClr val="tx1"/>
                    </a:solidFill>
                    <a:effectLst/>
                    <a:latin typeface="+mn-lt"/>
                    <a:ea typeface="+mn-ea"/>
                    <a:cs typeface="+mn-cs"/>
                  </a:rPr>
                  <a:t>sales/wholesale data</a:t>
                </a:r>
                <a:r>
                  <a:rPr lang="en-US" sz="1200" b="0" i="0" kern="1200" dirty="0">
                    <a:solidFill>
                      <a:schemeClr val="tx1"/>
                    </a:solidFill>
                    <a:effectLst/>
                    <a:latin typeface="+mn-lt"/>
                    <a:ea typeface="+mn-ea"/>
                    <a:cs typeface="+mn-cs"/>
                  </a:rPr>
                  <a:t> (Norway), and </a:t>
                </a:r>
                <a:r>
                  <a:rPr lang="en-US" sz="1200" b="1" i="0" kern="1200" dirty="0">
                    <a:solidFill>
                      <a:schemeClr val="tx1"/>
                    </a:solidFill>
                    <a:effectLst/>
                    <a:latin typeface="+mn-lt"/>
                    <a:ea typeface="+mn-ea"/>
                    <a:cs typeface="+mn-cs"/>
                  </a:rPr>
                  <a:t>aggregated national consumption statistics</a:t>
                </a:r>
                <a:r>
                  <a:rPr lang="en-US" sz="1200" b="0" i="0" kern="1200" dirty="0">
                    <a:solidFill>
                      <a:schemeClr val="tx1"/>
                    </a:solidFill>
                    <a:effectLst/>
                    <a:latin typeface="+mn-lt"/>
                    <a:ea typeface="+mn-ea"/>
                    <a:cs typeface="+mn-cs"/>
                  </a:rPr>
                  <a:t> (Italy, Greece, Ireland). Only the claims-based rows measure drug handed over at the point of dispensing, and as discussed, this remains a proxy for consumption that excludes OTC, hospital, and veterinary supply.</a:t>
                </a:r>
              </a:p>
              <a:p>
                <a:r>
                  <a:rPr lang="en-US" sz="1200" b="0" i="0" kern="1200" dirty="0">
                    <a:solidFill>
                      <a:schemeClr val="tx1"/>
                    </a:solidFill>
                    <a:effectLst/>
                    <a:latin typeface="+mn-lt"/>
                    <a:ea typeface="+mn-ea"/>
                    <a:cs typeface="+mn-cs"/>
                  </a:rPr>
                  <a:t>Would you like to compare risk quotients for shared antibiotics like ciprofloxacin and amoxicillin across these consumption-based studies?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a:t>
                </a:r>
                <a:r>
                  <a:rPr lang="en-US" sz="1200" b="0" i="0" kern="1200" dirty="0" err="1">
                    <a:solidFill>
                      <a:schemeClr val="tx1"/>
                    </a:solidFill>
                    <a:effectLst/>
                    <a:latin typeface="+mn-lt"/>
                    <a:ea typeface="+mn-ea"/>
                    <a:cs typeface="+mn-cs"/>
                  </a:rPr>
                  <a:t>C.Recent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Analyzed query, searched for evidence</a:t>
                </a:r>
              </a:p>
              <a:p>
                <a:r>
                  <a:rPr lang="en-US" sz="1200" b="1" i="0" kern="1200" dirty="0">
                    <a:solidFill>
                      <a:schemeClr val="tx1"/>
                    </a:solidFill>
                    <a:effectLst/>
                    <a:latin typeface="+mn-lt"/>
                    <a:ea typeface="+mn-ea"/>
                    <a:cs typeface="+mn-cs"/>
                  </a:rPr>
                  <a:t>Named data sources now specified where the source publications or the national systems identify them</a:t>
                </a:r>
                <a:r>
                  <a:rPr lang="en-US" sz="1200" b="0" i="0" kern="1200" dirty="0">
                    <a:solidFill>
                      <a:schemeClr val="tx1"/>
                    </a:solidFill>
                    <a:effectLst/>
                    <a:latin typeface="+mn-lt"/>
                    <a:ea typeface="+mn-ea"/>
                    <a:cs typeface="+mn-cs"/>
                  </a:rPr>
                  <a:t>; two studies (Catalonia, Greece) do not name a specific database in the retrieved text, so those cells state the input type and flag that the platform is unnamed.</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Named data source</a:t>
                </a:r>
              </a:p>
              <a:p>
                <a:pPr fontAlgn="b"/>
                <a:r>
                  <a:rPr lang="en-US" sz="1200" b="1" i="0" kern="1200" dirty="0">
                    <a:solidFill>
                      <a:schemeClr val="tx1"/>
                    </a:solidFill>
                    <a:effectLst/>
                    <a:latin typeface="+mn-lt"/>
                    <a:ea typeface="+mn-ea"/>
                    <a:cs typeface="+mn-cs"/>
                  </a:rPr>
                  <a:t>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[1-2]National reimbursed-prescription utilization statistics25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[3]Dispensing/reimbursement (claims)810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[4-6]Wholesale + prescription + veterinary sales~200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[7]National consumption statistics24 antimicrobials, 2008–10RQ &gt;1 for 7/24 (algae); amoxicillin, clarithromycin RQ &gt;80 chronic [7]Iatrou,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[8-10]National dispensing (claims)Community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[8]Day,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[11]National usage (human + veterinary)6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[11]Monahan, Sci Total Environ, 2022</a:t>
                </a:r>
              </a:p>
              <a:p>
                <a:r>
                  <a:rPr lang="en-US" sz="1200" b="0" i="0" kern="1200" dirty="0">
                    <a:solidFill>
                      <a:schemeClr val="tx1"/>
                    </a:solidFill>
                    <a:effectLst/>
                    <a:latin typeface="+mn-lt"/>
                    <a:ea typeface="+mn-ea"/>
                    <a:cs typeface="+mn-cs"/>
                  </a:rPr>
                  <a:t>Two caveats on precision: the </a:t>
                </a:r>
                <a:r>
                  <a:rPr lang="en-US" sz="1200" b="1" i="0" kern="1200" dirty="0">
                    <a:solidFill>
                      <a:schemeClr val="tx1"/>
                    </a:solidFill>
                    <a:effectLst/>
                    <a:latin typeface="+mn-lt"/>
                    <a:ea typeface="+mn-ea"/>
                    <a:cs typeface="+mn-cs"/>
                  </a:rPr>
                  <a:t>Italian analysis draws on AIFA's </a:t>
                </a:r>
                <a:r>
                  <a:rPr lang="en-US" sz="1200" b="1" i="0" kern="1200" dirty="0" err="1">
                    <a:solidFill>
                      <a:schemeClr val="tx1"/>
                    </a:solidFill>
                    <a:effectLst/>
                    <a:latin typeface="+mn-lt"/>
                    <a:ea typeface="+mn-ea"/>
                    <a:cs typeface="+mn-cs"/>
                  </a:rPr>
                  <a:t>OsMed</a:t>
                </a:r>
                <a:r>
                  <a:rPr lang="en-US" sz="1200" b="1" i="0" kern="1200" dirty="0">
                    <a:solidFill>
                      <a:schemeClr val="tx1"/>
                    </a:solidFill>
                    <a:effectLst/>
                    <a:latin typeface="+mn-lt"/>
                    <a:ea typeface="+mn-ea"/>
                    <a:cs typeface="+mn-cs"/>
                  </a:rPr>
                  <a:t> system</a:t>
                </a:r>
                <a:r>
                  <a:rPr lang="en-US" sz="1200" b="0" i="0" kern="1200" dirty="0">
                    <a:solidFill>
                      <a:schemeClr val="tx1"/>
                    </a:solidFill>
                    <a:effectLst/>
                    <a:latin typeface="+mn-lt"/>
                    <a:ea typeface="+mn-ea"/>
                    <a:cs typeface="+mn-cs"/>
                  </a:rPr>
                  <a:t> — the database of all prescribed drugs reimbursed by the Italian National Health Service — confirmed as the utilization source in AIFA's own 2025 follow-up assessment. [2][12] For </a:t>
                </a:r>
                <a:r>
                  <a:rPr lang="en-US" sz="1200" b="1" i="0" kern="1200" dirty="0">
                    <a:solidFill>
                      <a:schemeClr val="tx1"/>
                    </a:solidFill>
                    <a:effectLst/>
                    <a:latin typeface="+mn-lt"/>
                    <a:ea typeface="+mn-ea"/>
                    <a:cs typeface="+mn-cs"/>
                  </a:rPr>
                  <a:t>Norway, </a:t>
                </a:r>
                <a:r>
                  <a:rPr lang="en-US" sz="1200" b="1" i="0" kern="1200" dirty="0" err="1">
                    <a:solidFill>
                      <a:schemeClr val="tx1"/>
                    </a:solidFill>
                    <a:effectLst/>
                    <a:latin typeface="+mn-lt"/>
                    <a:ea typeface="+mn-ea"/>
                    <a:cs typeface="+mn-cs"/>
                  </a:rPr>
                  <a:t>NorPD</a:t>
                </a:r>
                <a:r>
                  <a:rPr lang="en-US" sz="1200" b="1" i="0" kern="1200" dirty="0">
                    <a:solidFill>
                      <a:schemeClr val="tx1"/>
                    </a:solidFill>
                    <a:effectLst/>
                    <a:latin typeface="+mn-lt"/>
                    <a:ea typeface="+mn-ea"/>
                    <a:cs typeface="+mn-cs"/>
                  </a:rPr>
                  <a:t> captures only community-pharmacy dispensing and omits over-the-counter sales</a:t>
                </a:r>
                <a:r>
                  <a:rPr lang="en-US" sz="1200" b="0" i="0" kern="1200" dirty="0">
                    <a:solidFill>
                      <a:schemeClr val="tx1"/>
                    </a:solidFill>
                    <a:effectLst/>
                    <a:latin typeface="+mn-lt"/>
                    <a:ea typeface="+mn-ea"/>
                    <a:cs typeface="+mn-cs"/>
                  </a:rPr>
                  <a:t>, which is why the authors supplemented it with wholesale statistics; that OTC gap accounts for the finding that prescriptions explained only ~70% of PEC magnitude. [4][6] The </a:t>
                </a:r>
                <a:r>
                  <a:rPr lang="en-US" sz="1200" b="1" i="0" kern="1200" dirty="0">
                    <a:solidFill>
                      <a:schemeClr val="tx1"/>
                    </a:solidFill>
                    <a:effectLst/>
                    <a:latin typeface="+mn-lt"/>
                    <a:ea typeface="+mn-ea"/>
                    <a:cs typeface="+mn-cs"/>
                  </a:rPr>
                  <a:t>Catalonia and Greece studies use national/regional utilization figures but do not name a specific database platform</a:t>
                </a:r>
                <a:r>
                  <a:rPr lang="en-US" sz="1200" b="0" i="0" kern="1200" dirty="0">
                    <a:solidFill>
                      <a:schemeClr val="tx1"/>
                    </a:solidFill>
                    <a:effectLst/>
                    <a:latin typeface="+mn-lt"/>
                    <a:ea typeface="+mn-ea"/>
                    <a:cs typeface="+mn-cs"/>
                  </a:rPr>
                  <a:t> in the retrieved text, so those should not be attributed to a named registry without verifying the source methods section.</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21"/>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22"/>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3"/>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24"/>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al.RecentObservational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25"/>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12.</a:t>
                </a:r>
              </a:p>
              <a:p>
                <a:r>
                  <a:rPr lang="en-US" sz="1200" b="0" i="0" u="none" strike="noStrike" kern="1200" dirty="0">
                    <a:solidFill>
                      <a:schemeClr val="tx1"/>
                    </a:solidFill>
                    <a:effectLst/>
                    <a:latin typeface="+mn-lt"/>
                    <a:ea typeface="+mn-ea"/>
                    <a:cs typeface="+mn-cs"/>
                    <a:hlinkClick r:id="rId26"/>
                  </a:rPr>
                  <a:t>Assessing the Environmental Impact of Medicines in Italy Using Data From the Italian Medicines Agency.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2025.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a:t>
                </a:r>
                <a:r>
                  <a:rPr lang="en-US" sz="1200" b="0" i="0" kern="1200" dirty="0" err="1">
                    <a:solidFill>
                      <a:schemeClr val="tx1"/>
                    </a:solidFill>
                    <a:effectLst/>
                    <a:latin typeface="+mn-lt"/>
                    <a:ea typeface="+mn-ea"/>
                    <a:cs typeface="+mn-cs"/>
                  </a:rPr>
                  <a:t>Cangini</a:t>
                </a:r>
                <a:r>
                  <a:rPr lang="en-US" sz="1200" b="0" i="0" kern="1200" dirty="0">
                    <a:solidFill>
                      <a:schemeClr val="tx1"/>
                    </a:solidFill>
                    <a:effectLst/>
                    <a:latin typeface="+mn-lt"/>
                    <a:ea typeface="+mn-ea"/>
                    <a:cs typeface="+mn-cs"/>
                  </a:rPr>
                  <a:t> A,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Data source and input type merged into a single column</a:t>
                </a:r>
                <a:r>
                  <a:rPr lang="en-US" sz="1200" b="0" i="0" kern="1200" dirty="0">
                    <a:solidFill>
                      <a:schemeClr val="tx1"/>
                    </a:solidFill>
                    <a:effectLst/>
                    <a:latin typeface="+mn-lt"/>
                    <a:ea typeface="+mn-ea"/>
                    <a:cs typeface="+mn-cs"/>
                  </a:rPr>
                  <a:t> below; all other content is unchanged from the prior version.</a:t>
                </a:r>
              </a:p>
              <a:p>
                <a:pPr fontAlgn="b"/>
                <a:r>
                  <a:rPr lang="en-US" sz="1200" b="1" i="0" kern="1200" dirty="0">
                    <a:solidFill>
                      <a:schemeClr val="tx1"/>
                    </a:solidFill>
                    <a:effectLst/>
                    <a:latin typeface="+mn-lt"/>
                    <a:ea typeface="+mn-ea"/>
                    <a:cs typeface="+mn-cs"/>
                  </a:rPr>
                  <a:t>Study</a:t>
                </a:r>
              </a:p>
              <a:p>
                <a:pPr fontAlgn="b"/>
                <a:r>
                  <a:rPr lang="en-US" sz="1200" b="1" i="0" kern="1200" dirty="0">
                    <a:solidFill>
                      <a:schemeClr val="tx1"/>
                    </a:solidFill>
                    <a:effectLst/>
                    <a:latin typeface="+mn-lt"/>
                    <a:ea typeface="+mn-ea"/>
                    <a:cs typeface="+mn-cs"/>
                  </a:rPr>
                  <a:t>Data source (named + input type)</a:t>
                </a:r>
              </a:p>
              <a:p>
                <a:pPr fontAlgn="b"/>
                <a:r>
                  <a:rPr lang="en-US" sz="1200" b="1" i="0" kern="1200" dirty="0">
                    <a:solidFill>
                      <a:schemeClr val="tx1"/>
                    </a:solidFill>
                    <a:effectLst/>
                    <a:latin typeface="+mn-lt"/>
                    <a:ea typeface="+mn-ea"/>
                    <a:cs typeface="+mn-cs"/>
                  </a:rPr>
                  <a:t>Coverage</a:t>
                </a:r>
              </a:p>
              <a:p>
                <a:pPr fontAlgn="b"/>
                <a:r>
                  <a:rPr lang="en-US" sz="1200" b="1" i="0" kern="1200" dirty="0">
                    <a:solidFill>
                      <a:schemeClr val="tx1"/>
                    </a:solidFill>
                    <a:effectLst/>
                    <a:latin typeface="+mn-lt"/>
                    <a:ea typeface="+mn-ea"/>
                    <a:cs typeface="+mn-cs"/>
                  </a:rPr>
                  <a:t>Key finding (PEC/PNEC)</a:t>
                </a:r>
              </a:p>
              <a:p>
                <a:pPr fontAlgn="b"/>
                <a:r>
                  <a:rPr lang="en-US" sz="1200" b="1" i="0" kern="1200" dirty="0">
                    <a:solidFill>
                      <a:schemeClr val="tx1"/>
                    </a:solidFill>
                    <a:effectLst/>
                    <a:latin typeface="+mn-lt"/>
                    <a:ea typeface="+mn-ea"/>
                    <a:cs typeface="+mn-cs"/>
                  </a:rPr>
                  <a:t>First author, journal, year</a:t>
                </a:r>
              </a:p>
              <a:p>
                <a:r>
                  <a:rPr lang="en-US" sz="1200" b="0" i="0" kern="1200" dirty="0">
                    <a:solidFill>
                      <a:schemeClr val="tx1"/>
                    </a:solidFill>
                    <a:effectLst/>
                    <a:latin typeface="+mn-lt"/>
                    <a:ea typeface="+mn-ea"/>
                    <a:cs typeface="+mn-cs"/>
                  </a:rPr>
                  <a:t>Italy × Stockholm watch-</a:t>
                </a:r>
                <a:r>
                  <a:rPr lang="en-US" sz="1200" b="0" i="0" kern="1200" dirty="0" err="1">
                    <a:solidFill>
                      <a:schemeClr val="tx1"/>
                    </a:solidFill>
                    <a:effectLst/>
                    <a:latin typeface="+mn-lt"/>
                    <a:ea typeface="+mn-ea"/>
                    <a:cs typeface="+mn-cs"/>
                  </a:rPr>
                  <a:t>listOsMed</a:t>
                </a:r>
                <a:r>
                  <a:rPr lang="en-US" sz="1200" b="0" i="0" kern="1200" dirty="0">
                    <a:solidFill>
                      <a:schemeClr val="tx1"/>
                    </a:solidFill>
                    <a:effectLst/>
                    <a:latin typeface="+mn-lt"/>
                    <a:ea typeface="+mn-ea"/>
                    <a:cs typeface="+mn-cs"/>
                  </a:rPr>
                  <a:t> – National Report on Medicines Use, Italian Medicines Agency (AIFA); national reimbursed-prescription utilization statistics [1-2]25 watch-list drugs, 2019–21RQ &gt;1: levonorgestrel, ciprofloxacin, amoxicillin, azithromycin, venlafaxine, sertraline, diclofenac [1]</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Br J Clin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2023</a:t>
                </a:r>
              </a:p>
              <a:p>
                <a:r>
                  <a:rPr lang="en-US" sz="1200" b="0" i="0" kern="1200" dirty="0">
                    <a:solidFill>
                      <a:schemeClr val="tx1"/>
                    </a:solidFill>
                    <a:effectLst/>
                    <a:latin typeface="+mn-lt"/>
                    <a:ea typeface="+mn-ea"/>
                    <a:cs typeface="+mn-cs"/>
                  </a:rPr>
                  <a:t>Catalonia, </a:t>
                </a:r>
                <a:r>
                  <a:rPr lang="en-US" sz="1200" b="0" i="0" kern="1200" dirty="0" err="1">
                    <a:solidFill>
                      <a:schemeClr val="tx1"/>
                    </a:solidFill>
                    <a:effectLst/>
                    <a:latin typeface="+mn-lt"/>
                    <a:ea typeface="+mn-ea"/>
                    <a:cs typeface="+mn-cs"/>
                  </a:rPr>
                  <a:t>SpainNot</a:t>
                </a:r>
                <a:r>
                  <a:rPr lang="en-US" sz="1200" b="0" i="0" kern="1200" dirty="0">
                    <a:solidFill>
                      <a:schemeClr val="tx1"/>
                    </a:solidFill>
                    <a:effectLst/>
                    <a:latin typeface="+mn-lt"/>
                    <a:ea typeface="+mn-ea"/>
                    <a:cs typeface="+mn-cs"/>
                  </a:rPr>
                  <a:t> named in source (regional prescribed-pharmaceutical records, Catalonia); dispensing/reimbursement (claims) [3]810 substances, 2014–21261/810 exceeded EMA 10 ng/L in 2021; rose with water scarcity [3]Domínguez-García, Environ Res, 2025</a:t>
                </a:r>
              </a:p>
              <a:p>
                <a:r>
                  <a:rPr lang="en-US" sz="1200" b="0" i="0" kern="1200" dirty="0" err="1">
                    <a:solidFill>
                      <a:schemeClr val="tx1"/>
                    </a:solidFill>
                    <a:effectLst/>
                    <a:latin typeface="+mn-lt"/>
                    <a:ea typeface="+mn-ea"/>
                    <a:cs typeface="+mn-cs"/>
                  </a:rPr>
                  <a:t>NorwayNorwegian</a:t>
                </a:r>
                <a:r>
                  <a:rPr lang="en-US" sz="1200" b="0" i="0" kern="1200" dirty="0">
                    <a:solidFill>
                      <a:schemeClr val="tx1"/>
                    </a:solidFill>
                    <a:effectLst/>
                    <a:latin typeface="+mn-lt"/>
                    <a:ea typeface="+mn-ea"/>
                    <a:cs typeface="+mn-cs"/>
                  </a:rPr>
                  <a:t> Prescription Database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 NIPH drug wholesale statistics + veterinary sales, Norwegian Institute of Public Health; wholesale + prescription + veterinary sales [4-6]~200 APIs, 2016–1917 APIs RQ &gt;1; levonorgestrel RQ 220, ciprofloxacin RQ 56; prescriptions = 70% of PEC [4]Welch, Environ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Chem, 2023</a:t>
                </a:r>
              </a:p>
              <a:p>
                <a:r>
                  <a:rPr lang="en-US" sz="1200" b="0" i="0" kern="1200" dirty="0" err="1">
                    <a:solidFill>
                      <a:schemeClr val="tx1"/>
                    </a:solidFill>
                    <a:effectLst/>
                    <a:latin typeface="+mn-lt"/>
                    <a:ea typeface="+mn-ea"/>
                    <a:cs typeface="+mn-cs"/>
                  </a:rPr>
                  <a:t>GreeceNot</a:t>
                </a:r>
                <a:r>
                  <a:rPr lang="en-US" sz="1200" b="0" i="0" kern="1200" dirty="0">
                    <a:solidFill>
                      <a:schemeClr val="tx1"/>
                    </a:solidFill>
                    <a:effectLst/>
                    <a:latin typeface="+mn-lt"/>
                    <a:ea typeface="+mn-ea"/>
                    <a:cs typeface="+mn-cs"/>
                  </a:rPr>
                  <a:t> named in source; national antimicrobial consumption statistics [4]24 antimicrobials, 2008–10RQ &gt;1 for 7/24 (algae); amoxicillin, clarithromycin RQ &gt;80 chronic [4]Iatrou, Environ Sci </a:t>
                </a:r>
                <a:r>
                  <a:rPr lang="en-US" sz="1200" b="0" i="0" kern="1200" dirty="0" err="1">
                    <a:solidFill>
                      <a:schemeClr val="tx1"/>
                    </a:solidFill>
                    <a:effectLst/>
                    <a:latin typeface="+mn-lt"/>
                    <a:ea typeface="+mn-ea"/>
                    <a:cs typeface="+mn-cs"/>
                  </a:rPr>
                  <a:t>Pollut</a:t>
                </a:r>
                <a:r>
                  <a:rPr lang="en-US" sz="1200" b="0" i="0" kern="1200" dirty="0">
                    <a:solidFill>
                      <a:schemeClr val="tx1"/>
                    </a:solidFill>
                    <a:effectLst/>
                    <a:latin typeface="+mn-lt"/>
                    <a:ea typeface="+mn-ea"/>
                    <a:cs typeface="+mn-cs"/>
                  </a:rPr>
                  <a:t> Res, 2014</a:t>
                </a:r>
              </a:p>
              <a:p>
                <a:r>
                  <a:rPr lang="en-US" sz="1200" b="0" i="0" kern="1200" dirty="0" err="1">
                    <a:solidFill>
                      <a:schemeClr val="tx1"/>
                    </a:solidFill>
                    <a:effectLst/>
                    <a:latin typeface="+mn-lt"/>
                    <a:ea typeface="+mn-ea"/>
                    <a:cs typeface="+mn-cs"/>
                  </a:rPr>
                  <a:t>AustraliaPharmaceutical</a:t>
                </a:r>
                <a:r>
                  <a:rPr lang="en-US" sz="1200" b="0" i="0" kern="1200" dirty="0">
                    <a:solidFill>
                      <a:schemeClr val="tx1"/>
                    </a:solidFill>
                    <a:effectLst/>
                    <a:latin typeface="+mn-lt"/>
                    <a:ea typeface="+mn-ea"/>
                    <a:cs typeface="+mn-cs"/>
                  </a:rPr>
                  <a:t> Benefits Scheme (PBS), Services Australia; national dispensing (claims) [7-9]Community </a:t>
                </a:r>
                <a:r>
                  <a:rPr lang="en-US" sz="1200" b="0" i="0" kern="1200" dirty="0" err="1">
                    <a:solidFill>
                      <a:schemeClr val="tx1"/>
                    </a:solidFill>
                    <a:effectLst/>
                    <a:latin typeface="+mn-lt"/>
                    <a:ea typeface="+mn-ea"/>
                    <a:cs typeface="+mn-cs"/>
                  </a:rPr>
                  <a:t>antibioticsAmoxicillin</a:t>
                </a:r>
                <a:r>
                  <a:rPr lang="en-US" sz="1200" b="0" i="0" kern="1200" dirty="0">
                    <a:solidFill>
                      <a:schemeClr val="tx1"/>
                    </a:solidFill>
                    <a:effectLst/>
                    <a:latin typeface="+mn-lt"/>
                    <a:ea typeface="+mn-ea"/>
                    <a:cs typeface="+mn-cs"/>
                  </a:rPr>
                  <a:t>, cefalexin, clindamycin, azithromycin, phenoxymethylpenicillin exceed thresholds [7]Day, </a:t>
                </a:r>
                <a:r>
                  <a:rPr lang="en-US" sz="1200" b="0" i="0" kern="1200" dirty="0" err="1">
                    <a:solidFill>
                      <a:schemeClr val="tx1"/>
                    </a:solidFill>
                    <a:effectLst/>
                    <a:latin typeface="+mn-lt"/>
                    <a:ea typeface="+mn-ea"/>
                    <a:cs typeface="+mn-cs"/>
                  </a:rPr>
                  <a:t>Regul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Toxicol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2026</a:t>
                </a:r>
              </a:p>
              <a:p>
                <a:r>
                  <a:rPr lang="en-US" sz="1200" b="0" i="0" kern="1200" dirty="0" err="1">
                    <a:solidFill>
                      <a:schemeClr val="tx1"/>
                    </a:solidFill>
                    <a:effectLst/>
                    <a:latin typeface="+mn-lt"/>
                    <a:ea typeface="+mn-ea"/>
                    <a:cs typeface="+mn-cs"/>
                  </a:rPr>
                  <a:t>IrelandNational</a:t>
                </a:r>
                <a:r>
                  <a:rPr lang="en-US" sz="1200" b="0" i="0" kern="1200" dirty="0">
                    <a:solidFill>
                      <a:schemeClr val="tx1"/>
                    </a:solidFill>
                    <a:effectLst/>
                    <a:latin typeface="+mn-lt"/>
                    <a:ea typeface="+mn-ea"/>
                    <a:cs typeface="+mn-cs"/>
                  </a:rPr>
                  <a:t> human + veterinary antibiotic usage statistics, compiled from published literature; national usage (human + veterinary) [10]6 antibiotic </a:t>
                </a:r>
                <a:r>
                  <a:rPr lang="en-US" sz="1200" b="0" i="0" kern="1200" dirty="0" err="1">
                    <a:solidFill>
                      <a:schemeClr val="tx1"/>
                    </a:solidFill>
                    <a:effectLst/>
                    <a:latin typeface="+mn-lt"/>
                    <a:ea typeface="+mn-ea"/>
                    <a:cs typeface="+mn-cs"/>
                  </a:rPr>
                  <a:t>classesHealthcare</a:t>
                </a:r>
                <a:r>
                  <a:rPr lang="en-US" sz="1200" b="0" i="0" kern="1200" dirty="0">
                    <a:solidFill>
                      <a:schemeClr val="tx1"/>
                    </a:solidFill>
                    <a:effectLst/>
                    <a:latin typeface="+mn-lt"/>
                    <a:ea typeface="+mn-ea"/>
                    <a:cs typeface="+mn-cs"/>
                  </a:rPr>
                  <a:t> RQ &gt; agriculture; macrolides and penicillins highest [10]Monahan, Sci Total Environ, 2022</a:t>
                </a:r>
              </a:p>
              <a:p>
                <a:r>
                  <a:rPr lang="en-US" sz="1200" b="0" i="0" kern="1200" dirty="0">
                    <a:solidFill>
                      <a:schemeClr val="tx1"/>
                    </a:solidFill>
                    <a:effectLst/>
                    <a:latin typeface="+mn-lt"/>
                    <a:ea typeface="+mn-ea"/>
                    <a:cs typeface="+mn-cs"/>
                  </a:rPr>
                  <a:t>[1-11]</a:t>
                </a:r>
              </a:p>
              <a:p>
                <a:r>
                  <a:rPr lang="en-US" sz="1200" b="0" i="0" kern="1200" dirty="0">
                    <a:solidFill>
                      <a:schemeClr val="tx1"/>
                    </a:solidFill>
                    <a:effectLst/>
                    <a:latin typeface="+mn-lt"/>
                    <a:ea typeface="+mn-ea"/>
                    <a:cs typeface="+mn-cs"/>
                  </a:rPr>
                  <a:t>Would you like to compare how completely </a:t>
                </a:r>
                <a:r>
                  <a:rPr lang="en-US" sz="1200" b="0" i="0" kern="1200" dirty="0" err="1">
                    <a:solidFill>
                      <a:schemeClr val="tx1"/>
                    </a:solidFill>
                    <a:effectLst/>
                    <a:latin typeface="+mn-lt"/>
                    <a:ea typeface="+mn-ea"/>
                    <a:cs typeface="+mn-cs"/>
                  </a:rPr>
                  <a:t>OsMed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NorPD</a:t>
                </a:r>
                <a:r>
                  <a:rPr lang="en-US" sz="1200" b="0" i="0" kern="1200" dirty="0">
                    <a:solidFill>
                      <a:schemeClr val="tx1"/>
                    </a:solidFill>
                    <a:effectLst/>
                    <a:latin typeface="+mn-lt"/>
                    <a:ea typeface="+mn-ea"/>
                    <a:cs typeface="+mn-cs"/>
                  </a:rPr>
                  <a:t>, and PBS capture total drug mass entering wastewater, including OTC and hospital use?</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6"/>
                  </a:rPr>
                  <a:t>Effectiveness and Limitations of Environmental Risk Assessments to Identify Antibiotics of Greatest Concern in Australia.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Regulatory Toxicology and Pharmacology : RTP. 2026. Day I, </a:t>
                </a:r>
                <a:r>
                  <a:rPr lang="en-US" sz="1200" b="0" i="0" kern="1200" dirty="0" err="1">
                    <a:solidFill>
                      <a:schemeClr val="tx1"/>
                    </a:solidFill>
                    <a:effectLst/>
                    <a:latin typeface="+mn-lt"/>
                    <a:ea typeface="+mn-ea"/>
                    <a:cs typeface="+mn-cs"/>
                  </a:rPr>
                  <a:t>Hensher</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21"/>
                  </a:rPr>
                  <a:t>High Prevalence of Poor Quality Drug Prescribing in Older Individuals: A Nationwide Report From the Italian Medicines Agency (AIFA).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Journals of Gerontology. Series A, Biological Sciences and Medical Sciences. 2014. Onder G, </a:t>
                </a:r>
                <a:r>
                  <a:rPr lang="en-US" sz="1200" b="0" i="0" kern="1200" dirty="0" err="1">
                    <a:solidFill>
                      <a:schemeClr val="tx1"/>
                    </a:solidFill>
                    <a:effectLst/>
                    <a:latin typeface="+mn-lt"/>
                    <a:ea typeface="+mn-ea"/>
                    <a:cs typeface="+mn-cs"/>
                  </a:rPr>
                  <a:t>Bonassi</a:t>
                </a:r>
                <a:r>
                  <a:rPr lang="en-US" sz="1200" b="0" i="0" kern="1200" dirty="0">
                    <a:solidFill>
                      <a:schemeClr val="tx1"/>
                    </a:solidFill>
                    <a:effectLst/>
                    <a:latin typeface="+mn-lt"/>
                    <a:ea typeface="+mn-ea"/>
                    <a:cs typeface="+mn-cs"/>
                  </a:rPr>
                  <a:t> S, </a:t>
                </a:r>
                <a:r>
                  <a:rPr lang="en-US" sz="1200" b="0" i="0" kern="1200" dirty="0" err="1">
                    <a:solidFill>
                      <a:schemeClr val="tx1"/>
                    </a:solidFill>
                    <a:effectLst/>
                    <a:latin typeface="+mn-lt"/>
                    <a:ea typeface="+mn-ea"/>
                    <a:cs typeface="+mn-cs"/>
                  </a:rPr>
                  <a:t>Abbatecola</a:t>
                </a:r>
                <a:r>
                  <a:rPr lang="en-US" sz="1200" b="0" i="0" kern="1200" dirty="0">
                    <a:solidFill>
                      <a:schemeClr val="tx1"/>
                    </a:solidFill>
                    <a:effectLst/>
                    <a:latin typeface="+mn-lt"/>
                    <a:ea typeface="+mn-ea"/>
                    <a:cs typeface="+mn-cs"/>
                  </a:rPr>
                  <a:t> AM, et al.</a:t>
                </a:r>
              </a:p>
              <a:p>
                <a:r>
                  <a:rPr lang="en-US" sz="1200" b="0" i="0" kern="1200" dirty="0">
                    <a:solidFill>
                      <a:schemeClr val="tx1"/>
                    </a:solidFill>
                    <a:effectLst/>
                    <a:latin typeface="+mn-lt"/>
                    <a:ea typeface="+mn-ea"/>
                    <a:cs typeface="+mn-cs"/>
                  </a:rPr>
                  <a:t>8.</a:t>
                </a:r>
              </a:p>
              <a:p>
                <a:r>
                  <a:rPr lang="en-US" sz="1200" b="0" i="0" u="none" strike="noStrike" kern="1200" dirty="0">
                    <a:solidFill>
                      <a:schemeClr val="tx1"/>
                    </a:solidFill>
                    <a:effectLst/>
                    <a:latin typeface="+mn-lt"/>
                    <a:ea typeface="+mn-ea"/>
                    <a:cs typeface="+mn-cs"/>
                    <a:hlinkClick r:id="rId22"/>
                  </a:rPr>
                  <a:t>Low‐dose naltrexone and opioid consumption: a drug utilization cohort study based on data from the Norwegian prescription database.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2017. Raknes G, </a:t>
                </a:r>
                <a:r>
                  <a:rPr lang="en-US" sz="1200" b="0" i="0" kern="1200" dirty="0" err="1">
                    <a:solidFill>
                      <a:schemeClr val="tx1"/>
                    </a:solidFill>
                    <a:effectLst/>
                    <a:latin typeface="+mn-lt"/>
                    <a:ea typeface="+mn-ea"/>
                    <a:cs typeface="+mn-cs"/>
                  </a:rPr>
                  <a:t>Småbrekke</a:t>
                </a:r>
                <a:r>
                  <a:rPr lang="en-US" sz="1200" b="0" i="0" kern="1200" dirty="0">
                    <a:solidFill>
                      <a:schemeClr val="tx1"/>
                    </a:solidFill>
                    <a:effectLst/>
                    <a:latin typeface="+mn-lt"/>
                    <a:ea typeface="+mn-ea"/>
                    <a:cs typeface="+mn-cs"/>
                  </a:rPr>
                  <a:t> L.</a:t>
                </a:r>
              </a:p>
              <a:p>
                <a:r>
                  <a:rPr lang="en-US" sz="1200" b="0" i="0" kern="1200" dirty="0">
                    <a:solidFill>
                      <a:schemeClr val="tx1"/>
                    </a:solidFill>
                    <a:effectLst/>
                    <a:latin typeface="+mn-lt"/>
                    <a:ea typeface="+mn-ea"/>
                    <a:cs typeface="+mn-cs"/>
                  </a:rPr>
                  <a:t>9.</a:t>
                </a:r>
              </a:p>
              <a:p>
                <a:r>
                  <a:rPr lang="en-US" sz="1200" b="0" i="0" u="none" strike="noStrike" kern="1200" dirty="0">
                    <a:solidFill>
                      <a:schemeClr val="tx1"/>
                    </a:solidFill>
                    <a:effectLst/>
                    <a:latin typeface="+mn-lt"/>
                    <a:ea typeface="+mn-ea"/>
                    <a:cs typeface="+mn-cs"/>
                    <a:hlinkClick r:id="rId23"/>
                  </a:rPr>
                  <a:t>Concomitant use of anti‐dementia drugs with psychotropic drugs in Norway—a population‐based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2011. Langballe EM, Engdahl B, </a:t>
                </a:r>
                <a:r>
                  <a:rPr lang="en-US" sz="1200" b="0" i="0" kern="1200" dirty="0" err="1">
                    <a:solidFill>
                      <a:schemeClr val="tx1"/>
                    </a:solidFill>
                    <a:effectLst/>
                    <a:latin typeface="+mn-lt"/>
                    <a:ea typeface="+mn-ea"/>
                    <a:cs typeface="+mn-cs"/>
                  </a:rPr>
                  <a:t>Selbaek</a:t>
                </a:r>
                <a:r>
                  <a:rPr lang="en-US" sz="1200" b="0" i="0" kern="1200" dirty="0">
                    <a:solidFill>
                      <a:schemeClr val="tx1"/>
                    </a:solidFill>
                    <a:effectLst/>
                    <a:latin typeface="+mn-lt"/>
                    <a:ea typeface="+mn-ea"/>
                    <a:cs typeface="+mn-cs"/>
                  </a:rPr>
                  <a:t> G, Nordeng H.</a:t>
                </a:r>
              </a:p>
              <a:p>
                <a:r>
                  <a:rPr lang="en-US" sz="1200" b="0" i="0" kern="1200" dirty="0">
                    <a:solidFill>
                      <a:schemeClr val="tx1"/>
                    </a:solidFill>
                    <a:effectLst/>
                    <a:latin typeface="+mn-lt"/>
                    <a:ea typeface="+mn-ea"/>
                    <a:cs typeface="+mn-cs"/>
                  </a:rPr>
                  <a:t>10.</a:t>
                </a:r>
              </a:p>
              <a:p>
                <a:r>
                  <a:rPr lang="en-US" sz="1200" b="0" i="0" u="none" strike="noStrike" kern="1200" dirty="0">
                    <a:solidFill>
                      <a:schemeClr val="tx1"/>
                    </a:solidFill>
                    <a:effectLst/>
                    <a:latin typeface="+mn-lt"/>
                    <a:ea typeface="+mn-ea"/>
                    <a:cs typeface="+mn-cs"/>
                    <a:hlinkClick r:id="rId24"/>
                  </a:rPr>
                  <a:t>Changes in the Dispensing of Antibiotics to Australian Children Between 2013 and 2023: Are We Heading in the Right Direction?</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Paediatric</a:t>
                </a:r>
                <a:r>
                  <a:rPr lang="en-US" sz="1200" b="0" i="0" kern="1200" dirty="0">
                    <a:solidFill>
                      <a:schemeClr val="tx1"/>
                    </a:solidFill>
                    <a:effectLst/>
                    <a:latin typeface="+mn-lt"/>
                    <a:ea typeface="+mn-ea"/>
                    <a:cs typeface="+mn-cs"/>
                  </a:rPr>
                  <a:t> and Perinatal Epidemiology. 2026. Kelty E, Tairy E, Sims S, et </a:t>
                </a:r>
                <a:r>
                  <a:rPr lang="en-US" sz="1200" b="0" i="0" kern="1200" dirty="0" err="1">
                    <a:solidFill>
                      <a:schemeClr val="tx1"/>
                    </a:solidFill>
                    <a:effectLst/>
                    <a:latin typeface="+mn-lt"/>
                    <a:ea typeface="+mn-ea"/>
                    <a:cs typeface="+mn-cs"/>
                  </a:rPr>
                  <a:t>al.Observational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11.</a:t>
                </a:r>
              </a:p>
              <a:p>
                <a:r>
                  <a:rPr lang="en-US" sz="1200" b="0" i="0" u="none" strike="noStrike" kern="1200" dirty="0">
                    <a:solidFill>
                      <a:schemeClr val="tx1"/>
                    </a:solidFill>
                    <a:effectLst/>
                    <a:latin typeface="+mn-lt"/>
                    <a:ea typeface="+mn-ea"/>
                    <a:cs typeface="+mn-cs"/>
                    <a:hlinkClick r:id="rId25"/>
                  </a:rPr>
                  <a:t>Medicine utilization studies in Australian individual‐level dispensing data: A blinded, multi‐center replicated analysis.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Pharmacoepidemiology and Drug Safety. 2024. Gillies MB, Bharat C, Camacho X, et al.</a:t>
                </a:r>
              </a:p>
              <a:p>
                <a:r>
                  <a:rPr lang="en-US" sz="1200" b="0" i="0" kern="1200" dirty="0">
                    <a:solidFill>
                      <a:schemeClr val="tx1"/>
                    </a:solidFill>
                    <a:effectLst/>
                    <a:latin typeface="+mn-lt"/>
                    <a:ea typeface="+mn-ea"/>
                    <a:cs typeface="+mn-cs"/>
                  </a:rPr>
                  <a:t>Analyzed query</a:t>
                </a:r>
              </a:p>
              <a:p>
                <a:r>
                  <a:rPr lang="en-US" sz="1200" b="1" i="0" kern="1200" dirty="0">
                    <a:solidFill>
                      <a:schemeClr val="tx1"/>
                    </a:solidFill>
                    <a:effectLst/>
                    <a:latin typeface="+mn-lt"/>
                    <a:ea typeface="+mn-ea"/>
                    <a:cs typeface="+mn-cs"/>
                  </a:rPr>
                  <a:t>The shared research question</a:t>
                </a:r>
                <a:r>
                  <a:rPr lang="en-US" sz="1200" b="0" i="0" kern="1200" dirty="0">
                    <a:solidFill>
                      <a:schemeClr val="tx1"/>
                    </a:solidFill>
                    <a:effectLst/>
                    <a:latin typeface="+mn-lt"/>
                    <a:ea typeface="+mn-ea"/>
                    <a:cs typeface="+mn-cs"/>
                  </a:rPr>
                  <a:t> across these studies is: which pharmaceuticals, based on how much of each drug a population actually uses, pose the greatest risk to the aquatic environment—and can large-scale drug utilization data substitute for costly environmental sampling to identify and prioritize those substances? Each study operationalizes this slightly differently (screening a national formulary, a pre-set watch-list, antibiotics only, or human vs. veterinary sources), but all ask the same underlying question: can consumption/dispensing data reliably predict environmental risk and rank drugs of concern. [1-4]</a:t>
                </a:r>
              </a:p>
              <a:p>
                <a:r>
                  <a:rPr lang="en-US" sz="1200" b="1" i="0" kern="1200" dirty="0">
                    <a:solidFill>
                      <a:schemeClr val="tx1"/>
                    </a:solidFill>
                    <a:effectLst/>
                    <a:latin typeface="+mn-lt"/>
                    <a:ea typeface="+mn-ea"/>
                    <a:cs typeface="+mn-cs"/>
                  </a:rPr>
                  <a:t>The common method is the consumption-driven PEC/PNEC (risk quotient) approach</a:t>
                </a:r>
                <a:r>
                  <a:rPr lang="en-US" sz="1200" b="0" i="0" kern="1200" dirty="0">
                    <a:solidFill>
                      <a:schemeClr val="tx1"/>
                    </a:solidFill>
                    <a:effectLst/>
                    <a:latin typeface="+mn-lt"/>
                    <a:ea typeface="+mn-ea"/>
                    <a:cs typeface="+mn-cs"/>
                  </a:rPr>
                  <a:t>, which proceeds in four steps shared across all six studies:</a:t>
                </a:r>
              </a:p>
              <a:p>
                <a:pPr lvl="0"/>
                <a:r>
                  <a:rPr lang="en-US" sz="1200" b="1" i="0" kern="1200" dirty="0">
                    <a:solidFill>
                      <a:schemeClr val="tx1"/>
                    </a:solidFill>
                    <a:effectLst/>
                    <a:latin typeface="+mn-lt"/>
                    <a:ea typeface="+mn-ea"/>
                    <a:cs typeface="+mn-cs"/>
                  </a:rPr>
                  <a:t>Quantify drug mass used.</a:t>
                </a:r>
                <a:r>
                  <a:rPr lang="en-US" sz="1200" b="0" i="0" kern="1200" dirty="0">
                    <a:solidFill>
                      <a:schemeClr val="tx1"/>
                    </a:solidFill>
                    <a:effectLst/>
                    <a:latin typeface="+mn-lt"/>
                    <a:ea typeface="+mn-ea"/>
                    <a:cs typeface="+mn-cs"/>
                  </a:rPr>
                  <a:t> Aggregate utilization data (dispensing/claims, wholesale/sales, or national consumption statistics) are converted to total kilograms of active pharmaceutical ingredient consumed per population per year. [1-2][4]</a:t>
                </a:r>
              </a:p>
              <a:p>
                <a:pPr lvl="0"/>
                <a:r>
                  <a:rPr lang="en-US" sz="1200" b="1" i="0" kern="1200" dirty="0">
                    <a:solidFill>
                      <a:schemeClr val="tx1"/>
                    </a:solidFill>
                    <a:effectLst/>
                    <a:latin typeface="+mn-lt"/>
                    <a:ea typeface="+mn-ea"/>
                    <a:cs typeface="+mn-cs"/>
                  </a:rPr>
                  <a:t>Estimate the environmental concentration (PEC).</a:t>
                </a:r>
                <a:r>
                  <a:rPr lang="en-US" sz="1200" b="0" i="0" kern="1200" dirty="0">
                    <a:solidFill>
                      <a:schemeClr val="tx1"/>
                    </a:solidFill>
                    <a:effectLst/>
                    <a:latin typeface="+mn-lt"/>
                    <a:ea typeface="+mn-ea"/>
                    <a:cs typeface="+mn-cs"/>
                  </a:rPr>
                  <a:t> The consumed mass is multiplied by a fraction excreted unchanged (from literature), reduced by wastewater-treatment removal efficiency, then divided by wastewater volume and a dilution factor to yield a predicted concentration in effluent or receiving surface water. [1-2][4]</a:t>
                </a:r>
              </a:p>
              <a:p>
                <a:r>
                  <a:rPr lang="en-US" sz="1200" i="0" kern="1200">
                    <a:solidFill>
                      <a:schemeClr val="tx1"/>
                    </a:solidFill>
                    <a:latin typeface="+mn-lt"/>
                    <a:ea typeface="+mn-ea"/>
                    <a:cs typeface="+mn-cs"/>
                  </a:rPr>
                  <a:t>𝑃𝐸𝐶=(</a:t>
                </a:r>
                <a:r>
                  <a:rPr lang="en-US" sz="1200" b="0" i="0" kern="1200">
                    <a:solidFill>
                      <a:schemeClr val="tx1"/>
                    </a:solidFill>
                    <a:latin typeface="+mn-lt"/>
                    <a:ea typeface="+mn-ea"/>
                    <a:cs typeface="+mn-cs"/>
                  </a:rPr>
                  <a:t>"Mass consumed" ×𝐹_𝑒𝑥𝑐𝑟𝑒𝑡𝑖𝑜𝑛×(1−𝑅_𝑟𝑒𝑚𝑜𝑣𝑎𝑙 ))/("Wastewater volume" ×"Dilution" )</a:t>
                </a:r>
                <a:endParaRPr lang="en-US" b="0" dirty="0"/>
              </a:p>
              <a:p>
                <a:pPr lvl="0"/>
                <a:r>
                  <a:rPr lang="en-US" sz="1200" b="1" i="0" kern="1200" dirty="0">
                    <a:solidFill>
                      <a:schemeClr val="tx1"/>
                    </a:solidFill>
                    <a:effectLst/>
                    <a:latin typeface="+mn-lt"/>
                    <a:ea typeface="+mn-ea"/>
                    <a:cs typeface="+mn-cs"/>
                  </a:rPr>
                  <a:t>Define the safe threshold (PNEC).</a:t>
                </a:r>
                <a:r>
                  <a:rPr lang="en-US" sz="1200" b="0" i="0" kern="1200" dirty="0">
                    <a:solidFill>
                      <a:schemeClr val="tx1"/>
                    </a:solidFill>
                    <a:effectLst/>
                    <a:latin typeface="+mn-lt"/>
                    <a:ea typeface="+mn-ea"/>
                    <a:cs typeface="+mn-cs"/>
                  </a:rPr>
                  <a:t> A predicted no-effect concentration is drawn from ecotoxicity data—experimental endpoints, external watch-lists (e.g., Region Stockholm), QSAR/ECOSAR predictions, or MIC-based cutoffs for antibiotics. [1-2][4]</a:t>
                </a:r>
              </a:p>
              <a:p>
                <a:pPr lvl="0"/>
                <a:r>
                  <a:rPr lang="en-US" sz="1200" b="1" i="0" kern="1200" dirty="0">
                    <a:solidFill>
                      <a:schemeClr val="tx1"/>
                    </a:solidFill>
                    <a:effectLst/>
                    <a:latin typeface="+mn-lt"/>
                    <a:ea typeface="+mn-ea"/>
                    <a:cs typeface="+mn-cs"/>
                  </a:rPr>
                  <a:t>Compute and rank the risk quotient.</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𝑅𝑄=𝑃𝐸𝐶/𝑃𝑁𝐸𝐶</a:t>
                </a:r>
                <a:r>
                  <a:rPr lang="en-US" sz="1200" b="0" i="0" kern="1200" dirty="0">
                    <a:solidFill>
                      <a:schemeClr val="tx1"/>
                    </a:solidFill>
                    <a:effectLst/>
                    <a:latin typeface="+mn-lt"/>
                    <a:ea typeface="+mn-ea"/>
                    <a:cs typeface="+mn-cs"/>
                  </a:rPr>
                  <a:t>; an </a:t>
                </a:r>
                <a:r>
                  <a:rPr lang="en-US" sz="1200" i="0" kern="1200">
                    <a:solidFill>
                      <a:schemeClr val="tx1"/>
                    </a:solidFill>
                    <a:latin typeface="+mn-lt"/>
                    <a:ea typeface="+mn-ea"/>
                    <a:cs typeface="+mn-cs"/>
                  </a:rPr>
                  <a:t>𝑅𝑄≥1</a:t>
                </a:r>
                <a:r>
                  <a:rPr lang="en-US" sz="1200" b="0" i="0" kern="1200" dirty="0">
                    <a:solidFill>
                      <a:schemeClr val="tx1"/>
                    </a:solidFill>
                    <a:effectLst/>
                    <a:latin typeface="+mn-lt"/>
                    <a:ea typeface="+mn-ea"/>
                    <a:cs typeface="+mn-cs"/>
                  </a:rPr>
                  <a:t> flags potential environmental risk, and drugs are ranked to prioritize the highest-risk substances. Several studies extend the base method with sensitivity analyses, spatial/seasonal variation (e.g., water-scarcity adjustment), persistence/bioaccumulation flags, or validation against measured concentrations. [1-5]</a:t>
                </a:r>
              </a:p>
              <a:p>
                <a:r>
                  <a:rPr lang="en-US" sz="1200" b="1" i="0" kern="1200" dirty="0">
                    <a:solidFill>
                      <a:schemeClr val="tx1"/>
                    </a:solidFill>
                    <a:effectLst/>
                    <a:latin typeface="+mn-lt"/>
                    <a:ea typeface="+mn-ea"/>
                    <a:cs typeface="+mn-cs"/>
                  </a:rPr>
                  <a:t>Key common assumptions and shared limitations.</a:t>
                </a:r>
                <a:r>
                  <a:rPr lang="en-US" sz="1200" b="0" i="0" kern="1200" dirty="0">
                    <a:solidFill>
                      <a:schemeClr val="tx1"/>
                    </a:solidFill>
                    <a:effectLst/>
                    <a:latin typeface="+mn-lt"/>
                    <a:ea typeface="+mn-ea"/>
                    <a:cs typeface="+mn-cs"/>
                  </a:rPr>
                  <a:t> All rely on literature-derived excretion fractions and generic WWTP removal rates rather than site-specific measurement; all treat utilization data as a proxy for the mass actually reaching wastewater, so all are limited by gaps in that data—chiefly over-the-counter, hospital, and (where not included) veterinary supply, plus the exclusion of metabolites and conjugate back-transformation. The Norway validation showed the approach tends to over-predict risk relative to measured concentrations, underscoring that these are conservative screening/prioritization tools, not exposure measurements. [2][4]</a:t>
                </a:r>
              </a:p>
              <a:p>
                <a:r>
                  <a:rPr lang="en-US" sz="1200" b="0" i="0" kern="1200" dirty="0">
                    <a:solidFill>
                      <a:schemeClr val="tx1"/>
                    </a:solidFill>
                    <a:effectLst/>
                    <a:latin typeface="+mn-lt"/>
                    <a:ea typeface="+mn-ea"/>
                    <a:cs typeface="+mn-cs"/>
                  </a:rPr>
                  <a:t>Would you like to explore how closely these consumption-based PEC estimates match measured environmental concentrations?</a:t>
                </a: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15"/>
                  </a:rPr>
                  <a:t>Consumption-Based Approach for Predicting Environmental Risk in Greece Due to the Presence of Antimicrobials in Domestic Wastewater.</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2014. Iatrou EI, </a:t>
                </a:r>
                <a:r>
                  <a:rPr lang="en-US" sz="1200" b="0" i="0" kern="1200" dirty="0" err="1">
                    <a:solidFill>
                      <a:schemeClr val="tx1"/>
                    </a:solidFill>
                    <a:effectLst/>
                    <a:latin typeface="+mn-lt"/>
                    <a:ea typeface="+mn-ea"/>
                    <a:cs typeface="+mn-cs"/>
                  </a:rPr>
                  <a:t>Stasinakis</a:t>
                </a:r>
                <a:r>
                  <a:rPr lang="en-US" sz="1200" b="0" i="0" kern="1200" dirty="0">
                    <a:solidFill>
                      <a:schemeClr val="tx1"/>
                    </a:solidFill>
                    <a:effectLst/>
                    <a:latin typeface="+mn-lt"/>
                    <a:ea typeface="+mn-ea"/>
                    <a:cs typeface="+mn-cs"/>
                  </a:rPr>
                  <a:t> AS, Thomaidis NS.</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18"/>
                  </a:rPr>
                  <a:t>The Environmental Impact of Pharmaceuticals in Italy: Integrating Healthcare and Eco-Toxicological Data to Assess and Potentially Mitigate Their Diffusion to Water Supplies.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Clinical Pharmacology. 2023. </a:t>
                </a:r>
                <a:r>
                  <a:rPr lang="en-US" sz="1200" b="0" i="0" kern="1200" dirty="0" err="1">
                    <a:solidFill>
                      <a:schemeClr val="tx1"/>
                    </a:solidFill>
                    <a:effectLst/>
                    <a:latin typeface="+mn-lt"/>
                    <a:ea typeface="+mn-ea"/>
                    <a:cs typeface="+mn-cs"/>
                  </a:rPr>
                  <a:t>Giunchi</a:t>
                </a:r>
                <a:r>
                  <a:rPr lang="en-US" sz="1200" b="0" i="0" kern="1200" dirty="0">
                    <a:solidFill>
                      <a:schemeClr val="tx1"/>
                    </a:solidFill>
                    <a:effectLst/>
                    <a:latin typeface="+mn-lt"/>
                    <a:ea typeface="+mn-ea"/>
                    <a:cs typeface="+mn-cs"/>
                  </a:rPr>
                  <a:t> V, </a:t>
                </a:r>
                <a:r>
                  <a:rPr lang="en-US" sz="1200" b="0" i="0" kern="1200" dirty="0" err="1">
                    <a:solidFill>
                      <a:schemeClr val="tx1"/>
                    </a:solidFill>
                    <a:effectLst/>
                    <a:latin typeface="+mn-lt"/>
                    <a:ea typeface="+mn-ea"/>
                    <a:cs typeface="+mn-cs"/>
                  </a:rPr>
                  <a:t>Fusaroli</a:t>
                </a:r>
                <a:r>
                  <a:rPr lang="en-US" sz="1200" b="0" i="0" kern="1200" dirty="0">
                    <a:solidFill>
                      <a:schemeClr val="tx1"/>
                    </a:solidFill>
                    <a:effectLst/>
                    <a:latin typeface="+mn-lt"/>
                    <a:ea typeface="+mn-ea"/>
                    <a:cs typeface="+mn-cs"/>
                  </a:rPr>
                  <a:t> M, Linder E, et al.</a:t>
                </a: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19"/>
                  </a:rPr>
                  <a:t>Predicted Environmental Concentrations to Prioritize and Determine Geographical and Temporal Variation of 810 Pharmaceuticals in Wastewaters and Rivers.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2025. Domínguez-García P, Rodríguez N, Moreno A, Lacorte S, Gómez-Canela C.</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20"/>
                  </a:rPr>
                  <a:t>Predicting Environmental Risks of Pharmaceuticals From Wholesale Data: An Example From Norway.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Toxicology and Chemistry. 2023. Welch SA, Moe SJ, </a:t>
                </a:r>
                <a:r>
                  <a:rPr lang="en-US" sz="1200" b="0" i="0" kern="1200" dirty="0" err="1">
                    <a:solidFill>
                      <a:schemeClr val="tx1"/>
                    </a:solidFill>
                    <a:effectLst/>
                    <a:latin typeface="+mn-lt"/>
                    <a:ea typeface="+mn-ea"/>
                    <a:cs typeface="+mn-cs"/>
                  </a:rPr>
                  <a:t>Sharikabad</a:t>
                </a:r>
                <a:r>
                  <a:rPr lang="en-US" sz="1200" b="0" i="0" kern="1200" dirty="0">
                    <a:solidFill>
                      <a:schemeClr val="tx1"/>
                    </a:solidFill>
                    <a:effectLst/>
                    <a:latin typeface="+mn-lt"/>
                    <a:ea typeface="+mn-ea"/>
                    <a:cs typeface="+mn-cs"/>
                  </a:rPr>
                  <a:t> MN, et al.</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17"/>
                  </a:rPr>
                  <a:t>A Comparative Risk Ranking of Antibiotic Pollution From Human and Veterinary Antibiotic Usage - An Irish Case Study.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Science of the Total Environment. 2022. Monahan C, Harris S, Morris D, Cummins E.</a:t>
                </a:r>
              </a:p>
              <a:p>
                <a:endParaRPr lang="en-US" dirty="0"/>
              </a:p>
            </p:txBody>
          </p:sp>
        </mc:Fallback>
      </mc:AlternateContent>
    </p:spTree>
    <p:extLst>
      <p:ext uri="{BB962C8B-B14F-4D97-AF65-F5344CB8AC3E}">
        <p14:creationId xmlns:p14="http://schemas.microsoft.com/office/powerpoint/2010/main" val="425406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estimate country-specific environmental risk of pharmaceuticals by linking real-world drug-utilization (consumption) data to ecotoxicological effect thresholds, following the tiered ERA framework of the EMA (Straub, Toxicology Letters, 2002). Worked example: Giunchi, Villen, Wettermark et al., British Journal of Clinical Pharmacology, 2023.
EMA tiered ERA logic (shared backbone): Phase I screening calculates a worst-case PEC from a default market-penetration factor; substances above an action limit proceed. Phase II refinement replaces defaults with real consumption, excretion, removal, and dilution data, and compares PEC with a PNEC.
Refinement using drug-utilization data (the common method): major studies (Pereira 2017; Welch et al., Norway wholesale data, 2023; Cannata 2024; Dominguez-Garcia 2025) all replace the EMA default penetration factor with measured national consumption (prescriptions, sales, wholesale, or DDD): the single most influential input to PEC. This is where pharmacoepidemiology/drug-utilization data enter the environmental model.
Prioritization: the Giunchi/Villen analysis begins from a predefined watch-list of 25 environmentally hazardous pharmaceuticals (Region Stockholm) rather than screening all marketed drugs.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FE473-0414-9E89-E1F2-E14155983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4F970-C606-4221-7BAF-8C57B35F7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F47A9F-13A8-CF99-D981-141977BF3FAD}"/>
              </a:ext>
            </a:extLst>
          </p:cNvPr>
          <p:cNvSpPr>
            <a:spLocks noGrp="1"/>
          </p:cNvSpPr>
          <p:nvPr>
            <p:ph type="body" idx="1"/>
          </p:nvPr>
        </p:nvSpPr>
        <p:spPr/>
        <p:txBody>
          <a:bodyPr/>
          <a:lstStyle/>
          <a:p>
            <a:r>
              <a:rPr lang="en-US" dirty="0"/>
              <a:t>Objective: estimate country-specific environmental risk of pharmaceuticals by linking real-world drug-utilization (consumption) data to ecotoxicological effect thresholds, following the tiered ERA framework of the EMA (Straub, Toxicology Letters, 2002). Worked example: Giunchi, Villen, Wettermark et al., British Journal of Clinical Pharmacology, 2023.
EMA tiered ERA logic (shared backbone): Phase I screening calculates a worst-case PEC from a default market-penetration factor; substances above an action limit proceed. Phase II refinement replaces defaults with real consumption, excretion, removal, and dilution data, and compares PEC with a PNEC.
Refinement using drug-utilization data (the common method): major studies (Pereira 2017; Welch et al., Norway wholesale data, 2023; Cannata 2024; Dominguez-Garcia 2025) all replace the EMA default penetration factor with measured national consumption (prescriptions, sales, wholesale, or DDD): the single most influential input to PEC. This is where pharmacoepidemiology/drug-utilization data enter the environmental model.
Prioritization: the Giunchi/Villen analysis begins from a predefined watch-list of 25 environmentally hazardous pharmaceuticals (Region Stockholm) rather than screening all marketed drugs.</a:t>
            </a:r>
          </a:p>
        </p:txBody>
      </p:sp>
      <p:sp>
        <p:nvSpPr>
          <p:cNvPr id="4" name="Slide Number Placeholder 3">
            <a:extLst>
              <a:ext uri="{FF2B5EF4-FFF2-40B4-BE49-F238E27FC236}">
                <a16:creationId xmlns:a16="http://schemas.microsoft.com/office/drawing/2014/main" id="{1B45E3AB-0546-0EB4-1711-9E5039E72B3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88816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WBE is: analyzes human metabolic excretion products (parent drugs + metabolites) in influent wastewater to back-calculate population-level consumption in near-real time, with high spatial/temporal resolution (Boogaerts, STOTEN, 2021). Measured population-normalized daily loads (mg/day/1000 inhabitants) are converted to consumption using excretion/metabolism correction factors and the served population: the inverse of the excretion step in the PEC model (Escola Casas, Environment International, 2021).
How it strengthens PEC/PNEC: (1) Validates or replaces the consumption input A: WBE-derived consumption shows good agreement with prescription/dispensing data (MC/DC 0.8 to 1.2 for 11 of 17 drugs in Spain), an independent check on the most influential PEC parameter (Fontanals, STOTEN, 2024; Escola Casas 2021). (2) Captures OTC/non-prescription use that dispensing misses: acetaminophen, ibuprofen, naproxen loads greatly exceed prescribed amounts (Escola Casas 2021). (3) Anchors models to reality: measured influent loads and inverse catchment-scale modeling refine excretion/removal assumptions and reduce systematic over-/under-estimation of predictive PECs (Boxall, Environment International, 2014). (4) Triangulation: WBE cross-checks pharmacoepidemiology data and tracks intervention impact over time (Boogaerts 2021).
Caveats: back-calculation uncertainty (excretion fractions, in-sewer stability/deconjugation, population estimates); WBE complements rather than replaces prescription-based utilization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standardized quantitative method to measure the environmental burden of a product, process, or service across its full life cycle (cradle-to-grave), enabling data-driven comparison of options that perform the same function (McGinnis, Obstetrical &amp; Gynecological Survey, 2021). Governed by ISO 14040/14044, in four iterative phases (McGinnis 2021; Zecha, IJERPH, 2026).
Four ISO phases: (1) Goal &amp; scope: define the question, the functional unit (e.g., disposal of 1 kg unused drug; treatment of 1 m3 wastewater), and system boundary (cradle-to-gate vs cradle-to-grave). (2) Life Cycle Inventory (LCI): compile inputs (energy, materials, water) and outputs (emissions to air/water/soil, including residual API) per unit process. (3) Life Cycle Impact Assessment (LCIA): convert flows to impact categories (GWP, acidification, eutrophication, freshwater ecotoxicity, human toxicity); USEtox is standard for API ecotoxicity/human toxicity (Li, J Environ Manage, 2019). (4) Interpretation: hotspots, sensitivity, decisions.
Why it complements PEC/PNEC and WBE: PEC/PNEC (RQ) captures risk in receiving water; LCA captures the full environmental cost of manufacturing, use, and treatment/disposal, including energy and chemicals consumed to remove the drug. Together they answer both "is the effluent risky?" and "is this pathway worth its wider footprint?"
Key limitation: pharma LCAs constrained by sparse inventory data for API precursor synthesis (upstream) and use/end-of-life (downstream); AMR impacts usually omitted; Product Category Rules proposed to standardize (Satta, ESPR, 2026).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to LCA. ISO 14040/14044; functional unit; boundary; scopes with scope 3 dominant; four phases; process vs input-output vs hybrid. We consume LCA outputs as per-unit weights rather than performing LCA ourselves.</a:t>
            </a:r>
          </a:p>
          <a:p>
            <a:endParaRPr lang="en-US" dirty="0"/>
          </a:p>
          <a:p>
            <a:br>
              <a:rPr lang="en-US" dirty="0"/>
            </a:br>
            <a:br>
              <a:rPr lang="en-US" dirty="0"/>
            </a:br>
            <a:br>
              <a:rPr lang="en-US" dirty="0"/>
            </a:br>
            <a:r>
              <a:rPr lang="en-US" b="1" dirty="0"/>
              <a:t>System boundary is relevant to every functional unit, but its practical importance and the "right" boundary vary by which functional unit — and therefore which decision — is being served.</a:t>
            </a:r>
            <a:r>
              <a:rPr lang="en-US" dirty="0"/>
              <a:t> Functional unit and system boundary are two separate, non-interchangeable choices in ISO 14040/14044-based LCA: the functional unit defines the quantified service being compared, while the system boundary defines which life-cycle stages are counted toward that service.</a:t>
            </a:r>
            <a:r>
              <a:rPr lang="en-US" dirty="0">
                <a:hlinkClick r:id="rId3"/>
              </a:rPr>
              <a:t>[1]</a:t>
            </a:r>
            <a:r>
              <a:rPr lang="en-US" dirty="0"/>
              <a:t> Because they are independent, any functional unit can in principle be paired with a cradle-to-gate or a cradle-to-grave boundary — but the appropriate pairing depends on where the emissions that matter for the decision actually fall.</a:t>
            </a:r>
            <a:r>
              <a:rPr lang="en-US" dirty="0">
                <a:hlinkClick r:id="rId4"/>
              </a:rPr>
              <a:t>[2]</a:t>
            </a:r>
            <a:r>
              <a:rPr lang="en-US" dirty="0">
                <a:hlinkClick r:id="rId3"/>
              </a:rPr>
              <a:t>[1]</a:t>
            </a:r>
            <a:br>
              <a:rPr lang="en-US" dirty="0"/>
            </a:br>
            <a:br>
              <a:rPr lang="en-US" dirty="0"/>
            </a:br>
            <a:r>
              <a:rPr lang="en-US" b="1" dirty="0"/>
              <a:t>Why the boundary always matters (in principle).</a:t>
            </a:r>
            <a:r>
              <a:rPr lang="en-US" dirty="0"/>
              <a:t> Whatever the functional unit, the boundary determines whether upstream (API synthesis, precursors), midstream (formulation, packaging, distribution), and downstream (use, patient excretion, disposal/wastewater) stages are included.</a:t>
            </a:r>
            <a:r>
              <a:rPr lang="en-US" dirty="0">
                <a:hlinkClick r:id="rId5"/>
              </a:rPr>
              <a:t>[3]</a:t>
            </a:r>
            <a:r>
              <a:rPr lang="en-US" dirty="0">
                <a:hlinkClick r:id="rId3"/>
              </a:rPr>
              <a:t>[1]</a:t>
            </a:r>
            <a:r>
              <a:rPr lang="en-US" dirty="0"/>
              <a:t> Truncating the boundary can omit dominant stages: excluding waste treatment and tablet formulation understated carbon footprint by 3–49% for common drugs, and for pharmaceuticals the use and end-of-life phases are precisely where data are weakest and where pharma-specific impacts (aquatic ecotoxicity, endocrine disruption, antimicrobial resistance) arise.</a:t>
            </a:r>
            <a:r>
              <a:rPr lang="en-US" dirty="0">
                <a:hlinkClick r:id="rId6"/>
              </a:rPr>
              <a:t>[4]</a:t>
            </a:r>
            <a:r>
              <a:rPr lang="en-US" dirty="0">
                <a:hlinkClick r:id="rId7"/>
              </a:rPr>
              <a:t>[5]</a:t>
            </a:r>
            <a:r>
              <a:rPr lang="en-US" dirty="0">
                <a:hlinkClick r:id="rId8"/>
              </a:rPr>
              <a:t>[6]</a:t>
            </a:r>
            <a:r>
              <a:rPr lang="en-US" dirty="0"/>
              <a:t> So no functional unit is immune — the boundary choice can change both the magnitude and the ranking of options.</a:t>
            </a:r>
            <a:br>
              <a:rPr lang="en-US" dirty="0"/>
            </a:br>
            <a:br>
              <a:rPr lang="en-US" dirty="0"/>
            </a:br>
            <a:r>
              <a:rPr lang="en-US" b="1" dirty="0"/>
              <a:t>But its salience differs by functional unit / decision level:</a:t>
            </a:r>
            <a:br>
              <a:rPr lang="en-US" dirty="0"/>
            </a:br>
            <a:br>
              <a:rPr lang="en-US" dirty="0"/>
            </a:br>
            <a:r>
              <a:rPr lang="en-US" dirty="0"/>
              <a:t>- </a:t>
            </a:r>
            <a:r>
              <a:rPr lang="en-US" b="1" dirty="0"/>
              <a:t>Per gram/kg API (process R&amp;D, green chemistry):</a:t>
            </a:r>
            <a:r>
              <a:rPr lang="en-US" dirty="0"/>
              <a:t> Cradle-to-gate is the natural and often sufficient boundary. </a:t>
            </a:r>
            <a:r>
              <a:rPr lang="en-US" dirty="0" err="1"/>
              <a:t>Klöpffer's</a:t>
            </a:r>
            <a:r>
              <a:rPr lang="en-US" dirty="0"/>
              <a:t> argument applies directly — chemicals with many downstream uses are best analyzed cradle-to-factory-gate, treating downstream phases as a "black box," provided the compared products have identical properties. For comparing two synthesis routes of the same molecule, downstream stages cancel out, so the gate boundary is legitimate. The caveat is that the omitted "black box" may actually be the dominant contributor, so a gate boundary answers a process-optimization question but not a whole-product one.</a:t>
            </a:r>
            <a:r>
              <a:rPr lang="en-US" dirty="0">
                <a:hlinkClick r:id="rId9"/>
              </a:rPr>
              <a:t>[7]</a:t>
            </a:r>
            <a:br>
              <a:rPr lang="en-US" dirty="0"/>
            </a:br>
            <a:br>
              <a:rPr lang="en-US" dirty="0"/>
            </a:br>
            <a:r>
              <a:rPr lang="en-US" dirty="0"/>
              <a:t>- </a:t>
            </a:r>
            <a:r>
              <a:rPr lang="en-US" b="1" dirty="0"/>
              <a:t>Per dose / route / formulation (clinical route choice):</a:t>
            </a:r>
            <a:r>
              <a:rPr lang="en-US" dirty="0"/>
              <a:t> The boundary is decisive because the differentiating emissions frequently sit downstream of the gate — in packaging (glass vials vs plastic), administration consumables, cold-chain distribution, and disposal. A cradle-to-gate boundary would miss exactly what distinguishes IV from oral delivery, so cradle-to-grave (or at least cradle-to-patient) is usually required.</a:t>
            </a:r>
            <a:br>
              <a:rPr lang="en-US" dirty="0"/>
            </a:br>
            <a:br>
              <a:rPr lang="en-US" dirty="0"/>
            </a:br>
            <a:r>
              <a:rPr lang="en-US" dirty="0"/>
              <a:t>- </a:t>
            </a:r>
            <a:r>
              <a:rPr lang="en-US" b="1" dirty="0"/>
              <a:t>Per patient-year / therapeutic selection (biologics):</a:t>
            </a:r>
            <a:r>
              <a:rPr lang="en-US" dirty="0"/>
              <a:t> Cradle-to-grave is generally needed, since dosing frequency, administration setting, and waste over a year of treatment — not just manufacturing — drive the comparison.</a:t>
            </a:r>
            <a:br>
              <a:rPr lang="en-US" dirty="0"/>
            </a:br>
            <a:br>
              <a:rPr lang="en-US" dirty="0"/>
            </a:br>
            <a:r>
              <a:rPr lang="en-US" dirty="0"/>
              <a:t>- </a:t>
            </a:r>
            <a:r>
              <a:rPr lang="en-US" b="1" dirty="0"/>
              <a:t>Per treatment vs no treatment (QALY/DALY, HTA):</a:t>
            </a:r>
            <a:r>
              <a:rPr lang="en-US" dirty="0"/>
              <a:t> A full cradle-to-grave boundary is essential, and additionally the use phase must capture patient excretion and API emissions into water, which are central to the human-health/ecotoxicity endpoints these outcome-based units are built on.</a:t>
            </a:r>
            <a:r>
              <a:rPr lang="en-US" dirty="0">
                <a:hlinkClick r:id="rId7"/>
              </a:rPr>
              <a:t>[5]</a:t>
            </a:r>
            <a:r>
              <a:rPr lang="en-US" dirty="0">
                <a:hlinkClick r:id="rId10"/>
              </a:rPr>
              <a:t>[8]</a:t>
            </a:r>
            <a:br>
              <a:rPr lang="en-US" dirty="0"/>
            </a:br>
            <a:br>
              <a:rPr lang="en-US" dirty="0"/>
            </a:br>
            <a:r>
              <a:rPr lang="en-US" dirty="0"/>
              <a:t>- </a:t>
            </a:r>
            <a:r>
              <a:rPr lang="en-US" b="1" dirty="0"/>
              <a:t>Per dollar spent (EIO-LCA / hybrid):</a:t>
            </a:r>
            <a:r>
              <a:rPr lang="en-US" dirty="0"/>
              <a:t> Here the boundary problem is inverted — input-output methods were developed precisely to overcome the arbitrary truncation of process-based boundaries, giving a theoretically complete (economy-wide) upstream boundary at the cost of resolution. The boundary is still "relevant," but it is set by the economic model rather than chosen stage-by-stage.</a:t>
            </a:r>
            <a:r>
              <a:rPr lang="en-US" dirty="0">
                <a:hlinkClick r:id="rId11"/>
              </a:rPr>
              <a:t>[9]</a:t>
            </a:r>
            <a:br>
              <a:rPr lang="en-US" dirty="0"/>
            </a:br>
            <a:br>
              <a:rPr lang="en-US" dirty="0"/>
            </a:br>
            <a:r>
              <a:rPr lang="en-US" dirty="0"/>
              <a:t>- </a:t>
            </a:r>
            <a:r>
              <a:rPr lang="en-US" b="1" dirty="0"/>
              <a:t>Per capita / region / global (policy):</a:t>
            </a:r>
            <a:r>
              <a:rPr lang="en-US" dirty="0"/>
              <a:t> Consumption- and production-based input-output analyses embed a de facto cradle-to-grave-plus-supply-chain boundary; the relevant boundary decision becomes geographic/supply-chain scope (e.g., attributing offshore manufacturing emissions to consuming countries) rather than which life-cycle stage to include.</a:t>
            </a:r>
            <a:r>
              <a:rPr lang="en-US" dirty="0">
                <a:hlinkClick r:id="rId11"/>
              </a:rPr>
              <a:t>[9]</a:t>
            </a:r>
            <a:br>
              <a:rPr lang="en-US" dirty="0"/>
            </a:br>
            <a:br>
              <a:rPr lang="en-US" dirty="0"/>
            </a:br>
            <a:r>
              <a:rPr lang="en-US" b="1" dirty="0"/>
              <a:t>Bottom line:</a:t>
            </a:r>
            <a:r>
              <a:rPr lang="en-US" dirty="0"/>
              <a:t> System boundary is a universally required specification — it is never irrelevant — but it is not equally consequential across functional units. For a per-kg-API process comparison, a cradle-to-gate boundary is often defensible; for clinical, HTA, and policy functional units, a cradle-to-grave (or supply-chain-complete) boundary is typically necessary because the decision-relevant impacts fall in the downstream stages that a gate boundary omits.</a:t>
            </a:r>
            <a:r>
              <a:rPr lang="en-US" dirty="0">
                <a:hlinkClick r:id="rId9"/>
              </a:rPr>
              <a:t>[7]</a:t>
            </a:r>
            <a:r>
              <a:rPr lang="en-US" dirty="0"/>
              <a:t> This coupling of functional unit to boundary is exactly the heterogeneity Zecha et al. flag as the core obstacle to comparing healthcare LCA studies.</a:t>
            </a:r>
            <a:r>
              <a:rPr lang="en-US" dirty="0">
                <a:hlinkClick r:id="rId4"/>
              </a:rPr>
              <a:t>[2]</a:t>
            </a:r>
            <a:br>
              <a:rPr lang="en-US" dirty="0"/>
            </a:br>
            <a:br>
              <a:rPr lang="en-US" dirty="0"/>
            </a:br>
            <a:br>
              <a:rPr lang="en-US" dirty="0"/>
            </a:br>
            <a:r>
              <a:rPr lang="en-US" dirty="0"/>
              <a:t>Would you like to explore proposed PCR conventions for standardizing system boundaries in pharmaceutical LCA?</a:t>
            </a:r>
            <a:br>
              <a:rPr lang="en-US" dirty="0"/>
            </a:br>
            <a:br>
              <a:rPr lang="en-US" dirty="0"/>
            </a:br>
            <a:endParaRPr lang="en-US" dirty="0"/>
          </a:p>
          <a:p>
            <a:r>
              <a:rPr lang="en-US" b="1" dirty="0"/>
              <a:t>References</a:t>
            </a:r>
          </a:p>
          <a:p>
            <a:pPr lvl="0"/>
            <a:r>
              <a:rPr lang="en-US" dirty="0">
                <a:hlinkClick r:id="rId3"/>
              </a:rPr>
              <a:t>Life Cycle Assessment Part 1: Framework, Goal and Scope Definition, Inventory Analysis, and Applications</a:t>
            </a:r>
            <a:r>
              <a:rPr lang="en-US" dirty="0"/>
              <a:t>. </a:t>
            </a:r>
            <a:r>
              <a:rPr lang="en-US" dirty="0" err="1"/>
              <a:t>Rebitzer</a:t>
            </a:r>
            <a:r>
              <a:rPr lang="en-US" dirty="0"/>
              <a:t> G, Ekvall T, Frischknecht R, et al. Environment International. 2004;30(5):701-20. doi:10.1016/j.envint.2003.11.005.</a:t>
            </a:r>
          </a:p>
          <a:p>
            <a:pPr lvl="0"/>
            <a:r>
              <a:rPr lang="en-US" dirty="0">
                <a:hlinkClick r:id="rId4"/>
              </a:rPr>
              <a:t>Life Cycle Assessments in Healthcare: Insights and Standardisation Needs</a:t>
            </a:r>
            <a:r>
              <a:rPr lang="en-US" dirty="0"/>
              <a:t>. Zecha F, </a:t>
            </a:r>
            <a:r>
              <a:rPr lang="en-US" dirty="0" err="1"/>
              <a:t>Hupperich</a:t>
            </a:r>
            <a:r>
              <a:rPr lang="en-US" dirty="0"/>
              <a:t> LM, Viere T. International Journal of Environmental Research and Public Health. 2026;23(7):828. doi:10.3390/ijerph23070828.</a:t>
            </a:r>
          </a:p>
          <a:p>
            <a:pPr lvl="0"/>
            <a:r>
              <a:rPr lang="en-US" dirty="0">
                <a:hlinkClick r:id="rId5"/>
              </a:rPr>
              <a:t>The Environmental Price Tag of Medications: Pharmacists' Perspective on the Medication Life Cycle</a:t>
            </a:r>
            <a:r>
              <a:rPr lang="en-US" dirty="0"/>
              <a:t>. Zheng RR, Roy C, Dumont Z. Journal of the American Pharmacists Association : </a:t>
            </a:r>
            <a:r>
              <a:rPr lang="en-US" dirty="0" err="1"/>
              <a:t>JAPhA</a:t>
            </a:r>
            <a:r>
              <a:rPr lang="en-US" dirty="0"/>
              <a:t>. 2026 Mar-Apr;66(2):103031. doi:10.1016/j.japh.2026.103031.</a:t>
            </a:r>
          </a:p>
          <a:p>
            <a:pPr lvl="0"/>
            <a:r>
              <a:rPr lang="en-US" dirty="0">
                <a:hlinkClick r:id="rId6"/>
              </a:rPr>
              <a:t>Advantages and Drawbacks of Life Cycle Assessment Application to the Pharmaceuticals: A Short Critical Literature Review</a:t>
            </a:r>
            <a:r>
              <a:rPr lang="en-US" dirty="0"/>
              <a:t>. Satta M, </a:t>
            </a:r>
            <a:r>
              <a:rPr lang="en-US" dirty="0" err="1"/>
              <a:t>Passarini</a:t>
            </a:r>
            <a:r>
              <a:rPr lang="en-US" dirty="0"/>
              <a:t> F, </a:t>
            </a:r>
            <a:r>
              <a:rPr lang="en-US" dirty="0" err="1"/>
              <a:t>Cespi</a:t>
            </a:r>
            <a:r>
              <a:rPr lang="en-US" dirty="0"/>
              <a:t> D, Ciacci L. Environmental Science and Pollution Research International. 2026;33(22):11072-11092. doi:10.1007/s11356-024-33964-w.</a:t>
            </a:r>
          </a:p>
          <a:p>
            <a:pPr lvl="0"/>
            <a:r>
              <a:rPr lang="en-US" dirty="0">
                <a:hlinkClick r:id="rId7"/>
              </a:rPr>
              <a:t>Modeling Pharmaceutical Emissions and Their Toxicity-Related Effects in Life Cycle Assessment (LCA): A Review</a:t>
            </a:r>
            <a:r>
              <a:rPr lang="en-US" dirty="0"/>
              <a:t>. Emara Y, Lehmann A, Siegert MW, Finkbeiner M. Integrated Environmental Assessment and Management. 2019;15(1):6-18. doi:10.1002/ieam.4100.</a:t>
            </a:r>
          </a:p>
          <a:p>
            <a:pPr lvl="0"/>
            <a:r>
              <a:rPr lang="en-US" dirty="0">
                <a:hlinkClick r:id="rId8"/>
              </a:rPr>
              <a:t>Closing Data Gaps for LCA of Pharmaceutical Production: Estimating Energy Usage by Upscaling Laboratory Data</a:t>
            </a:r>
            <a:r>
              <a:rPr lang="en-US" dirty="0"/>
              <a:t>. Ansar MA, van Zelm R, Ragas AMJ. ACS Sustainable Chemistry &amp; Engineering. 2025;13(47):20363-20376. doi:10.1021/acssuschemeng.5c04708.</a:t>
            </a:r>
          </a:p>
          <a:p>
            <a:pPr lvl="0"/>
            <a:r>
              <a:rPr lang="en-US" dirty="0">
                <a:hlinkClick r:id="rId9"/>
              </a:rPr>
              <a:t>Life Cycle Assessment as Part of Sustainability Assessment for Chemicals</a:t>
            </a:r>
            <a:r>
              <a:rPr lang="en-US" dirty="0"/>
              <a:t>. </a:t>
            </a:r>
            <a:r>
              <a:rPr lang="en-US" dirty="0" err="1"/>
              <a:t>Klöpffer</a:t>
            </a:r>
            <a:r>
              <a:rPr lang="en-US" dirty="0"/>
              <a:t> W. Environmental Science and Pollution Research International. 2005;12(3):173-7. doi:10.1065/espr2005.04.247.</a:t>
            </a:r>
          </a:p>
          <a:p>
            <a:pPr lvl="0"/>
            <a:r>
              <a:rPr lang="en-US" dirty="0">
                <a:hlinkClick r:id="rId10"/>
              </a:rPr>
              <a:t>Environmental Outcomes of Reducing Medication Waste by Redispensing Unused Oral Anticancer Drugs</a:t>
            </a:r>
            <a:r>
              <a:rPr lang="en-US" dirty="0"/>
              <a:t>. Smale EM, </a:t>
            </a:r>
            <a:r>
              <a:rPr lang="en-US" dirty="0" err="1"/>
              <a:t>Ottenbros</a:t>
            </a:r>
            <a:r>
              <a:rPr lang="en-US" dirty="0"/>
              <a:t> AB, van den </a:t>
            </a:r>
            <a:r>
              <a:rPr lang="en-US" dirty="0" err="1"/>
              <a:t>Bemt</a:t>
            </a:r>
            <a:r>
              <a:rPr lang="en-US" dirty="0"/>
              <a:t> BJF, et al. JAMA Network Open. 2024;7(10):e2438677. doi:10.1001/jamanetworkopen.2024.38677.</a:t>
            </a:r>
          </a:p>
          <a:p>
            <a:pPr lvl="0"/>
            <a:r>
              <a:rPr lang="en-US" dirty="0">
                <a:hlinkClick r:id="rId11"/>
              </a:rPr>
              <a:t>System Boundary Selection in Life-Cycle Inventories Using Hybrid Approaches</a:t>
            </a:r>
            <a:r>
              <a:rPr lang="en-US" dirty="0"/>
              <a:t>. Suh S, Lenzen M, Treloar GJ, et al. Environmental Science &amp; Technology. 2004;38(3):657-64. doi:10.1021/es0263745.</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kern="1200" dirty="0">
                <a:solidFill>
                  <a:schemeClr val="tx1"/>
                </a:solidFill>
                <a:effectLst/>
                <a:latin typeface="+mn-lt"/>
                <a:ea typeface="+mn-ea"/>
                <a:cs typeface="+mn-cs"/>
              </a:rPr>
              <a:t>Functional unit dictate the question and application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a:t>
            </a:r>
          </a:p>
          <a:p>
            <a:r>
              <a:rPr lang="en-US" sz="1200" b="0" i="0" u="none" strike="noStrike" kern="1200" dirty="0">
                <a:solidFill>
                  <a:schemeClr val="tx1"/>
                </a:solidFill>
                <a:effectLst/>
                <a:latin typeface="+mn-lt"/>
                <a:ea typeface="+mn-ea"/>
                <a:cs typeface="+mn-cs"/>
                <a:hlinkClick r:id="rId3"/>
              </a:rPr>
              <a:t>Closing Data Gaps for LCA of Pharmaceutical Production: Estimating Energy Usage by Upscaling Laboratory Data.</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ACS Sustainable Chemistry &amp; Engineering. 2025. Ansar MA, van Zelm R, Ragas AMJ.</a:t>
            </a:r>
          </a:p>
          <a:p>
            <a:r>
              <a:rPr lang="en-US" sz="1200" b="0" i="0" kern="1200" dirty="0">
                <a:solidFill>
                  <a:schemeClr val="tx1"/>
                </a:solidFill>
                <a:effectLst/>
                <a:latin typeface="+mn-lt"/>
                <a:ea typeface="+mn-ea"/>
                <a:cs typeface="+mn-cs"/>
              </a:rPr>
              <a:t>2.</a:t>
            </a:r>
          </a:p>
          <a:p>
            <a:r>
              <a:rPr lang="en-US" sz="1200" b="0" i="0" u="none" strike="noStrike" kern="1200" dirty="0">
                <a:solidFill>
                  <a:schemeClr val="tx1"/>
                </a:solidFill>
                <a:effectLst/>
                <a:latin typeface="+mn-lt"/>
                <a:ea typeface="+mn-ea"/>
                <a:cs typeface="+mn-cs"/>
                <a:hlinkClick r:id="rId4"/>
              </a:rPr>
              <a:t>Advantages and Drawbacks of Life Cycle Assessment Application to the Pharmaceuticals: A Short Critical Literature Review.</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Science and Pollution Research International. 2026. Satta M, </a:t>
            </a:r>
            <a:r>
              <a:rPr lang="en-US" sz="1200" b="0" i="0" kern="1200" dirty="0" err="1">
                <a:solidFill>
                  <a:schemeClr val="tx1"/>
                </a:solidFill>
                <a:effectLst/>
                <a:latin typeface="+mn-lt"/>
                <a:ea typeface="+mn-ea"/>
                <a:cs typeface="+mn-cs"/>
              </a:rPr>
              <a:t>Passarini</a:t>
            </a:r>
            <a:r>
              <a:rPr lang="en-US" sz="1200" b="0" i="0" kern="1200" dirty="0">
                <a:solidFill>
                  <a:schemeClr val="tx1"/>
                </a:solidFill>
                <a:effectLst/>
                <a:latin typeface="+mn-lt"/>
                <a:ea typeface="+mn-ea"/>
                <a:cs typeface="+mn-cs"/>
              </a:rPr>
              <a:t> F, </a:t>
            </a:r>
            <a:r>
              <a:rPr lang="en-US" sz="1200" b="0" i="0" kern="1200" dirty="0" err="1">
                <a:solidFill>
                  <a:schemeClr val="tx1"/>
                </a:solidFill>
                <a:effectLst/>
                <a:latin typeface="+mn-lt"/>
                <a:ea typeface="+mn-ea"/>
                <a:cs typeface="+mn-cs"/>
              </a:rPr>
              <a:t>Cespi</a:t>
            </a:r>
            <a:r>
              <a:rPr lang="en-US" sz="1200" b="0" i="0" kern="1200" dirty="0">
                <a:solidFill>
                  <a:schemeClr val="tx1"/>
                </a:solidFill>
                <a:effectLst/>
                <a:latin typeface="+mn-lt"/>
                <a:ea typeface="+mn-ea"/>
                <a:cs typeface="+mn-cs"/>
              </a:rPr>
              <a:t> D, Ciacci </a:t>
            </a:r>
            <a:r>
              <a:rPr lang="en-US" sz="1200" b="0" i="0" kern="1200" dirty="0" err="1">
                <a:solidFill>
                  <a:schemeClr val="tx1"/>
                </a:solidFill>
                <a:effectLst/>
                <a:latin typeface="+mn-lt"/>
                <a:ea typeface="+mn-ea"/>
                <a:cs typeface="+mn-cs"/>
              </a:rPr>
              <a:t>L.Review</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3.</a:t>
            </a:r>
          </a:p>
          <a:p>
            <a:r>
              <a:rPr lang="en-US" sz="1200" b="0" i="0" u="none" strike="noStrike" kern="1200" dirty="0">
                <a:solidFill>
                  <a:schemeClr val="tx1"/>
                </a:solidFill>
                <a:effectLst/>
                <a:latin typeface="+mn-lt"/>
                <a:ea typeface="+mn-ea"/>
                <a:cs typeface="+mn-cs"/>
                <a:hlinkClick r:id="rId5"/>
              </a:rPr>
              <a:t>Environmental and Financial Impacts of Perioperative Paracetamol Use: A Multicentre International Life-Cycle Assessment.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British Journal of </a:t>
            </a:r>
            <a:r>
              <a:rPr lang="en-US" sz="1200" b="0" i="0" kern="1200" dirty="0" err="1">
                <a:solidFill>
                  <a:schemeClr val="tx1"/>
                </a:solidFill>
                <a:effectLst/>
                <a:latin typeface="+mn-lt"/>
                <a:ea typeface="+mn-ea"/>
                <a:cs typeface="+mn-cs"/>
              </a:rPr>
              <a:t>Anaesthesia</a:t>
            </a:r>
            <a:r>
              <a:rPr lang="en-US" sz="1200" b="0" i="0" kern="1200" dirty="0">
                <a:solidFill>
                  <a:schemeClr val="tx1"/>
                </a:solidFill>
                <a:effectLst/>
                <a:latin typeface="+mn-lt"/>
                <a:ea typeface="+mn-ea"/>
                <a:cs typeface="+mn-cs"/>
              </a:rPr>
              <a:t>. 2024. Davies JF, McAlister S, Eckelman MJ, et al.</a:t>
            </a:r>
          </a:p>
          <a:p>
            <a:r>
              <a:rPr lang="en-US" sz="1200" b="0" i="0" kern="1200" dirty="0">
                <a:solidFill>
                  <a:schemeClr val="tx1"/>
                </a:solidFill>
                <a:effectLst/>
                <a:latin typeface="+mn-lt"/>
                <a:ea typeface="+mn-ea"/>
                <a:cs typeface="+mn-cs"/>
              </a:rPr>
              <a:t>4.</a:t>
            </a:r>
          </a:p>
          <a:p>
            <a:r>
              <a:rPr lang="en-US" sz="1200" b="0" i="0" u="none" strike="noStrike" kern="1200" dirty="0">
                <a:solidFill>
                  <a:schemeClr val="tx1"/>
                </a:solidFill>
                <a:effectLst/>
                <a:latin typeface="+mn-lt"/>
                <a:ea typeface="+mn-ea"/>
                <a:cs typeface="+mn-cs"/>
                <a:hlinkClick r:id="rId6"/>
              </a:rPr>
              <a:t>Carbon Footprint of Antibody-Based Drugs and Biologics Using Hybrid Life Cycle Assessment.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Clinical Pharmacology and Therapeutics. 2026. </a:t>
            </a:r>
            <a:r>
              <a:rPr lang="en-US" sz="1200" b="0" i="0" kern="1200" dirty="0" err="1">
                <a:solidFill>
                  <a:schemeClr val="tx1"/>
                </a:solidFill>
                <a:effectLst/>
                <a:latin typeface="+mn-lt"/>
                <a:ea typeface="+mn-ea"/>
                <a:cs typeface="+mn-cs"/>
              </a:rPr>
              <a:t>Taillemite</a:t>
            </a:r>
            <a:r>
              <a:rPr lang="en-US" sz="1200" b="0" i="0" kern="1200" dirty="0">
                <a:solidFill>
                  <a:schemeClr val="tx1"/>
                </a:solidFill>
                <a:effectLst/>
                <a:latin typeface="+mn-lt"/>
                <a:ea typeface="+mn-ea"/>
                <a:cs typeface="+mn-cs"/>
              </a:rPr>
              <a:t> S, Fenelon M, </a:t>
            </a:r>
            <a:r>
              <a:rPr lang="en-US" sz="1200" b="0" i="0" kern="1200" dirty="0" err="1">
                <a:solidFill>
                  <a:schemeClr val="tx1"/>
                </a:solidFill>
                <a:effectLst/>
                <a:latin typeface="+mn-lt"/>
                <a:ea typeface="+mn-ea"/>
                <a:cs typeface="+mn-cs"/>
              </a:rPr>
              <a:t>Scherlinger</a:t>
            </a:r>
            <a:r>
              <a:rPr lang="en-US" sz="1200" b="0" i="0" kern="1200" dirty="0">
                <a:solidFill>
                  <a:schemeClr val="tx1"/>
                </a:solidFill>
                <a:effectLst/>
                <a:latin typeface="+mn-lt"/>
                <a:ea typeface="+mn-ea"/>
                <a:cs typeface="+mn-cs"/>
              </a:rPr>
              <a:t> M, </a:t>
            </a:r>
            <a:r>
              <a:rPr lang="en-US" sz="1200" b="0" i="0" kern="1200" dirty="0" err="1">
                <a:solidFill>
                  <a:schemeClr val="tx1"/>
                </a:solidFill>
                <a:effectLst/>
                <a:latin typeface="+mn-lt"/>
                <a:ea typeface="+mn-ea"/>
                <a:cs typeface="+mn-cs"/>
              </a:rPr>
              <a:t>Piffoux</a:t>
            </a:r>
            <a:r>
              <a:rPr lang="en-US" sz="1200" b="0" i="0" kern="1200" dirty="0">
                <a:solidFill>
                  <a:schemeClr val="tx1"/>
                </a:solidFill>
                <a:effectLst/>
                <a:latin typeface="+mn-lt"/>
                <a:ea typeface="+mn-ea"/>
                <a:cs typeface="+mn-cs"/>
              </a:rPr>
              <a:t> M.</a:t>
            </a:r>
          </a:p>
          <a:p>
            <a:r>
              <a:rPr lang="en-US" sz="1200" b="0" i="0" kern="1200" dirty="0">
                <a:solidFill>
                  <a:schemeClr val="tx1"/>
                </a:solidFill>
                <a:effectLst/>
                <a:latin typeface="+mn-lt"/>
                <a:ea typeface="+mn-ea"/>
                <a:cs typeface="+mn-cs"/>
              </a:rPr>
              <a:t>5.</a:t>
            </a:r>
          </a:p>
          <a:p>
            <a:r>
              <a:rPr lang="en-US" sz="1200" b="0" i="0" u="none" strike="noStrike" kern="1200" dirty="0">
                <a:solidFill>
                  <a:schemeClr val="tx1"/>
                </a:solidFill>
                <a:effectLst/>
                <a:latin typeface="+mn-lt"/>
                <a:ea typeface="+mn-ea"/>
                <a:cs typeface="+mn-cs"/>
                <a:hlinkClick r:id="rId7"/>
              </a:rPr>
              <a:t>Human Health Benefits and Burdens of a Pharmaceutical Treatment: Discussion of a Conceptual Integrated Approach.</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Environmental Research. 2016. </a:t>
            </a:r>
            <a:r>
              <a:rPr lang="en-US" sz="1200" b="0" i="0" kern="1200" dirty="0" err="1">
                <a:solidFill>
                  <a:schemeClr val="tx1"/>
                </a:solidFill>
                <a:effectLst/>
                <a:latin typeface="+mn-lt"/>
                <a:ea typeface="+mn-ea"/>
                <a:cs typeface="+mn-cs"/>
              </a:rPr>
              <a:t>Debaveye</a:t>
            </a:r>
            <a:r>
              <a:rPr lang="en-US" sz="1200" b="0" i="0" kern="1200" dirty="0">
                <a:solidFill>
                  <a:schemeClr val="tx1"/>
                </a:solidFill>
                <a:effectLst/>
                <a:latin typeface="+mn-lt"/>
                <a:ea typeface="+mn-ea"/>
                <a:cs typeface="+mn-cs"/>
              </a:rPr>
              <a:t> S, De Soete W, De Meester S, et </a:t>
            </a:r>
            <a:r>
              <a:rPr lang="en-US" sz="1200" b="0" i="0" kern="1200" dirty="0" err="1">
                <a:solidFill>
                  <a:schemeClr val="tx1"/>
                </a:solidFill>
                <a:effectLst/>
                <a:latin typeface="+mn-lt"/>
                <a:ea typeface="+mn-ea"/>
                <a:cs typeface="+mn-cs"/>
              </a:rPr>
              <a:t>al.Review</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6.</a:t>
            </a:r>
          </a:p>
          <a:p>
            <a:r>
              <a:rPr lang="en-US" sz="1200" b="0" i="0" u="none" strike="noStrike" kern="1200" dirty="0">
                <a:solidFill>
                  <a:schemeClr val="tx1"/>
                </a:solidFill>
                <a:effectLst/>
                <a:latin typeface="+mn-lt"/>
                <a:ea typeface="+mn-ea"/>
                <a:cs typeface="+mn-cs"/>
                <a:hlinkClick r:id="rId8"/>
              </a:rPr>
              <a:t>Quantification of the Cost and Potential Environmental Effects of Unused Pharmaceutical Products in Cataract Surgery.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JAMA Ophthalmology. 2019. Tauber J, </a:t>
            </a:r>
            <a:r>
              <a:rPr lang="en-US" sz="1200" b="0" i="0" kern="1200" dirty="0" err="1">
                <a:solidFill>
                  <a:schemeClr val="tx1"/>
                </a:solidFill>
                <a:effectLst/>
                <a:latin typeface="+mn-lt"/>
                <a:ea typeface="+mn-ea"/>
                <a:cs typeface="+mn-cs"/>
              </a:rPr>
              <a:t>Chinwuba</a:t>
            </a:r>
            <a:r>
              <a:rPr lang="en-US" sz="1200" b="0" i="0" kern="1200" dirty="0">
                <a:solidFill>
                  <a:schemeClr val="tx1"/>
                </a:solidFill>
                <a:effectLst/>
                <a:latin typeface="+mn-lt"/>
                <a:ea typeface="+mn-ea"/>
                <a:cs typeface="+mn-cs"/>
              </a:rPr>
              <a:t> I, Kleyn D, et </a:t>
            </a:r>
            <a:r>
              <a:rPr lang="en-US" sz="1200" b="0" i="0" kern="1200" dirty="0" err="1">
                <a:solidFill>
                  <a:schemeClr val="tx1"/>
                </a:solidFill>
                <a:effectLst/>
                <a:latin typeface="+mn-lt"/>
                <a:ea typeface="+mn-ea"/>
                <a:cs typeface="+mn-cs"/>
              </a:rPr>
              <a:t>al.Observational</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7.</a:t>
            </a:r>
          </a:p>
          <a:p>
            <a:r>
              <a:rPr lang="en-US" sz="1200" b="0" i="0" u="none" strike="noStrike" kern="1200" dirty="0">
                <a:solidFill>
                  <a:schemeClr val="tx1"/>
                </a:solidFill>
                <a:effectLst/>
                <a:latin typeface="+mn-lt"/>
                <a:ea typeface="+mn-ea"/>
                <a:cs typeface="+mn-cs"/>
                <a:hlinkClick r:id="rId9"/>
              </a:rPr>
              <a:t>The Greenhouse Gas Emissions of Pharmaceutical Consumption and Production: An Input-Output Analysis Over Time and Across Global Supply Chains.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Lancet. Planetary Health. 2025. </a:t>
            </a:r>
            <a:r>
              <a:rPr lang="en-US" sz="1200" b="0" i="0" kern="1200" dirty="0" err="1">
                <a:solidFill>
                  <a:schemeClr val="tx1"/>
                </a:solidFill>
                <a:effectLst/>
                <a:latin typeface="+mn-lt"/>
                <a:ea typeface="+mn-ea"/>
                <a:cs typeface="+mn-cs"/>
              </a:rPr>
              <a:t>Hagenaars</a:t>
            </a:r>
            <a:r>
              <a:rPr lang="en-US" sz="1200" b="0" i="0" kern="1200" dirty="0">
                <a:solidFill>
                  <a:schemeClr val="tx1"/>
                </a:solidFill>
                <a:effectLst/>
                <a:latin typeface="+mn-lt"/>
                <a:ea typeface="+mn-ea"/>
                <a:cs typeface="+mn-cs"/>
              </a:rPr>
              <a:t> RH, </a:t>
            </a:r>
            <a:r>
              <a:rPr lang="en-US" sz="1200" b="0" i="0" kern="1200" dirty="0" err="1">
                <a:solidFill>
                  <a:schemeClr val="tx1"/>
                </a:solidFill>
                <a:effectLst/>
                <a:latin typeface="+mn-lt"/>
                <a:ea typeface="+mn-ea"/>
                <a:cs typeface="+mn-cs"/>
              </a:rPr>
              <a:t>Heijungs</a:t>
            </a:r>
            <a:r>
              <a:rPr lang="en-US" sz="1200" b="0" i="0" kern="1200" dirty="0">
                <a:solidFill>
                  <a:schemeClr val="tx1"/>
                </a:solidFill>
                <a:effectLst/>
                <a:latin typeface="+mn-lt"/>
                <a:ea typeface="+mn-ea"/>
                <a:cs typeface="+mn-cs"/>
              </a:rPr>
              <a:t> R, de Koning A, Tukker A, Wang R.</a:t>
            </a:r>
          </a:p>
          <a:p>
            <a:endParaRPr lang="en-US" dirty="0"/>
          </a:p>
        </p:txBody>
      </p:sp>
    </p:spTree>
    <p:extLst>
      <p:ext uri="{BB962C8B-B14F-4D97-AF65-F5344CB8AC3E}">
        <p14:creationId xmlns:p14="http://schemas.microsoft.com/office/powerpoint/2010/main" val="632894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comparison of the three frameworks. Note: the emission-based Key limitation combines emission-factor uncertainty (propellant %, GWP, manufacturing) with the shared access-study limitation that formulary data capture plan-level coverage, not enrollment-weighted use, actual out-of-pocket costs, or clinical appropriateness of device switching (Parthasarathi, JAMA Netw Open, 2026). The pasted table truncated this cell, so confirm the wording you prefer.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2245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1EE84825-6BB1-1243-A5E8-8334684BFCE1}"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160692116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FF96CEEC-AB3D-A844-B49A-38D72B52BCFE}" type="datetimeFigureOut">
              <a:rPr lang="en-US" smtClean="0"/>
              <a:t>8/26/26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1EE84825-6BB1-1243-A5E8-8334684BFCE1}"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95114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164484266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FF96CEEC-AB3D-A844-B49A-38D72B52BCFE}" type="datetimeFigureOut">
              <a:rPr lang="en-US" smtClean="0"/>
              <a:t>8/26/26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1EE84825-6BB1-1243-A5E8-8334684BFCE1}"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99463959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114792442"/>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1EE84825-6BB1-1243-A5E8-8334684BFCE1}" type="slidenum">
              <a:rPr lang="en-US" smtClean="0"/>
              <a:t>‹#›</a:t>
            </a:fld>
            <a:endParaRPr lang="en-US"/>
          </a:p>
        </p:txBody>
      </p:sp>
    </p:spTree>
    <p:extLst>
      <p:ext uri="{BB962C8B-B14F-4D97-AF65-F5344CB8AC3E}">
        <p14:creationId xmlns:p14="http://schemas.microsoft.com/office/powerpoint/2010/main" val="2029514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1EE84825-6BB1-1243-A5E8-8334684BFCE1}"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883590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FF96CEEC-AB3D-A844-B49A-38D72B52BCFE}" type="datetimeFigureOut">
              <a:rPr lang="en-US" smtClean="0"/>
              <a:t>8/26/26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1EE84825-6BB1-1243-A5E8-8334684BFCE1}"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563950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FF96CEEC-AB3D-A844-B49A-38D72B52BCFE}" type="datetimeFigureOut">
              <a:rPr lang="en-US" smtClean="0"/>
              <a:t>8/26/26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1EE84825-6BB1-1243-A5E8-8334684BFCE1}"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000801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8315535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dirty="0"/>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2ABAD28B-DD56-4B56-883A-96608C765E28}" type="datetimeFigureOut">
              <a:rPr lang="en-US" smtClean="0"/>
              <a:pPr/>
              <a:t>8/26/26</a:t>
            </a:fld>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79118844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dirty="0"/>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2ABAD28B-DD56-4B56-883A-96608C765E28}" type="datetimeFigureOut">
              <a:rPr lang="en-US" smtClean="0"/>
              <a:pPr/>
              <a:t>8/26/26</a:t>
            </a:fld>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6100950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dirty="0"/>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90542777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1EE84825-6BB1-1243-A5E8-8334684BFCE1}" type="slidenum">
              <a:rPr lang="en-US" smtClean="0"/>
              <a:t>‹#›</a:t>
            </a:fld>
            <a:endParaRPr lang="en-US"/>
          </a:p>
        </p:txBody>
      </p:sp>
    </p:spTree>
    <p:extLst>
      <p:ext uri="{BB962C8B-B14F-4D97-AF65-F5344CB8AC3E}">
        <p14:creationId xmlns:p14="http://schemas.microsoft.com/office/powerpoint/2010/main" val="142248149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dirty="0"/>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89898982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FF96CEEC-AB3D-A844-B49A-38D72B52BCFE}" type="datetimeFigureOut">
              <a:rPr lang="en-US" smtClean="0"/>
              <a:t>8/26/26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1EE84825-6BB1-1243-A5E8-8334684BFCE1}" type="slidenum">
              <a:rPr lang="en-US" smtClean="0"/>
              <a:t>‹#›</a:t>
            </a:fld>
            <a:endParaRPr lang="en-US"/>
          </a:p>
        </p:txBody>
      </p:sp>
    </p:spTree>
    <p:extLst>
      <p:ext uri="{BB962C8B-B14F-4D97-AF65-F5344CB8AC3E}">
        <p14:creationId xmlns:p14="http://schemas.microsoft.com/office/powerpoint/2010/main" val="228964364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dirty="0"/>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63613914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FF96CEEC-AB3D-A844-B49A-38D72B52BCFE}" type="datetimeFigureOut">
              <a:rPr lang="en-US" smtClean="0"/>
              <a:t>8/26/26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1EE84825-6BB1-1243-A5E8-8334684BFCE1}" type="slidenum">
              <a:rPr lang="en-US" smtClean="0"/>
              <a:t>‹#›</a:t>
            </a:fld>
            <a:endParaRPr lang="en-US"/>
          </a:p>
        </p:txBody>
      </p:sp>
    </p:spTree>
    <p:extLst>
      <p:ext uri="{BB962C8B-B14F-4D97-AF65-F5344CB8AC3E}">
        <p14:creationId xmlns:p14="http://schemas.microsoft.com/office/powerpoint/2010/main" val="286436297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1EE84825-6BB1-1243-A5E8-8334684BFCE1}" type="slidenum">
              <a:rPr lang="en-US" smtClean="0"/>
              <a:t>‹#›</a:t>
            </a:fld>
            <a:endParaRPr lang="en-US"/>
          </a:p>
        </p:txBody>
      </p:sp>
    </p:spTree>
    <p:extLst>
      <p:ext uri="{BB962C8B-B14F-4D97-AF65-F5344CB8AC3E}">
        <p14:creationId xmlns:p14="http://schemas.microsoft.com/office/powerpoint/2010/main" val="4019666562"/>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FF96CEEC-AB3D-A844-B49A-38D72B52BCFE}" type="datetimeFigureOut">
              <a:rPr lang="en-US" smtClean="0"/>
              <a:t>8/26/26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1EE84825-6BB1-1243-A5E8-8334684BFCE1}"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88612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1EE84825-6BB1-1243-A5E8-8334684BFCE1}"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4007863229"/>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dirty="0"/>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2ABAD28B-DD56-4B56-883A-96608C765E28}" type="datetimeFigureOut">
              <a:rPr lang="en-US" smtClean="0"/>
              <a:pPr/>
              <a:t>8/26/26</a:t>
            </a:fld>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7DF5BAF5-ABAB-4575-8E56-D109A3D17F9F}" type="slidenum">
              <a:rPr lang="en-US" smtClean="0"/>
              <a:pPr/>
              <a:t>‹#›</a:t>
            </a:fld>
            <a:endParaRPr lang="en-US" dirty="0"/>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015498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dirty="0"/>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2ABAD28B-DD56-4B56-883A-96608C765E28}" type="datetimeFigureOut">
              <a:rPr lang="en-US" smtClean="0"/>
              <a:pPr/>
              <a:t>8/26/26</a:t>
            </a:fld>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7DF5BAF5-ABAB-4575-8E56-D109A3D17F9F}" type="slidenum">
              <a:rPr lang="en-US" smtClean="0"/>
              <a:pPr/>
              <a:t>‹#›</a:t>
            </a:fld>
            <a:endParaRPr lang="en-US" dirty="0"/>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229091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F96CEEC-AB3D-A844-B49A-38D72B52BCFE}" type="datetimeFigureOut">
              <a:rPr lang="en-US" smtClean="0"/>
              <a:t>8/26/26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1EE84825-6BB1-1243-A5E8-8334684BFCE1}" type="slidenum">
              <a:rPr lang="en-US" smtClean="0"/>
              <a:t>‹#›</a:t>
            </a:fld>
            <a:endParaRPr lang="en-US"/>
          </a:p>
        </p:txBody>
      </p:sp>
    </p:spTree>
    <p:extLst>
      <p:ext uri="{BB962C8B-B14F-4D97-AF65-F5344CB8AC3E}">
        <p14:creationId xmlns:p14="http://schemas.microsoft.com/office/powerpoint/2010/main" val="374835011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FF96CEEC-AB3D-A844-B49A-38D72B52BCFE}" type="datetimeFigureOut">
              <a:rPr lang="en-US" smtClean="0"/>
              <a:t>8/26/26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1EE84825-6BB1-1243-A5E8-8334684BFCE1}" type="slidenum">
              <a:rPr lang="en-US" smtClean="0"/>
              <a:t>‹#›</a:t>
            </a:fld>
            <a:endParaRPr lang="en-US"/>
          </a:p>
        </p:txBody>
      </p:sp>
    </p:spTree>
    <p:extLst>
      <p:ext uri="{BB962C8B-B14F-4D97-AF65-F5344CB8AC3E}">
        <p14:creationId xmlns:p14="http://schemas.microsoft.com/office/powerpoint/2010/main" val="3817132307"/>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FF96CEEC-AB3D-A844-B49A-38D72B52BCFE}" type="datetimeFigureOut">
              <a:rPr lang="en-US" smtClean="0"/>
              <a:t>8/26/26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1EE84825-6BB1-1243-A5E8-8334684BFCE1}" type="slidenum">
              <a:rPr lang="en-US" smtClean="0"/>
              <a:t>‹#›</a:t>
            </a:fld>
            <a:endParaRPr lang="en-US"/>
          </a:p>
        </p:txBody>
      </p:sp>
    </p:spTree>
    <p:extLst>
      <p:ext uri="{BB962C8B-B14F-4D97-AF65-F5344CB8AC3E}">
        <p14:creationId xmlns:p14="http://schemas.microsoft.com/office/powerpoint/2010/main" val="174858625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FF96CEEC-AB3D-A844-B49A-38D72B52BCFE}" type="datetimeFigureOut">
              <a:rPr lang="en-US" smtClean="0"/>
              <a:t>8/26/26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1EE84825-6BB1-1243-A5E8-8334684BFCE1}"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954172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0621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7483907"/>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30.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6"/>
          <p:cNvGrpSpPr/>
          <p:nvPr/>
        </p:nvGrpSpPr>
        <p:grpSpPr>
          <a:xfrm>
            <a:off x="-1492" y="0"/>
            <a:ext cx="5435600" cy="6858000"/>
            <a:chOff x="0" y="0"/>
            <a:chExt cx="10871200" cy="13716000"/>
          </a:xfrm>
        </p:grpSpPr>
        <p:sp>
          <p:nvSpPr>
            <p:cNvPr id="17" name="Freeform 17"/>
            <p:cNvSpPr/>
            <p:nvPr/>
          </p:nvSpPr>
          <p:spPr>
            <a:xfrm>
              <a:off x="0" y="0"/>
              <a:ext cx="10871200" cy="13716000"/>
            </a:xfrm>
            <a:custGeom>
              <a:avLst/>
              <a:gdLst/>
              <a:ahLst/>
              <a:cxnLst/>
              <a:rect l="l" t="t" r="r" b="b"/>
              <a:pathLst>
                <a:path w="10871200" h="13716000">
                  <a:moveTo>
                    <a:pt x="0" y="0"/>
                  </a:moveTo>
                  <a:lnTo>
                    <a:pt x="10871200" y="0"/>
                  </a:lnTo>
                  <a:lnTo>
                    <a:pt x="10871200" y="13716000"/>
                  </a:lnTo>
                  <a:lnTo>
                    <a:pt x="0" y="13716000"/>
                  </a:lnTo>
                  <a:lnTo>
                    <a:pt x="0" y="0"/>
                  </a:lnTo>
                  <a:close/>
                </a:path>
              </a:pathLst>
            </a:custGeom>
            <a:blipFill>
              <a:blip r:embed="rId3"/>
              <a:stretch>
                <a:fillRect/>
              </a:stretch>
            </a:blipFill>
          </p:spPr>
          <p:txBody>
            <a:bodyPr/>
            <a:lstStyle/>
            <a:p>
              <a:endParaRPr lang="en-US" sz="1200"/>
            </a:p>
          </p:txBody>
        </p:sp>
      </p:grpSp>
      <p:grpSp>
        <p:nvGrpSpPr>
          <p:cNvPr id="20" name="Group 20"/>
          <p:cNvGrpSpPr/>
          <p:nvPr/>
        </p:nvGrpSpPr>
        <p:grpSpPr>
          <a:xfrm>
            <a:off x="798582" y="4535196"/>
            <a:ext cx="3526365" cy="762000"/>
            <a:chOff x="0" y="0"/>
            <a:chExt cx="7052729" cy="1524000"/>
          </a:xfrm>
        </p:grpSpPr>
        <p:sp>
          <p:nvSpPr>
            <p:cNvPr id="21" name="Freeform 21"/>
            <p:cNvSpPr/>
            <p:nvPr/>
          </p:nvSpPr>
          <p:spPr>
            <a:xfrm>
              <a:off x="0" y="0"/>
              <a:ext cx="7052691" cy="1524000"/>
            </a:xfrm>
            <a:custGeom>
              <a:avLst/>
              <a:gdLst/>
              <a:ahLst/>
              <a:cxnLst/>
              <a:rect l="l" t="t" r="r" b="b"/>
              <a:pathLst>
                <a:path w="7052691" h="1524000">
                  <a:moveTo>
                    <a:pt x="0" y="0"/>
                  </a:moveTo>
                  <a:lnTo>
                    <a:pt x="7052691" y="0"/>
                  </a:lnTo>
                  <a:lnTo>
                    <a:pt x="7052691" y="1524000"/>
                  </a:lnTo>
                  <a:lnTo>
                    <a:pt x="0" y="1524000"/>
                  </a:lnTo>
                  <a:lnTo>
                    <a:pt x="0" y="0"/>
                  </a:lnTo>
                  <a:close/>
                </a:path>
              </a:pathLst>
            </a:custGeom>
            <a:blipFill>
              <a:blip r:embed="rId4"/>
              <a:stretch>
                <a:fillRect/>
              </a:stretch>
            </a:blipFill>
          </p:spPr>
          <p:txBody>
            <a:bodyPr/>
            <a:lstStyle/>
            <a:p>
              <a:endParaRPr lang="en-US" sz="1200"/>
            </a:p>
          </p:txBody>
        </p:sp>
      </p:grpSp>
      <p:sp>
        <p:nvSpPr>
          <p:cNvPr id="26" name="TextBox 26"/>
          <p:cNvSpPr txBox="1"/>
          <p:nvPr/>
        </p:nvSpPr>
        <p:spPr>
          <a:xfrm>
            <a:off x="5872759" y="1148997"/>
            <a:ext cx="6145619" cy="2179123"/>
          </a:xfrm>
          <a:prstGeom prst="rect">
            <a:avLst/>
          </a:prstGeom>
        </p:spPr>
        <p:txBody>
          <a:bodyPr wrap="square" lIns="0" tIns="0" rIns="0" bIns="0" rtlCol="0" anchor="t">
            <a:spAutoFit/>
          </a:bodyPr>
          <a:lstStyle/>
          <a:p>
            <a:pPr>
              <a:lnSpc>
                <a:spcPts val="4200"/>
              </a:lnSpc>
            </a:pPr>
            <a:r>
              <a:rPr lang="en-US" sz="4800" b="1" dirty="0">
                <a:latin typeface="Calibri" pitchFamily="34" charset="0"/>
                <a:ea typeface="Calibri" pitchFamily="34" charset="-122"/>
                <a:cs typeface="Calibri" pitchFamily="34" charset="-120"/>
              </a:rPr>
              <a:t>Introduction to Quantitative Methods in Environmental Pharmacoepidemiology</a:t>
            </a:r>
            <a:endParaRPr lang="en-US" sz="4800" dirty="0"/>
          </a:p>
        </p:txBody>
      </p:sp>
      <p:sp>
        <p:nvSpPr>
          <p:cNvPr id="30" name="TextBox 30"/>
          <p:cNvSpPr txBox="1"/>
          <p:nvPr/>
        </p:nvSpPr>
        <p:spPr>
          <a:xfrm>
            <a:off x="437148" y="2672350"/>
            <a:ext cx="4249235" cy="1513299"/>
          </a:xfrm>
          <a:prstGeom prst="rect">
            <a:avLst/>
          </a:prstGeom>
        </p:spPr>
        <p:txBody>
          <a:bodyPr wrap="square" lIns="0" tIns="0" rIns="0" bIns="0" rtlCol="0" anchor="t">
            <a:spAutoFit/>
          </a:bodyPr>
          <a:lstStyle/>
          <a:p>
            <a:pPr algn="ctr">
              <a:lnSpc>
                <a:spcPts val="2986"/>
              </a:lnSpc>
            </a:pPr>
            <a:r>
              <a:rPr lang="en-US" sz="2400" b="1" dirty="0">
                <a:solidFill>
                  <a:srgbClr val="FDFDFB"/>
                </a:solidFill>
                <a:latin typeface="Open Sans Bold"/>
                <a:ea typeface="Open Sans Bold"/>
                <a:cs typeface="Open Sans Bold"/>
                <a:sym typeface="Open Sans Bold"/>
              </a:rPr>
              <a:t>Environmental Pharmacoepidemiology Preconference Course</a:t>
            </a:r>
          </a:p>
          <a:p>
            <a:pPr algn="ctr">
              <a:lnSpc>
                <a:spcPts val="2986"/>
              </a:lnSpc>
            </a:pPr>
            <a:r>
              <a:rPr lang="en-US" sz="2400" b="1" dirty="0">
                <a:solidFill>
                  <a:srgbClr val="FDFDFB"/>
                </a:solidFill>
                <a:latin typeface="Open Sans Bold"/>
                <a:ea typeface="Open Sans Bold"/>
                <a:cs typeface="Open Sans Bold"/>
                <a:sym typeface="Open Sans Bold"/>
              </a:rPr>
              <a:t>42nd Annual Meeting</a:t>
            </a:r>
          </a:p>
        </p:txBody>
      </p:sp>
      <p:sp>
        <p:nvSpPr>
          <p:cNvPr id="5" name="TextBox 4">
            <a:extLst>
              <a:ext uri="{FF2B5EF4-FFF2-40B4-BE49-F238E27FC236}">
                <a16:creationId xmlns:a16="http://schemas.microsoft.com/office/drawing/2014/main" id="{D1565351-69BE-D29D-578B-7563184A3F38}"/>
              </a:ext>
            </a:extLst>
          </p:cNvPr>
          <p:cNvSpPr txBox="1"/>
          <p:nvPr/>
        </p:nvSpPr>
        <p:spPr>
          <a:xfrm>
            <a:off x="6392958" y="4281896"/>
            <a:ext cx="5063928" cy="1508105"/>
          </a:xfrm>
          <a:prstGeom prst="rect">
            <a:avLst/>
          </a:prstGeom>
          <a:noFill/>
        </p:spPr>
        <p:txBody>
          <a:bodyPr wrap="square">
            <a:spAutoFit/>
          </a:bodyPr>
          <a:lstStyle/>
          <a:p>
            <a:pPr indent="0" algn="ctr" rtl="0">
              <a:buNone/>
            </a:pPr>
            <a:r>
              <a:rPr lang="en-US" sz="2400" dirty="0">
                <a:latin typeface="Calibri" panose="020F0502020204030204" pitchFamily="34" charset="0"/>
                <a:ea typeface="Open Sans" panose="020B0606030504020204" pitchFamily="34" charset="0"/>
                <a:cs typeface="Calibri" panose="020F0502020204030204" pitchFamily="34" charset="0"/>
              </a:rPr>
              <a:t>Soko Setoguchi, </a:t>
            </a:r>
            <a:r>
              <a:rPr lang="en-US" sz="2400" b="0" i="0" dirty="0">
                <a:effectLst/>
                <a:latin typeface="Calibri" panose="020F0502020204030204" pitchFamily="34" charset="0"/>
                <a:ea typeface="Open Sans" panose="020B0606030504020204" pitchFamily="34" charset="0"/>
                <a:cs typeface="Calibri" panose="020F0502020204030204" pitchFamily="34" charset="0"/>
              </a:rPr>
              <a:t>MD, DrPH, FISPE</a:t>
            </a:r>
          </a:p>
          <a:p>
            <a:pPr indent="0" algn="ctr" rtl="0">
              <a:buNone/>
            </a:pPr>
            <a:endParaRPr lang="en-US" sz="2800" dirty="0">
              <a:latin typeface="Calibri" panose="020F0502020204030204" pitchFamily="34" charset="0"/>
              <a:ea typeface="Open Sans" panose="020B0606030504020204" pitchFamily="34" charset="0"/>
              <a:cs typeface="Calibri" panose="020F0502020204030204" pitchFamily="34" charset="0"/>
            </a:endParaRPr>
          </a:p>
          <a:p>
            <a:pPr indent="0" algn="ctr" rtl="0">
              <a:buNone/>
            </a:pPr>
            <a:r>
              <a:rPr lang="en-US" sz="2000" dirty="0">
                <a:latin typeface="Calibri" panose="020F0502020204030204" pitchFamily="34" charset="0"/>
                <a:ea typeface="Open Sans" panose="020B0606030504020204" pitchFamily="34" charset="0"/>
                <a:cs typeface="Calibri" panose="020F0502020204030204" pitchFamily="34" charset="0"/>
              </a:rPr>
              <a:t>Rutgers Health-</a:t>
            </a:r>
            <a:r>
              <a:rPr lang="en-US" sz="2000" dirty="0" err="1">
                <a:latin typeface="Calibri" panose="020F0502020204030204" pitchFamily="34" charset="0"/>
                <a:ea typeface="Open Sans" panose="020B0606030504020204" pitchFamily="34" charset="0"/>
                <a:cs typeface="Calibri" panose="020F0502020204030204" pitchFamily="34" charset="0"/>
              </a:rPr>
              <a:t>RWJBarnaba</a:t>
            </a:r>
            <a:r>
              <a:rPr lang="en-US" sz="2000" dirty="0">
                <a:latin typeface="Calibri" panose="020F0502020204030204" pitchFamily="34" charset="0"/>
                <a:ea typeface="Open Sans" panose="020B0606030504020204" pitchFamily="34" charset="0"/>
                <a:cs typeface="Calibri" panose="020F0502020204030204" pitchFamily="34" charset="0"/>
              </a:rPr>
              <a:t> Health Center for Climate, Health and Healthcare</a:t>
            </a:r>
            <a:endParaRPr lang="en-US" sz="2000" b="0" i="0" dirty="0">
              <a:effectLst/>
              <a:latin typeface="Calibri" panose="020F0502020204030204" pitchFamily="34" charset="0"/>
              <a:ea typeface="Open Sans" panose="020B060603050402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094415" cy="658368"/>
          </a:xfrm>
          <a:prstGeom prst="rect">
            <a:avLst/>
          </a:prstGeom>
          <a:noFill/>
          <a:ln/>
        </p:spPr>
        <p:txBody>
          <a:bodyPr wrap="square" lIns="0" tIns="0" rIns="0" bIns="0" rtlCol="0" anchor="t"/>
          <a:lstStyle/>
          <a:p>
            <a:pPr marL="0" indent="0" algn="l">
              <a:lnSpc>
                <a:spcPts val="3000"/>
              </a:lnSpc>
              <a:buNone/>
            </a:pPr>
            <a:r>
              <a:rPr lang="en-US" sz="3600" b="1" dirty="0">
                <a:latin typeface="Calibri" panose="020F0502020204030204" pitchFamily="34" charset="0"/>
                <a:ea typeface="Cambria" pitchFamily="34" charset="-122"/>
                <a:cs typeface="Calibri" panose="020F0502020204030204" pitchFamily="34" charset="0"/>
              </a:rPr>
              <a:t>What my session covers</a:t>
            </a:r>
            <a:endParaRPr lang="en-US" sz="3600" dirty="0">
              <a:latin typeface="Calibri" panose="020F0502020204030204" pitchFamily="34" charset="0"/>
              <a:cs typeface="Calibri" panose="020F0502020204030204" pitchFamily="34" charset="0"/>
            </a:endParaRPr>
          </a:p>
        </p:txBody>
      </p:sp>
      <p:sp>
        <p:nvSpPr>
          <p:cNvPr id="5" name="Shape 3"/>
          <p:cNvSpPr/>
          <p:nvPr/>
        </p:nvSpPr>
        <p:spPr>
          <a:xfrm>
            <a:off x="548640" y="1580827"/>
            <a:ext cx="3749040" cy="4546981"/>
          </a:xfrm>
          <a:prstGeom prst="roundRect">
            <a:avLst>
              <a:gd name="adj" fmla="val 2308"/>
            </a:avLst>
          </a:prstGeom>
          <a:solidFill>
            <a:srgbClr val="F4F8F7"/>
          </a:solidFill>
          <a:ln w="12700">
            <a:solidFill>
              <a:srgbClr val="D5E2E0"/>
            </a:solidFill>
            <a:prstDash val="solid"/>
          </a:ln>
          <a:effectLst>
            <a:outerShdw blurRad="76200" dist="25400" dir="5400000" algn="bl" rotWithShape="0">
              <a:srgbClr val="9AAEB0">
                <a:alpha val="28000"/>
              </a:srgbClr>
            </a:outerShdw>
          </a:effectLst>
        </p:spPr>
        <p:txBody>
          <a:bodyPr/>
          <a:lstStyle/>
          <a:p>
            <a:endParaRPr lang="en-US">
              <a:latin typeface="Calibri" panose="020F0502020204030204" pitchFamily="34" charset="0"/>
              <a:cs typeface="Calibri" panose="020F0502020204030204" pitchFamily="34" charset="0"/>
            </a:endParaRPr>
          </a:p>
        </p:txBody>
      </p:sp>
      <p:sp>
        <p:nvSpPr>
          <p:cNvPr id="6" name="Text 4"/>
          <p:cNvSpPr/>
          <p:nvPr/>
        </p:nvSpPr>
        <p:spPr>
          <a:xfrm>
            <a:off x="804672" y="1898078"/>
            <a:ext cx="3291840" cy="274320"/>
          </a:xfrm>
          <a:prstGeom prst="rect">
            <a:avLst/>
          </a:prstGeom>
          <a:noFill/>
          <a:ln/>
        </p:spPr>
        <p:txBody>
          <a:bodyPr wrap="square" lIns="0" tIns="0" rIns="0" bIns="0" rtlCol="0" anchor="ctr"/>
          <a:lstStyle/>
          <a:p>
            <a:pPr marL="0" indent="0">
              <a:buNone/>
            </a:pPr>
            <a:r>
              <a:rPr lang="en-US" sz="2400" b="1" kern="0" spc="150" dirty="0">
                <a:latin typeface="Calibri" panose="020F0502020204030204" pitchFamily="34" charset="0"/>
                <a:ea typeface="Calibri" pitchFamily="34" charset="-122"/>
                <a:cs typeface="Calibri" panose="020F0502020204030204" pitchFamily="34" charset="0"/>
              </a:rPr>
              <a:t>COVERED ELSEWHERE</a:t>
            </a:r>
            <a:endParaRPr lang="en-US" sz="2400" dirty="0">
              <a:latin typeface="Calibri" panose="020F0502020204030204" pitchFamily="34" charset="0"/>
              <a:cs typeface="Calibri" panose="020F0502020204030204" pitchFamily="34" charset="0"/>
            </a:endParaRPr>
          </a:p>
        </p:txBody>
      </p:sp>
      <p:sp>
        <p:nvSpPr>
          <p:cNvPr id="7" name="Text 5"/>
          <p:cNvSpPr/>
          <p:nvPr/>
        </p:nvSpPr>
        <p:spPr>
          <a:xfrm>
            <a:off x="804672" y="2569464"/>
            <a:ext cx="3291840" cy="3035808"/>
          </a:xfrm>
          <a:prstGeom prst="rect">
            <a:avLst/>
          </a:prstGeom>
          <a:noFill/>
          <a:ln/>
        </p:spPr>
        <p:txBody>
          <a:bodyPr wrap="square" lIns="0" tIns="0" rIns="0" bIns="0" rtlCol="0" anchor="t"/>
          <a:lstStyle/>
          <a:p>
            <a:pPr marL="177800" indent="-177800">
              <a:lnSpc>
                <a:spcPts val="2400"/>
              </a:lnSpc>
              <a:spcAft>
                <a:spcPts val="1200"/>
              </a:spcAft>
              <a:buSzPct val="100000"/>
              <a:buFontTx/>
              <a:buChar char="•"/>
            </a:pPr>
            <a:r>
              <a:rPr lang="en-US" sz="2400" dirty="0">
                <a:solidFill>
                  <a:srgbClr val="22343A"/>
                </a:solidFill>
                <a:latin typeface="Calibri" panose="020F0502020204030204" pitchFamily="34" charset="0"/>
                <a:ea typeface="Calibri" pitchFamily="34" charset="-122"/>
                <a:cs typeface="Calibri" panose="020F0502020204030204" pitchFamily="34" charset="0"/>
              </a:rPr>
              <a:t>Geospatial exposure linkage and disaster / supply-chain methods  →  other lectures</a:t>
            </a:r>
            <a:endParaRPr lang="en-US" sz="2400" dirty="0">
              <a:latin typeface="Calibri" panose="020F0502020204030204" pitchFamily="34" charset="0"/>
              <a:cs typeface="Calibri" panose="020F0502020204030204" pitchFamily="34" charset="0"/>
            </a:endParaRPr>
          </a:p>
          <a:p>
            <a:pPr marL="177800" indent="-177800">
              <a:lnSpc>
                <a:spcPts val="2400"/>
              </a:lnSpc>
              <a:spcAft>
                <a:spcPts val="1200"/>
              </a:spcAft>
              <a:buSzPct val="100000"/>
              <a:buChar char="•"/>
            </a:pPr>
            <a:r>
              <a:rPr lang="en-US" sz="2400" dirty="0">
                <a:solidFill>
                  <a:srgbClr val="22343A"/>
                </a:solidFill>
                <a:latin typeface="Calibri" panose="020F0502020204030204" pitchFamily="34" charset="0"/>
                <a:ea typeface="Calibri" pitchFamily="34" charset="-122"/>
                <a:cs typeface="Calibri" panose="020F0502020204030204" pitchFamily="34" charset="0"/>
              </a:rPr>
              <a:t>Drug-environment interaction: interaction and effect modification estimation  → Symposium on Monday</a:t>
            </a:r>
            <a:endParaRPr lang="en-US" sz="2400" dirty="0">
              <a:latin typeface="Calibri" panose="020F0502020204030204" pitchFamily="34" charset="0"/>
              <a:cs typeface="Calibri" panose="020F0502020204030204" pitchFamily="34" charset="0"/>
            </a:endParaRPr>
          </a:p>
        </p:txBody>
      </p:sp>
      <p:sp>
        <p:nvSpPr>
          <p:cNvPr id="9" name="Shape 7"/>
          <p:cNvSpPr/>
          <p:nvPr/>
        </p:nvSpPr>
        <p:spPr>
          <a:xfrm>
            <a:off x="4663440" y="1763464"/>
            <a:ext cx="6979615" cy="1390824"/>
          </a:xfrm>
          <a:prstGeom prst="roundRect">
            <a:avLst>
              <a:gd name="adj" fmla="val 6897"/>
            </a:avLst>
          </a:prstGeom>
          <a:solidFill>
            <a:srgbClr val="FFFFFF"/>
          </a:solidFill>
          <a:ln w="12700">
            <a:solidFill>
              <a:srgbClr val="D5E2E0"/>
            </a:solidFill>
            <a:prstDash val="solid"/>
          </a:ln>
          <a:effectLst>
            <a:outerShdw blurRad="76200" dist="25400" dir="5400000" algn="bl" rotWithShape="0">
              <a:srgbClr val="9AAEB0">
                <a:alpha val="28000"/>
              </a:srgbClr>
            </a:outerShdw>
          </a:effectLst>
        </p:spPr>
        <p:txBody>
          <a:bodyPr/>
          <a:lstStyle/>
          <a:p>
            <a:endParaRPr lang="en-US" dirty="0">
              <a:latin typeface="Calibri" panose="020F0502020204030204" pitchFamily="34" charset="0"/>
              <a:cs typeface="Calibri" panose="020F0502020204030204" pitchFamily="34" charset="0"/>
            </a:endParaRPr>
          </a:p>
        </p:txBody>
      </p:sp>
      <p:sp>
        <p:nvSpPr>
          <p:cNvPr id="10" name="Shape 8"/>
          <p:cNvSpPr/>
          <p:nvPr/>
        </p:nvSpPr>
        <p:spPr>
          <a:xfrm>
            <a:off x="4864608" y="2215896"/>
            <a:ext cx="548640" cy="548640"/>
          </a:xfrm>
          <a:prstGeom prst="ellipse">
            <a:avLst/>
          </a:prstGeom>
          <a:solidFill>
            <a:srgbClr val="0B6E75"/>
          </a:solidFill>
          <a:ln/>
          <a:effectLst>
            <a:outerShdw blurRad="63500" dist="12700" dir="5400000" algn="bl" rotWithShape="0">
              <a:srgbClr val="9AAEB0">
                <a:alpha val="25000"/>
              </a:srgbClr>
            </a:outerShdw>
          </a:effectLst>
        </p:spPr>
        <p:txBody>
          <a:bodyPr/>
          <a:lstStyle/>
          <a:p>
            <a:endParaRPr lang="en-US" sz="2000">
              <a:latin typeface="Calibri" panose="020F0502020204030204" pitchFamily="34" charset="0"/>
              <a:cs typeface="Calibri" panose="020F0502020204030204" pitchFamily="34" charset="0"/>
            </a:endParaRPr>
          </a:p>
        </p:txBody>
      </p:sp>
      <p:sp>
        <p:nvSpPr>
          <p:cNvPr id="12" name="Text 9"/>
          <p:cNvSpPr/>
          <p:nvPr/>
        </p:nvSpPr>
        <p:spPr>
          <a:xfrm>
            <a:off x="5596128" y="2078736"/>
            <a:ext cx="5836615" cy="822960"/>
          </a:xfrm>
          <a:prstGeom prst="rect">
            <a:avLst/>
          </a:prstGeom>
          <a:noFill/>
          <a:ln/>
        </p:spPr>
        <p:txBody>
          <a:bodyPr wrap="square" lIns="0" tIns="0" rIns="0" bIns="0" rtlCol="0" anchor="ctr"/>
          <a:lstStyle/>
          <a:p>
            <a:pPr marL="0" indent="0">
              <a:lnSpc>
                <a:spcPts val="2400"/>
              </a:lnSpc>
              <a:spcAft>
                <a:spcPts val="300"/>
              </a:spcAft>
              <a:buNone/>
            </a:pPr>
            <a:r>
              <a:rPr lang="en-US" sz="2400" b="1" dirty="0">
                <a:latin typeface="Calibri" panose="020F0502020204030204" pitchFamily="34" charset="0"/>
                <a:ea typeface="Calibri" pitchFamily="34" charset="-122"/>
                <a:cs typeface="Calibri" panose="020F0502020204030204" pitchFamily="34" charset="0"/>
              </a:rPr>
              <a:t>1.  Emission-based drug utilization and access for climate-smart drug use</a:t>
            </a:r>
            <a:endParaRPr lang="en-US" sz="2400" dirty="0">
              <a:latin typeface="Calibri" panose="020F0502020204030204" pitchFamily="34" charset="0"/>
              <a:cs typeface="Calibri" panose="020F0502020204030204" pitchFamily="34" charset="0"/>
            </a:endParaRPr>
          </a:p>
        </p:txBody>
      </p:sp>
      <p:sp>
        <p:nvSpPr>
          <p:cNvPr id="13" name="Shape 10"/>
          <p:cNvSpPr/>
          <p:nvPr/>
        </p:nvSpPr>
        <p:spPr>
          <a:xfrm>
            <a:off x="4663440" y="3348424"/>
            <a:ext cx="6979615" cy="1390824"/>
          </a:xfrm>
          <a:prstGeom prst="roundRect">
            <a:avLst>
              <a:gd name="adj" fmla="val 6897"/>
            </a:avLst>
          </a:prstGeom>
          <a:solidFill>
            <a:srgbClr val="FFFFFF"/>
          </a:solidFill>
          <a:ln w="12700">
            <a:solidFill>
              <a:srgbClr val="D5E2E0"/>
            </a:solidFill>
            <a:prstDash val="solid"/>
          </a:ln>
          <a:effectLst>
            <a:outerShdw blurRad="76200" dist="25400" dir="5400000" algn="bl" rotWithShape="0">
              <a:srgbClr val="9AAEB0">
                <a:alpha val="28000"/>
              </a:srgbClr>
            </a:outerShdw>
          </a:effectLst>
        </p:spPr>
        <p:txBody>
          <a:bodyPr/>
          <a:lstStyle/>
          <a:p>
            <a:endParaRPr lang="en-US" sz="2000">
              <a:latin typeface="Calibri" panose="020F0502020204030204" pitchFamily="34" charset="0"/>
              <a:cs typeface="Calibri" panose="020F0502020204030204" pitchFamily="34" charset="0"/>
            </a:endParaRPr>
          </a:p>
        </p:txBody>
      </p:sp>
      <p:sp>
        <p:nvSpPr>
          <p:cNvPr id="14" name="Shape 11"/>
          <p:cNvSpPr/>
          <p:nvPr/>
        </p:nvSpPr>
        <p:spPr>
          <a:xfrm>
            <a:off x="4864608" y="3709414"/>
            <a:ext cx="548640" cy="548640"/>
          </a:xfrm>
          <a:prstGeom prst="ellipse">
            <a:avLst/>
          </a:prstGeom>
          <a:solidFill>
            <a:srgbClr val="C9552F"/>
          </a:solidFill>
          <a:ln/>
          <a:effectLst>
            <a:outerShdw blurRad="63500" dist="12700" dir="5400000" algn="bl" rotWithShape="0">
              <a:srgbClr val="9AAEB0">
                <a:alpha val="25000"/>
              </a:srgbClr>
            </a:outerShdw>
          </a:effectLst>
        </p:spPr>
        <p:txBody>
          <a:bodyPr/>
          <a:lstStyle/>
          <a:p>
            <a:endParaRPr lang="en-US" sz="2000">
              <a:latin typeface="Calibri" panose="020F0502020204030204" pitchFamily="34" charset="0"/>
              <a:cs typeface="Calibri" panose="020F0502020204030204" pitchFamily="34" charset="0"/>
            </a:endParaRPr>
          </a:p>
        </p:txBody>
      </p:sp>
      <p:sp>
        <p:nvSpPr>
          <p:cNvPr id="16" name="Text 12"/>
          <p:cNvSpPr/>
          <p:nvPr/>
        </p:nvSpPr>
        <p:spPr>
          <a:xfrm>
            <a:off x="5596128" y="3572254"/>
            <a:ext cx="5836615" cy="822960"/>
          </a:xfrm>
          <a:prstGeom prst="rect">
            <a:avLst/>
          </a:prstGeom>
          <a:noFill/>
          <a:ln/>
        </p:spPr>
        <p:txBody>
          <a:bodyPr wrap="square" lIns="0" tIns="0" rIns="0" bIns="0" rtlCol="0" anchor="ctr"/>
          <a:lstStyle/>
          <a:p>
            <a:pPr>
              <a:lnSpc>
                <a:spcPts val="2400"/>
              </a:lnSpc>
              <a:spcAft>
                <a:spcPts val="300"/>
              </a:spcAft>
            </a:pPr>
            <a:r>
              <a:rPr lang="en-US" sz="2400" b="1" dirty="0">
                <a:latin typeface="Calibri" panose="020F0502020204030204" pitchFamily="34" charset="0"/>
                <a:ea typeface="Calibri" pitchFamily="34" charset="-122"/>
                <a:cs typeface="Calibri" panose="020F0502020204030204" pitchFamily="34" charset="0"/>
              </a:rPr>
              <a:t>2. Consumption-based exposure and risk assessment (PEC/PNEC) to understand potential toxicity/impacts of pharmaceuticals in the environment</a:t>
            </a:r>
            <a:endParaRPr lang="en-US" sz="2400" dirty="0">
              <a:latin typeface="Calibri" panose="020F0502020204030204" pitchFamily="34" charset="0"/>
              <a:cs typeface="Calibri" panose="020F0502020204030204" pitchFamily="34" charset="0"/>
            </a:endParaRPr>
          </a:p>
        </p:txBody>
      </p:sp>
      <p:sp>
        <p:nvSpPr>
          <p:cNvPr id="17" name="Shape 13"/>
          <p:cNvSpPr/>
          <p:nvPr/>
        </p:nvSpPr>
        <p:spPr>
          <a:xfrm>
            <a:off x="4663440" y="4933384"/>
            <a:ext cx="6979615" cy="1390824"/>
          </a:xfrm>
          <a:prstGeom prst="roundRect">
            <a:avLst>
              <a:gd name="adj" fmla="val 6897"/>
            </a:avLst>
          </a:prstGeom>
          <a:solidFill>
            <a:srgbClr val="FFFFFF"/>
          </a:solidFill>
          <a:ln w="12700">
            <a:solidFill>
              <a:srgbClr val="D5E2E0"/>
            </a:solidFill>
            <a:prstDash val="solid"/>
          </a:ln>
          <a:effectLst>
            <a:outerShdw blurRad="76200" dist="25400" dir="5400000" algn="bl" rotWithShape="0">
              <a:srgbClr val="9AAEB0">
                <a:alpha val="28000"/>
              </a:srgbClr>
            </a:outerShdw>
          </a:effectLst>
        </p:spPr>
        <p:txBody>
          <a:bodyPr/>
          <a:lstStyle/>
          <a:p>
            <a:endParaRPr lang="en-US" sz="2000" dirty="0">
              <a:latin typeface="Calibri" panose="020F0502020204030204" pitchFamily="34" charset="0"/>
              <a:cs typeface="Calibri" panose="020F0502020204030204" pitchFamily="34" charset="0"/>
            </a:endParaRPr>
          </a:p>
        </p:txBody>
      </p:sp>
      <p:sp>
        <p:nvSpPr>
          <p:cNvPr id="18" name="Shape 14"/>
          <p:cNvSpPr/>
          <p:nvPr/>
        </p:nvSpPr>
        <p:spPr>
          <a:xfrm>
            <a:off x="4864608" y="5323136"/>
            <a:ext cx="548640" cy="548640"/>
          </a:xfrm>
          <a:prstGeom prst="ellipse">
            <a:avLst/>
          </a:prstGeom>
          <a:solidFill>
            <a:srgbClr val="0B6E75"/>
          </a:solidFill>
          <a:ln/>
          <a:effectLst>
            <a:outerShdw blurRad="63500" dist="12700" dir="5400000" algn="bl" rotWithShape="0">
              <a:srgbClr val="9AAEB0">
                <a:alpha val="25000"/>
              </a:srgbClr>
            </a:outerShdw>
          </a:effectLst>
        </p:spPr>
        <p:txBody>
          <a:bodyPr/>
          <a:lstStyle/>
          <a:p>
            <a:endParaRPr lang="en-US" sz="2000">
              <a:latin typeface="Calibri" panose="020F0502020204030204" pitchFamily="34" charset="0"/>
              <a:cs typeface="Calibri" panose="020F0502020204030204" pitchFamily="34" charset="0"/>
            </a:endParaRPr>
          </a:p>
        </p:txBody>
      </p:sp>
      <p:sp>
        <p:nvSpPr>
          <p:cNvPr id="20" name="Text 15"/>
          <p:cNvSpPr/>
          <p:nvPr/>
        </p:nvSpPr>
        <p:spPr>
          <a:xfrm>
            <a:off x="5596128" y="5185976"/>
            <a:ext cx="5836615" cy="822960"/>
          </a:xfrm>
          <a:prstGeom prst="rect">
            <a:avLst/>
          </a:prstGeom>
          <a:noFill/>
          <a:ln/>
        </p:spPr>
        <p:txBody>
          <a:bodyPr wrap="square" lIns="0" tIns="0" rIns="0" bIns="0" rtlCol="0" anchor="ctr"/>
          <a:lstStyle/>
          <a:p>
            <a:pPr marL="0" indent="0">
              <a:lnSpc>
                <a:spcPts val="2400"/>
              </a:lnSpc>
              <a:spcAft>
                <a:spcPts val="300"/>
              </a:spcAft>
              <a:buNone/>
            </a:pPr>
            <a:r>
              <a:rPr lang="en-US" sz="2400" b="1" dirty="0">
                <a:latin typeface="Calibri" panose="020F0502020204030204" pitchFamily="34" charset="0"/>
                <a:ea typeface="Calibri" pitchFamily="34" charset="-122"/>
                <a:cs typeface="Calibri" panose="020F0502020204030204" pitchFamily="34" charset="0"/>
              </a:rPr>
              <a:t>3.  Life-cycle assessment for climate-smart treatment choices</a:t>
            </a:r>
            <a:endParaRPr lang="en-US" sz="2400" dirty="0">
              <a:latin typeface="Calibri" panose="020F0502020204030204" pitchFamily="34" charset="0"/>
              <a:cs typeface="Calibri" panose="020F0502020204030204" pitchFamily="34" charset="0"/>
            </a:endParaRPr>
          </a:p>
        </p:txBody>
      </p:sp>
      <p:sp>
        <p:nvSpPr>
          <p:cNvPr id="22" name="Text 17"/>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latin typeface="Calibri" panose="020F0502020204030204" pitchFamily="34" charset="0"/>
                <a:ea typeface="Calibri" pitchFamily="34" charset="-122"/>
                <a:cs typeface="Calibri" panose="020F0502020204030204" pitchFamily="34" charset="0"/>
              </a:rPr>
              <a:t>2</a:t>
            </a:r>
            <a:endParaRPr lang="en-US" sz="9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311127"/>
            <a:ext cx="11413205" cy="658368"/>
          </a:xfrm>
          <a:prstGeom prst="rect">
            <a:avLst/>
          </a:prstGeom>
          <a:noFill/>
          <a:ln/>
        </p:spPr>
        <p:txBody>
          <a:bodyPr wrap="square" lIns="0" tIns="0" rIns="0" bIns="0" rtlCol="0" anchor="t"/>
          <a:lstStyle/>
          <a:p>
            <a:pPr marL="0" indent="0" algn="l">
              <a:lnSpc>
                <a:spcPts val="3000"/>
              </a:lnSpc>
              <a:buNone/>
            </a:pPr>
            <a:r>
              <a:rPr lang="en-US" sz="3600" b="1" dirty="0">
                <a:latin typeface="Calibri" panose="020F0502020204030204" pitchFamily="34" charset="0"/>
                <a:ea typeface="Cambria" pitchFamily="34" charset="-122"/>
                <a:cs typeface="Calibri" panose="020F0502020204030204" pitchFamily="34" charset="0"/>
              </a:rPr>
              <a:t>Standard and relatively unfamiliar methods in environmental pharmacoepidemiology</a:t>
            </a:r>
            <a:endParaRPr lang="en-US" sz="3600" dirty="0">
              <a:latin typeface="Calibri" panose="020F0502020204030204" pitchFamily="34" charset="0"/>
              <a:cs typeface="Calibri" panose="020F0502020204030204" pitchFamily="34"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38327910"/>
              </p:ext>
            </p:extLst>
          </p:nvPr>
        </p:nvGraphicFramePr>
        <p:xfrm>
          <a:off x="548640" y="1172691"/>
          <a:ext cx="11082528" cy="5201452"/>
        </p:xfrm>
        <a:graphic>
          <a:graphicData uri="http://schemas.openxmlformats.org/drawingml/2006/table">
            <a:tbl>
              <a:tblPr/>
              <a:tblGrid>
                <a:gridCol w="33832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6281928">
                  <a:extLst>
                    <a:ext uri="{9D8B030D-6E8A-4147-A177-3AD203B41FA5}">
                      <a16:colId xmlns:a16="http://schemas.microsoft.com/office/drawing/2014/main" val="20002"/>
                    </a:ext>
                  </a:extLst>
                </a:gridCol>
              </a:tblGrid>
              <a:tr h="659932">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0B6E75"/>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Origin</a:t>
                      </a:r>
                      <a:endParaRPr lang="en-US" sz="2000" dirty="0">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0B6E75"/>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Environmental application in this field</a:t>
                      </a:r>
                      <a:endParaRPr lang="en-US" sz="2000" dirty="0">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0B6E75"/>
                    </a:solidFill>
                  </a:tcPr>
                </a:tc>
                <a:extLst>
                  <a:ext uri="{0D108BD9-81ED-4DB2-BD59-A6C34878D82A}">
                    <a16:rowId xmlns:a16="http://schemas.microsoft.com/office/drawing/2014/main" val="10000"/>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New-user cohort and case-only designs</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Standard PE + environmental epi</a:t>
                      </a:r>
                      <a:endParaRPr lang="en-US" sz="16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noFill/>
                  </a:tcPr>
                </a:tc>
                <a:tc>
                  <a:txBody>
                    <a:bodyPr/>
                    <a:lstStyle/>
                    <a:p>
                      <a:pPr marL="0" indent="0" algn="l">
                        <a:buNone/>
                      </a:pPr>
                      <a:r>
                        <a:rPr lang="en-US" sz="2000" dirty="0">
                          <a:solidFill>
                            <a:schemeClr val="tx1"/>
                          </a:solidFill>
                          <a:latin typeface="Calibri" pitchFamily="34" charset="0"/>
                          <a:ea typeface="Calibri" pitchFamily="34" charset="-122"/>
                          <a:cs typeface="Calibri" pitchFamily="34" charset="-120"/>
                        </a:rPr>
                        <a:t>Interaction / effect modification for a time-varying environmental exposure  (symposium)</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Drug utilization (counts, DDDs, small-area and trend)</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tc>
                  <a:txBody>
                    <a:bodyPr/>
                    <a:lstStyle/>
                    <a:p>
                      <a:pPr marL="0" indent="0" algn="ctr">
                        <a:buNone/>
                      </a:pPr>
                      <a:r>
                        <a:rPr lang="en-US" sz="1600" b="1" dirty="0">
                          <a:solidFill>
                            <a:schemeClr val="tx1"/>
                          </a:solidFill>
                          <a:latin typeface="Calibri" pitchFamily="34" charset="0"/>
                          <a:ea typeface="Calibri" pitchFamily="34" charset="-122"/>
                          <a:cs typeface="Calibri" pitchFamily="34" charset="-120"/>
                        </a:rPr>
                        <a:t>Standard PE</a:t>
                      </a:r>
                      <a:endParaRPr lang="en-US" sz="16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noFill/>
                  </a:tcPr>
                </a:tc>
                <a:tc>
                  <a:txBody>
                    <a:bodyPr/>
                    <a:lstStyle/>
                    <a:p>
                      <a:pPr marL="0" indent="0" algn="l">
                        <a:buNone/>
                      </a:pPr>
                      <a:r>
                        <a:rPr lang="en-US" sz="2000" dirty="0">
                          <a:solidFill>
                            <a:schemeClr val="tx1"/>
                          </a:solidFill>
                          <a:latin typeface="Calibri" pitchFamily="34" charset="0"/>
                          <a:ea typeface="Calibri" pitchFamily="34" charset="-122"/>
                          <a:cs typeface="Calibri" pitchFamily="34" charset="-120"/>
                        </a:rPr>
                        <a:t>Emissions-weighted utilization: attach a per-unit impact factor to each dispensed unit</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Emission-driven drug utilization and access</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pitchFamily="34" charset="0"/>
                          <a:ea typeface="Calibri" charset="0"/>
                          <a:cs typeface="Calibri" pitchFamily="34" charset="-120"/>
                        </a:rPr>
                        <a:t>Less familiar</a:t>
                      </a: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indent="0">
                        <a:lnSpc>
                          <a:spcPts val="1800"/>
                        </a:lnSpc>
                        <a:buNone/>
                      </a:pPr>
                      <a:r>
                        <a:rPr lang="en-US" sz="2000" dirty="0">
                          <a:solidFill>
                            <a:schemeClr val="tx1"/>
                          </a:solidFill>
                          <a:latin typeface="Calibri" pitchFamily="34" charset="0"/>
                          <a:ea typeface="Calibri" pitchFamily="34" charset="-122"/>
                          <a:cs typeface="Calibri" pitchFamily="34" charset="-120"/>
                        </a:rPr>
                        <a:t>Population carbon footprint of dispensing and the access barriers to lower-emission options</a:t>
                      </a:r>
                      <a:endParaRPr lang="en-US" sz="2800" dirty="0">
                        <a:solidFill>
                          <a:schemeClr val="tx1"/>
                        </a:solidFill>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930425699"/>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Consumption-based exposure and risk assessment</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pitchFamily="34" charset="0"/>
                          <a:ea typeface="Calibri" charset="0"/>
                          <a:cs typeface="Calibri" pitchFamily="34" charset="-120"/>
                        </a:rPr>
                        <a:t>Less familiar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chemeClr val="tx1"/>
                        </a:solidFill>
                        <a:effectLst/>
                        <a:uLnTx/>
                        <a:uFillTx/>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indent="0" algn="l">
                        <a:buNone/>
                      </a:pPr>
                      <a:r>
                        <a:rPr lang="en-US" sz="2000" dirty="0">
                          <a:solidFill>
                            <a:schemeClr val="tx1"/>
                          </a:solidFill>
                          <a:latin typeface="Calibri" pitchFamily="34" charset="0"/>
                          <a:ea typeface="Calibri" pitchFamily="34" charset="-122"/>
                          <a:cs typeface="Calibri" pitchFamily="34" charset="-120"/>
                        </a:rPr>
                        <a:t>Predict environmental concentrations and risk quotients from consumption</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3"/>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Life-cycle assessment of treatment pathways</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pitchFamily="34" charset="0"/>
                          <a:ea typeface="Calibri" charset="0"/>
                          <a:cs typeface="Calibri" pitchFamily="34" charset="-120"/>
                        </a:rPr>
                        <a:t>Less familiar</a:t>
                      </a: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Calibri" pitchFamily="34" charset="0"/>
                          <a:ea typeface="Calibri" charset="0"/>
                          <a:cs typeface="Calibri" pitchFamily="34" charset="-120"/>
                        </a:rPr>
                        <a:t>Quantification of climate impacts: </a:t>
                      </a:r>
                      <a:r>
                        <a:rPr lang="en-US" sz="2000" dirty="0">
                          <a:solidFill>
                            <a:schemeClr val="tx1"/>
                          </a:solidFill>
                          <a:latin typeface="Calibri" pitchFamily="34" charset="0"/>
                          <a:ea typeface="Calibri" pitchFamily="34" charset="-122"/>
                          <a:cs typeface="Calibri" pitchFamily="34" charset="-120"/>
                        </a:rPr>
                        <a:t>Cradle-to-grave burden of pharmaceutical treatment and disposal.</a:t>
                      </a:r>
                      <a:endParaRPr lang="en-US" sz="2800" dirty="0">
                        <a:solidFill>
                          <a:schemeClr val="tx1"/>
                        </a:solidFill>
                      </a:endParaRPr>
                    </a:p>
                    <a:p>
                      <a:pPr marL="0" indent="0" algn="l">
                        <a:buNone/>
                      </a:pPr>
                      <a:endParaRPr lang="en-US" sz="2000" dirty="0">
                        <a:solidFill>
                          <a:schemeClr val="tx1"/>
                        </a:solidFill>
                        <a:latin typeface="Calibri" pitchFamily="34" charset="0"/>
                        <a:ea typeface="Calibri" charset="0"/>
                        <a:cs typeface="Calibri" pitchFamily="34" charset="-12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05"/>
                  </a:ext>
                </a:extLst>
              </a:tr>
              <a:tr h="659932">
                <a:tc>
                  <a:txBody>
                    <a:bodyPr/>
                    <a:lstStyle/>
                    <a:p>
                      <a:pPr marL="0" indent="0" algn="l">
                        <a:buNone/>
                      </a:pPr>
                      <a:r>
                        <a:rPr lang="en-US" sz="2000" b="1" dirty="0">
                          <a:solidFill>
                            <a:schemeClr val="tx1"/>
                          </a:solidFill>
                          <a:latin typeface="Calibri" pitchFamily="34" charset="0"/>
                          <a:ea typeface="Calibri" pitchFamily="34" charset="-122"/>
                          <a:cs typeface="Calibri" pitchFamily="34" charset="-120"/>
                        </a:rPr>
                        <a:t>Geospatial exposure linkage</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Calibri" pitchFamily="34" charset="0"/>
                          <a:ea typeface="Calibri" charset="0"/>
                          <a:cs typeface="Calibri" pitchFamily="34" charset="-120"/>
                        </a:rPr>
                        <a:t> Less familiar</a:t>
                      </a: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noFill/>
                  </a:tcPr>
                </a:tc>
                <a:tc>
                  <a:txBody>
                    <a:bodyPr/>
                    <a:lstStyle/>
                    <a:p>
                      <a:pPr marL="0" indent="0" algn="l">
                        <a:buNone/>
                      </a:pPr>
                      <a:r>
                        <a:rPr lang="en-US" sz="2000" dirty="0">
                          <a:solidFill>
                            <a:schemeClr val="tx1"/>
                          </a:solidFill>
                          <a:latin typeface="Calibri" pitchFamily="34" charset="0"/>
                          <a:ea typeface="Calibri" pitchFamily="34" charset="-122"/>
                          <a:cs typeface="Calibri" pitchFamily="34" charset="-120"/>
                        </a:rPr>
                        <a:t>Assign area-level, time-varying exposure to individuals  (other modules)</a:t>
                      </a:r>
                      <a:endParaRPr lang="en-US" sz="2000" dirty="0">
                        <a:solidFill>
                          <a:schemeClr val="tx1"/>
                        </a:solidFill>
                        <a:latin typeface="Calibri" charset="0"/>
                        <a:ea typeface="Calibri" charset="0"/>
                        <a:cs typeface="Calibri" charset="0"/>
                      </a:endParaRPr>
                    </a:p>
                  </a:txBody>
                  <a:tcPr marL="76200" marR="76200" marT="38100" marB="38100" anchor="ctr">
                    <a:lnL w="12700" cap="flat" cmpd="sng" algn="ctr">
                      <a:solidFill>
                        <a:srgbClr val="D5E2E0"/>
                      </a:solidFill>
                      <a:prstDash val="solid"/>
                      <a:round/>
                      <a:headEnd type="none" w="med" len="med"/>
                      <a:tailEnd type="none" w="med" len="med"/>
                    </a:lnL>
                    <a:lnR w="12700" cap="flat" cmpd="sng" algn="ctr">
                      <a:solidFill>
                        <a:srgbClr val="D5E2E0"/>
                      </a:solidFill>
                      <a:prstDash val="solid"/>
                      <a:round/>
                      <a:headEnd type="none" w="med" len="med"/>
                      <a:tailEnd type="none" w="med" len="med"/>
                    </a:lnR>
                    <a:lnT w="12700" cap="flat" cmpd="sng" algn="ctr">
                      <a:solidFill>
                        <a:srgbClr val="D5E2E0"/>
                      </a:solidFill>
                      <a:prstDash val="solid"/>
                      <a:round/>
                      <a:headEnd type="none" w="med" len="med"/>
                      <a:tailEnd type="none" w="med" len="med"/>
                    </a:lnT>
                    <a:lnB w="12700" cap="flat" cmpd="sng" algn="ctr">
                      <a:solidFill>
                        <a:srgbClr val="D5E2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latin typeface="Calibri" panose="020F0502020204030204" pitchFamily="34" charset="0"/>
                <a:ea typeface="Calibri" pitchFamily="34" charset="-122"/>
                <a:cs typeface="Calibri" panose="020F0502020204030204" pitchFamily="34" charset="0"/>
              </a:rPr>
              <a:t>3</a:t>
            </a:r>
            <a:endParaRPr lang="en-US" sz="9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094415" cy="658368"/>
          </a:xfrm>
          <a:prstGeom prst="rect">
            <a:avLst/>
          </a:prstGeom>
          <a:noFill/>
          <a:ln/>
        </p:spPr>
        <p:txBody>
          <a:bodyPr wrap="square" lIns="0" tIns="0" rIns="0" bIns="0" rtlCol="0" anchor="t"/>
          <a:lstStyle/>
          <a:p>
            <a:r>
              <a:rPr lang="en-US" sz="3200" b="1" dirty="0">
                <a:latin typeface="Calibri" pitchFamily="34" charset="0"/>
                <a:ea typeface="Calibri" pitchFamily="34" charset="-122"/>
                <a:cs typeface="Calibri" pitchFamily="34" charset="-120"/>
              </a:rPr>
              <a:t>1. Emission-driven drug utilization and access</a:t>
            </a:r>
            <a:endParaRPr lang="en-US" sz="3200" dirty="0">
              <a:latin typeface="Calibri" charset="0"/>
              <a:ea typeface="Calibri" charset="0"/>
              <a:cs typeface="Calibri" charset="0"/>
            </a:endParaRPr>
          </a:p>
        </p:txBody>
      </p:sp>
      <p:sp>
        <p:nvSpPr>
          <p:cNvPr id="4" name="Shape 2"/>
          <p:cNvSpPr/>
          <p:nvPr/>
        </p:nvSpPr>
        <p:spPr>
          <a:xfrm>
            <a:off x="548640" y="1600200"/>
            <a:ext cx="5318608" cy="3886200"/>
          </a:xfrm>
          <a:prstGeom prst="roundRect">
            <a:avLst>
              <a:gd name="adj" fmla="val 2118"/>
            </a:avLst>
          </a:prstGeom>
          <a:solidFill>
            <a:srgbClr val="F4F8F7"/>
          </a:solidFill>
          <a:ln w="12700">
            <a:solidFill>
              <a:srgbClr val="D5E2E0"/>
            </a:solidFill>
            <a:prstDash val="solid"/>
          </a:ln>
          <a:effectLst>
            <a:outerShdw blurRad="76200" dist="25400" dir="5400000" algn="bl" rotWithShape="0">
              <a:srgbClr val="9AAEB0">
                <a:alpha val="28000"/>
              </a:srgbClr>
            </a:outerShdw>
          </a:effectLst>
        </p:spPr>
        <p:txBody>
          <a:bodyPr/>
          <a:lstStyle/>
          <a:p>
            <a:endParaRPr lang="en-US" sz="2800">
              <a:latin typeface="Calibri" panose="020F0502020204030204" pitchFamily="34" charset="0"/>
              <a:cs typeface="Calibri" panose="020F0502020204030204" pitchFamily="34" charset="0"/>
            </a:endParaRPr>
          </a:p>
        </p:txBody>
      </p:sp>
      <p:sp>
        <p:nvSpPr>
          <p:cNvPr id="5" name="Shape 3"/>
          <p:cNvSpPr/>
          <p:nvPr/>
        </p:nvSpPr>
        <p:spPr>
          <a:xfrm>
            <a:off x="804672" y="1837944"/>
            <a:ext cx="530352" cy="530352"/>
          </a:xfrm>
          <a:prstGeom prst="ellipse">
            <a:avLst/>
          </a:prstGeom>
          <a:solidFill>
            <a:srgbClr val="0B6E75"/>
          </a:solidFill>
          <a:ln/>
          <a:effectLst>
            <a:outerShdw blurRad="63500" dist="12700" dir="5400000" algn="bl" rotWithShape="0">
              <a:srgbClr val="9AAEB0">
                <a:alpha val="25000"/>
              </a:srgbClr>
            </a:outerShdw>
          </a:effectLst>
        </p:spPr>
        <p:txBody>
          <a:bodyPr/>
          <a:lstStyle/>
          <a:p>
            <a:endParaRPr lang="en-US" sz="2800">
              <a:latin typeface="Calibri" panose="020F0502020204030204" pitchFamily="34" charset="0"/>
              <a:cs typeface="Calibri" panose="020F0502020204030204" pitchFamily="34" charset="0"/>
            </a:endParaRPr>
          </a:p>
        </p:txBody>
      </p:sp>
      <p:pic>
        <p:nvPicPr>
          <p:cNvPr id="6" name="Image 0" descr="preencoded.png"/>
          <p:cNvPicPr>
            <a:picLocks noChangeAspect="1"/>
          </p:cNvPicPr>
          <p:nvPr/>
        </p:nvPicPr>
        <p:blipFill>
          <a:blip r:embed="rId3"/>
          <a:stretch>
            <a:fillRect/>
          </a:stretch>
        </p:blipFill>
        <p:spPr>
          <a:xfrm>
            <a:off x="953171" y="1986443"/>
            <a:ext cx="233355" cy="233355"/>
          </a:xfrm>
          <a:prstGeom prst="rect">
            <a:avLst/>
          </a:prstGeom>
        </p:spPr>
      </p:pic>
      <p:sp>
        <p:nvSpPr>
          <p:cNvPr id="7" name="Text 4"/>
          <p:cNvSpPr/>
          <p:nvPr/>
        </p:nvSpPr>
        <p:spPr>
          <a:xfrm>
            <a:off x="1463040" y="1837944"/>
            <a:ext cx="4221328" cy="530352"/>
          </a:xfrm>
          <a:prstGeom prst="rect">
            <a:avLst/>
          </a:prstGeom>
          <a:noFill/>
          <a:ln/>
        </p:spPr>
        <p:txBody>
          <a:bodyPr wrap="square" lIns="0" tIns="0" rIns="0" bIns="0" rtlCol="0" anchor="ctr"/>
          <a:lstStyle/>
          <a:p>
            <a:pPr marL="0" indent="0">
              <a:buNone/>
            </a:pPr>
            <a:r>
              <a:rPr lang="en-US" sz="2400" b="1" dirty="0">
                <a:latin typeface="Calibri" panose="020F0502020204030204" pitchFamily="34" charset="0"/>
                <a:ea typeface="Cambria" pitchFamily="34" charset="-122"/>
                <a:cs typeface="Calibri" panose="020F0502020204030204" pitchFamily="34" charset="0"/>
              </a:rPr>
              <a:t>What utilization studies already do</a:t>
            </a:r>
            <a:endParaRPr lang="en-US" sz="2400" dirty="0">
              <a:latin typeface="Calibri" panose="020F0502020204030204" pitchFamily="34" charset="0"/>
              <a:cs typeface="Calibri" panose="020F0502020204030204" pitchFamily="34" charset="0"/>
            </a:endParaRPr>
          </a:p>
        </p:txBody>
      </p:sp>
      <p:sp>
        <p:nvSpPr>
          <p:cNvPr id="8" name="Text 5"/>
          <p:cNvSpPr/>
          <p:nvPr/>
        </p:nvSpPr>
        <p:spPr>
          <a:xfrm>
            <a:off x="841248" y="2560320"/>
            <a:ext cx="4769968" cy="2788920"/>
          </a:xfrm>
          <a:prstGeom prst="rect">
            <a:avLst/>
          </a:prstGeom>
          <a:noFill/>
          <a:ln/>
        </p:spPr>
        <p:txBody>
          <a:bodyPr wrap="square" lIns="0" tIns="0" rIns="0" bIns="0" rtlCol="0" anchor="t"/>
          <a:lstStyle/>
          <a:p>
            <a:pPr marL="177800" indent="-177800">
              <a:lnSpc>
                <a:spcPts val="1800"/>
              </a:lnSpc>
              <a:spcAft>
                <a:spcPts val="11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Quantify volume and patterns of use: counts, defined daily doses, class level</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1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Characterize overuse, low-value and legacy prescribing</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1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Measure adherence, persistence, and disposal</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1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Describe small-area and temporal variation</a:t>
            </a:r>
            <a:endParaRPr lang="en-US" sz="2000" dirty="0">
              <a:latin typeface="Calibri" panose="020F0502020204030204" pitchFamily="34" charset="0"/>
              <a:cs typeface="Calibri" panose="020F0502020204030204" pitchFamily="34" charset="0"/>
            </a:endParaRPr>
          </a:p>
        </p:txBody>
      </p:sp>
      <p:sp>
        <p:nvSpPr>
          <p:cNvPr id="9" name="Text 6"/>
          <p:cNvSpPr/>
          <p:nvPr/>
        </p:nvSpPr>
        <p:spPr>
          <a:xfrm>
            <a:off x="678688" y="5006340"/>
            <a:ext cx="4769968" cy="411480"/>
          </a:xfrm>
          <a:prstGeom prst="rect">
            <a:avLst/>
          </a:prstGeom>
          <a:noFill/>
          <a:ln/>
        </p:spPr>
        <p:txBody>
          <a:bodyPr wrap="square" lIns="0" tIns="0" rIns="0" bIns="0" rtlCol="0" anchor="ctr"/>
          <a:lstStyle/>
          <a:p>
            <a:pPr marL="0" indent="0" algn="ctr">
              <a:buNone/>
            </a:pPr>
            <a:r>
              <a:rPr lang="en-US" sz="1600" dirty="0">
                <a:solidFill>
                  <a:srgbClr val="5A6C72"/>
                </a:solidFill>
                <a:latin typeface="Calibri" panose="020F0502020204030204" pitchFamily="34" charset="0"/>
                <a:ea typeface="Calibri" pitchFamily="34" charset="-122"/>
                <a:cs typeface="Calibri" panose="020F0502020204030204" pitchFamily="34" charset="0"/>
              </a:rPr>
              <a:t>These are standard pharmacoepidemiology, national claims and dispensing data.</a:t>
            </a:r>
            <a:endParaRPr lang="en-US" sz="1600" dirty="0">
              <a:latin typeface="Calibri" panose="020F0502020204030204" pitchFamily="34" charset="0"/>
              <a:cs typeface="Calibri" panose="020F0502020204030204" pitchFamily="34" charset="0"/>
            </a:endParaRPr>
          </a:p>
        </p:txBody>
      </p:sp>
      <p:sp>
        <p:nvSpPr>
          <p:cNvPr id="10" name="Shape 7"/>
          <p:cNvSpPr/>
          <p:nvPr/>
        </p:nvSpPr>
        <p:spPr>
          <a:xfrm>
            <a:off x="6324448" y="1600200"/>
            <a:ext cx="5318608" cy="3886200"/>
          </a:xfrm>
          <a:prstGeom prst="roundRect">
            <a:avLst>
              <a:gd name="adj" fmla="val 2118"/>
            </a:avLst>
          </a:prstGeom>
          <a:solidFill>
            <a:srgbClr val="FBEEE8"/>
          </a:solidFill>
          <a:ln w="12700">
            <a:solidFill>
              <a:srgbClr val="EAC7B6"/>
            </a:solidFill>
            <a:prstDash val="solid"/>
          </a:ln>
          <a:effectLst>
            <a:outerShdw blurRad="76200" dist="25400" dir="5400000" algn="bl" rotWithShape="0">
              <a:srgbClr val="9AAEB0">
                <a:alpha val="28000"/>
              </a:srgbClr>
            </a:outerShdw>
          </a:effectLst>
        </p:spPr>
        <p:txBody>
          <a:bodyPr/>
          <a:lstStyle/>
          <a:p>
            <a:endParaRPr lang="en-US" sz="2800">
              <a:latin typeface="Calibri" panose="020F0502020204030204" pitchFamily="34" charset="0"/>
              <a:cs typeface="Calibri" panose="020F0502020204030204" pitchFamily="34" charset="0"/>
            </a:endParaRPr>
          </a:p>
        </p:txBody>
      </p:sp>
      <p:sp>
        <p:nvSpPr>
          <p:cNvPr id="11" name="Shape 8"/>
          <p:cNvSpPr/>
          <p:nvPr/>
        </p:nvSpPr>
        <p:spPr>
          <a:xfrm>
            <a:off x="6580480" y="1837944"/>
            <a:ext cx="530352" cy="530352"/>
          </a:xfrm>
          <a:prstGeom prst="ellipse">
            <a:avLst/>
          </a:prstGeom>
          <a:solidFill>
            <a:srgbClr val="C9552F"/>
          </a:solidFill>
          <a:ln/>
          <a:effectLst>
            <a:outerShdw blurRad="63500" dist="12700" dir="5400000" algn="bl" rotWithShape="0">
              <a:srgbClr val="9AAEB0">
                <a:alpha val="25000"/>
              </a:srgbClr>
            </a:outerShdw>
          </a:effectLst>
        </p:spPr>
        <p:txBody>
          <a:bodyPr/>
          <a:lstStyle/>
          <a:p>
            <a:endParaRPr lang="en-US" sz="2800">
              <a:latin typeface="Calibri" panose="020F0502020204030204" pitchFamily="34" charset="0"/>
              <a:cs typeface="Calibri" panose="020F0502020204030204" pitchFamily="34" charset="0"/>
            </a:endParaRPr>
          </a:p>
        </p:txBody>
      </p:sp>
      <p:pic>
        <p:nvPicPr>
          <p:cNvPr id="12" name="Image 1" descr="preencoded.png"/>
          <p:cNvPicPr>
            <a:picLocks noChangeAspect="1"/>
          </p:cNvPicPr>
          <p:nvPr/>
        </p:nvPicPr>
        <p:blipFill>
          <a:blip r:embed="rId4"/>
          <a:stretch>
            <a:fillRect/>
          </a:stretch>
        </p:blipFill>
        <p:spPr>
          <a:xfrm>
            <a:off x="6728978" y="1986443"/>
            <a:ext cx="233355" cy="233355"/>
          </a:xfrm>
          <a:prstGeom prst="rect">
            <a:avLst/>
          </a:prstGeom>
        </p:spPr>
      </p:pic>
      <p:sp>
        <p:nvSpPr>
          <p:cNvPr id="13" name="Text 9"/>
          <p:cNvSpPr/>
          <p:nvPr/>
        </p:nvSpPr>
        <p:spPr>
          <a:xfrm>
            <a:off x="7238848" y="1837944"/>
            <a:ext cx="4221328" cy="530352"/>
          </a:xfrm>
          <a:prstGeom prst="rect">
            <a:avLst/>
          </a:prstGeom>
          <a:noFill/>
          <a:ln/>
        </p:spPr>
        <p:txBody>
          <a:bodyPr wrap="square" lIns="0" tIns="0" rIns="0" bIns="0" rtlCol="0" anchor="ctr"/>
          <a:lstStyle/>
          <a:p>
            <a:pPr marL="0" indent="0">
              <a:buNone/>
            </a:pPr>
            <a:r>
              <a:rPr lang="en-US" sz="2400" b="1" dirty="0">
                <a:latin typeface="Calibri" panose="020F0502020204030204" pitchFamily="34" charset="0"/>
                <a:ea typeface="Cambria" pitchFamily="34" charset="-122"/>
                <a:cs typeface="Calibri" panose="020F0502020204030204" pitchFamily="34" charset="0"/>
              </a:rPr>
              <a:t>The environmental extension</a:t>
            </a:r>
            <a:endParaRPr lang="en-US" sz="2400" dirty="0">
              <a:latin typeface="Calibri" panose="020F0502020204030204" pitchFamily="34" charset="0"/>
              <a:cs typeface="Calibri" panose="020F0502020204030204" pitchFamily="34" charset="0"/>
            </a:endParaRPr>
          </a:p>
        </p:txBody>
      </p:sp>
      <p:sp>
        <p:nvSpPr>
          <p:cNvPr id="14" name="Text 10"/>
          <p:cNvSpPr/>
          <p:nvPr/>
        </p:nvSpPr>
        <p:spPr>
          <a:xfrm>
            <a:off x="6617056" y="2560320"/>
            <a:ext cx="4769968" cy="2788920"/>
          </a:xfrm>
          <a:prstGeom prst="rect">
            <a:avLst/>
          </a:prstGeom>
          <a:noFill/>
          <a:ln/>
        </p:spPr>
        <p:txBody>
          <a:bodyPr wrap="square" lIns="0" tIns="0" rIns="0" bIns="0" rtlCol="0" anchor="t"/>
          <a:lstStyle/>
          <a:p>
            <a:pPr marL="177800" indent="-177800">
              <a:lnSpc>
                <a:spcPts val="1800"/>
              </a:lnSpc>
              <a:spcAft>
                <a:spcPts val="10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Identify a per-unit impact factor to each dispensed unit (for example CO</a:t>
            </a:r>
            <a:r>
              <a:rPr lang="en-US" sz="2000" baseline="-25000" dirty="0">
                <a:solidFill>
                  <a:srgbClr val="22343A"/>
                </a:solidFill>
                <a:latin typeface="Calibri" panose="020F0502020204030204" pitchFamily="34" charset="0"/>
                <a:ea typeface="Calibri" pitchFamily="34" charset="-122"/>
                <a:cs typeface="Calibri" panose="020F0502020204030204" pitchFamily="34" charset="0"/>
              </a:rPr>
              <a:t>2e</a:t>
            </a:r>
            <a:r>
              <a:rPr lang="en-US" sz="2000" dirty="0">
                <a:solidFill>
                  <a:srgbClr val="22343A"/>
                </a:solidFill>
                <a:latin typeface="Calibri" panose="020F0502020204030204" pitchFamily="34" charset="0"/>
                <a:ea typeface="Calibri" pitchFamily="34" charset="-122"/>
                <a:cs typeface="Calibri" panose="020F0502020204030204" pitchFamily="34" charset="0"/>
              </a:rPr>
              <a:t> per dose, waste per course)</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0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Sum to emissions-weighted utilization by drug and class</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0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Locate use that is excessive, substitutable, or has a lower-impact alternative</a:t>
            </a:r>
            <a:endParaRPr lang="en-US" sz="2000" dirty="0">
              <a:latin typeface="Calibri" panose="020F0502020204030204" pitchFamily="34" charset="0"/>
              <a:cs typeface="Calibri" panose="020F0502020204030204" pitchFamily="34" charset="0"/>
            </a:endParaRPr>
          </a:p>
          <a:p>
            <a:pPr marL="177800" indent="-177800">
              <a:lnSpc>
                <a:spcPts val="1800"/>
              </a:lnSpc>
              <a:spcAft>
                <a:spcPts val="1000"/>
              </a:spcAft>
              <a:buSzPct val="100000"/>
              <a:buChar char="•"/>
            </a:pPr>
            <a:r>
              <a:rPr lang="en-US" sz="2000" dirty="0">
                <a:solidFill>
                  <a:srgbClr val="22343A"/>
                </a:solidFill>
                <a:latin typeface="Calibri" panose="020F0502020204030204" pitchFamily="34" charset="0"/>
                <a:ea typeface="Calibri" pitchFamily="34" charset="-122"/>
                <a:cs typeface="Calibri" panose="020F0502020204030204" pitchFamily="34" charset="0"/>
              </a:rPr>
              <a:t>Prioritize by volume multiplied by per-unit impact</a:t>
            </a:r>
            <a:endParaRPr lang="en-US" sz="2000" dirty="0">
              <a:latin typeface="Calibri" panose="020F0502020204030204" pitchFamily="34" charset="0"/>
              <a:cs typeface="Calibri" panose="020F0502020204030204" pitchFamily="34" charset="0"/>
            </a:endParaRPr>
          </a:p>
        </p:txBody>
      </p:sp>
      <p:sp>
        <p:nvSpPr>
          <p:cNvPr id="17" name="Text 13"/>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latin typeface="Calibri" panose="020F0502020204030204" pitchFamily="34" charset="0"/>
                <a:ea typeface="Calibri" pitchFamily="34" charset="-122"/>
                <a:cs typeface="Calibri" panose="020F0502020204030204" pitchFamily="34" charset="0"/>
              </a:rPr>
              <a:t>5</a:t>
            </a:r>
            <a:endParaRPr lang="en-US" sz="9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a:lnSpc>
                <a:spcPts val="3000"/>
              </a:lnSpc>
            </a:pPr>
            <a:r>
              <a:rPr lang="en-US" sz="3600" b="1" dirty="0">
                <a:latin typeface="Calibri" pitchFamily="34" charset="0"/>
                <a:ea typeface="Calibri" pitchFamily="34" charset="-122"/>
                <a:cs typeface="Calibri" pitchFamily="34" charset="-120"/>
              </a:rPr>
              <a:t>1. Emission-driven drug utilization and access</a:t>
            </a:r>
            <a:endParaRPr lang="en-US" sz="3600" dirty="0">
              <a:latin typeface="Calibri" charset="0"/>
              <a:ea typeface="Calibri" charset="0"/>
              <a:cs typeface="Calibri" charset="0"/>
            </a:endParaRPr>
          </a:p>
          <a:p>
            <a:pPr marL="0" indent="0" algn="l">
              <a:lnSpc>
                <a:spcPts val="3000"/>
              </a:lnSpc>
              <a:buNone/>
            </a:pPr>
            <a:endParaRPr lang="en-US" sz="3600" dirty="0"/>
          </a:p>
        </p:txBody>
      </p:sp>
      <p:sp>
        <p:nvSpPr>
          <p:cNvPr id="7" name="Text 5"/>
          <p:cNvSpPr/>
          <p:nvPr/>
        </p:nvSpPr>
        <p:spPr>
          <a:xfrm>
            <a:off x="640080" y="1645920"/>
            <a:ext cx="10911535" cy="685800"/>
          </a:xfrm>
          <a:prstGeom prst="rect">
            <a:avLst/>
          </a:prstGeom>
          <a:noFill/>
          <a:ln/>
        </p:spPr>
        <p:txBody>
          <a:bodyPr wrap="square" lIns="0" tIns="0" rIns="0" bIns="0" rtlCol="0" anchor="ctr"/>
          <a:lstStyle/>
          <a:p>
            <a:pPr marL="0" indent="0">
              <a:lnSpc>
                <a:spcPts val="2200"/>
              </a:lnSpc>
              <a:buNone/>
            </a:pPr>
            <a:r>
              <a:rPr lang="en-US" sz="2400" dirty="0">
                <a:solidFill>
                  <a:srgbClr val="2C2233"/>
                </a:solidFill>
                <a:latin typeface="Calibri" pitchFamily="34" charset="0"/>
                <a:ea typeface="Calibri" pitchFamily="34" charset="-122"/>
                <a:cs typeface="Calibri" pitchFamily="34" charset="-120"/>
              </a:rPr>
              <a:t>Combine dispensing and formulary data with per-product impact factors to quantify the carbon footprint of prescribing and identify access barriers to lower-emission options.</a:t>
            </a:r>
            <a:endParaRPr lang="en-US" sz="2400" dirty="0"/>
          </a:p>
        </p:txBody>
      </p:sp>
      <p:sp>
        <p:nvSpPr>
          <p:cNvPr id="8" name="Shape 6"/>
          <p:cNvSpPr/>
          <p:nvPr/>
        </p:nvSpPr>
        <p:spPr>
          <a:xfrm>
            <a:off x="640080" y="2514600"/>
            <a:ext cx="5272888" cy="2331720"/>
          </a:xfrm>
          <a:prstGeom prst="roundRect">
            <a:avLst>
              <a:gd name="adj" fmla="val 3922"/>
            </a:avLst>
          </a:prstGeom>
          <a:solidFill>
            <a:schemeClr val="tx2">
              <a:lumMod val="10000"/>
              <a:lumOff val="9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800"/>
          </a:p>
        </p:txBody>
      </p:sp>
      <p:sp>
        <p:nvSpPr>
          <p:cNvPr id="9" name="Text 7"/>
          <p:cNvSpPr/>
          <p:nvPr/>
        </p:nvSpPr>
        <p:spPr>
          <a:xfrm>
            <a:off x="914400" y="2715768"/>
            <a:ext cx="4724248" cy="365760"/>
          </a:xfrm>
          <a:prstGeom prst="rect">
            <a:avLst/>
          </a:prstGeom>
          <a:noFill/>
          <a:ln/>
        </p:spPr>
        <p:txBody>
          <a:bodyPr wrap="square" lIns="0" tIns="0" rIns="0" bIns="0" rtlCol="0" anchor="ctr"/>
          <a:lstStyle/>
          <a:p>
            <a:pPr marL="0" indent="0">
              <a:buNone/>
            </a:pPr>
            <a:r>
              <a:rPr lang="en-US" sz="2000" b="1" dirty="0">
                <a:solidFill>
                  <a:srgbClr val="462250"/>
                </a:solidFill>
                <a:latin typeface="Calibri" pitchFamily="34" charset="0"/>
                <a:ea typeface="Calibri" pitchFamily="34" charset="-122"/>
                <a:cs typeface="Calibri" pitchFamily="34" charset="-120"/>
              </a:rPr>
              <a:t>1 · Emission quantification</a:t>
            </a:r>
            <a:endParaRPr lang="en-US" sz="2000" dirty="0"/>
          </a:p>
        </p:txBody>
      </p:sp>
      <p:sp>
        <p:nvSpPr>
          <p:cNvPr id="10" name="Text 8"/>
          <p:cNvSpPr/>
          <p:nvPr/>
        </p:nvSpPr>
        <p:spPr>
          <a:xfrm>
            <a:off x="914400" y="3200400"/>
            <a:ext cx="4724248" cy="1508760"/>
          </a:xfrm>
          <a:prstGeom prst="rect">
            <a:avLst/>
          </a:prstGeom>
          <a:noFill/>
          <a:ln/>
        </p:spPr>
        <p:txBody>
          <a:bodyPr wrap="square" lIns="0" tIns="0" rIns="0" bIns="0" rtlCol="0" anchor="t"/>
          <a:lstStyle/>
          <a:p>
            <a:pPr marL="203200" indent="-203200">
              <a:lnSpc>
                <a:spcPts val="2000"/>
              </a:lnSpc>
              <a:spcAft>
                <a:spcPts val="900"/>
              </a:spcAft>
              <a:buSzPct val="100000"/>
              <a:buChar char="•"/>
            </a:pPr>
            <a:r>
              <a:rPr lang="en-US" sz="2000" dirty="0">
                <a:solidFill>
                  <a:srgbClr val="2C2233"/>
                </a:solidFill>
                <a:latin typeface="Calibri" pitchFamily="34" charset="0"/>
                <a:ea typeface="Calibri" pitchFamily="34" charset="-122"/>
                <a:cs typeface="Calibri" pitchFamily="34" charset="-120"/>
              </a:rPr>
              <a:t>Per-product factor: contents weight × propellant % × 100-year GWP</a:t>
            </a:r>
            <a:endParaRPr lang="en-US" sz="2000" dirty="0"/>
          </a:p>
          <a:p>
            <a:pPr marL="203200" indent="-203200">
              <a:lnSpc>
                <a:spcPts val="2000"/>
              </a:lnSpc>
              <a:spcAft>
                <a:spcPts val="900"/>
              </a:spcAft>
              <a:buSzPct val="100000"/>
              <a:buChar char="•"/>
            </a:pPr>
            <a:r>
              <a:rPr lang="en-US" sz="2000" dirty="0">
                <a:solidFill>
                  <a:srgbClr val="2C2233"/>
                </a:solidFill>
                <a:latin typeface="Calibri" pitchFamily="34" charset="0"/>
                <a:ea typeface="Calibri" pitchFamily="34" charset="-122"/>
                <a:cs typeface="Calibri" pitchFamily="34" charset="-120"/>
              </a:rPr>
              <a:t>Benchmark: MDI about 22 to 23 kg CO2e versus DPI about 0.8 and SMI about 0.78, roughly a 28-fold difference</a:t>
            </a:r>
            <a:endParaRPr lang="en-US" sz="2000" dirty="0"/>
          </a:p>
        </p:txBody>
      </p:sp>
      <p:sp>
        <p:nvSpPr>
          <p:cNvPr id="11" name="Shape 9"/>
          <p:cNvSpPr/>
          <p:nvPr/>
        </p:nvSpPr>
        <p:spPr>
          <a:xfrm>
            <a:off x="6278728" y="2514600"/>
            <a:ext cx="5272888" cy="2331720"/>
          </a:xfrm>
          <a:prstGeom prst="roundRect">
            <a:avLst>
              <a:gd name="adj" fmla="val 3922"/>
            </a:avLst>
          </a:prstGeom>
          <a:noFill/>
          <a:ln w="12700">
            <a:solidFill>
              <a:srgbClr val="E6DAC8"/>
            </a:solidFill>
            <a:prstDash val="solid"/>
          </a:ln>
          <a:effectLst>
            <a:outerShdw blurRad="76200" dist="25400" dir="5400000" algn="bl" rotWithShape="0">
              <a:srgbClr val="B9A8C2">
                <a:alpha val="28000"/>
              </a:srgbClr>
            </a:outerShdw>
          </a:effectLst>
        </p:spPr>
        <p:txBody>
          <a:bodyPr/>
          <a:lstStyle/>
          <a:p>
            <a:endParaRPr lang="en-US" sz="2800" dirty="0"/>
          </a:p>
        </p:txBody>
      </p:sp>
      <p:sp>
        <p:nvSpPr>
          <p:cNvPr id="12" name="Text 10"/>
          <p:cNvSpPr/>
          <p:nvPr/>
        </p:nvSpPr>
        <p:spPr>
          <a:xfrm>
            <a:off x="6553048" y="2715768"/>
            <a:ext cx="4724248" cy="365760"/>
          </a:xfrm>
          <a:prstGeom prst="rect">
            <a:avLst/>
          </a:prstGeom>
          <a:noFill/>
          <a:ln/>
        </p:spPr>
        <p:txBody>
          <a:bodyPr wrap="square" lIns="0" tIns="0" rIns="0" bIns="0" rtlCol="0" anchor="ctr"/>
          <a:lstStyle/>
          <a:p>
            <a:pPr marL="0" indent="0">
              <a:buNone/>
            </a:pPr>
            <a:r>
              <a:rPr lang="en-US" sz="2000" b="1" dirty="0">
                <a:solidFill>
                  <a:srgbClr val="462250"/>
                </a:solidFill>
                <a:latin typeface="Calibri" pitchFamily="34" charset="0"/>
                <a:ea typeface="Calibri" pitchFamily="34" charset="-122"/>
                <a:cs typeface="Calibri" pitchFamily="34" charset="-120"/>
              </a:rPr>
              <a:t>2 · Utilization and access</a:t>
            </a:r>
            <a:endParaRPr lang="en-US" sz="2000" dirty="0"/>
          </a:p>
        </p:txBody>
      </p:sp>
      <p:sp>
        <p:nvSpPr>
          <p:cNvPr id="13" name="Text 11"/>
          <p:cNvSpPr/>
          <p:nvPr/>
        </p:nvSpPr>
        <p:spPr>
          <a:xfrm>
            <a:off x="6553048" y="3200400"/>
            <a:ext cx="4724248" cy="1508760"/>
          </a:xfrm>
          <a:prstGeom prst="rect">
            <a:avLst/>
          </a:prstGeom>
          <a:noFill/>
          <a:ln/>
        </p:spPr>
        <p:txBody>
          <a:bodyPr wrap="square" lIns="0" tIns="0" rIns="0" bIns="0" rtlCol="0" anchor="t"/>
          <a:lstStyle/>
          <a:p>
            <a:pPr marL="203200" indent="-203200">
              <a:lnSpc>
                <a:spcPts val="2000"/>
              </a:lnSpc>
              <a:spcAft>
                <a:spcPts val="900"/>
              </a:spcAft>
              <a:buSzPct val="100000"/>
              <a:buChar char="•"/>
            </a:pPr>
            <a:r>
              <a:rPr lang="en-US" sz="2000" dirty="0">
                <a:solidFill>
                  <a:srgbClr val="2C2233"/>
                </a:solidFill>
                <a:latin typeface="Calibri" pitchFamily="34" charset="0"/>
                <a:ea typeface="Calibri" pitchFamily="34" charset="-122"/>
                <a:cs typeface="Calibri" pitchFamily="34" charset="-120"/>
              </a:rPr>
              <a:t>Population emissions = per-class emissions × claims or fills</a:t>
            </a:r>
            <a:endParaRPr lang="en-US" sz="2000" dirty="0"/>
          </a:p>
          <a:p>
            <a:pPr marL="203200" indent="-203200">
              <a:lnSpc>
                <a:spcPts val="2000"/>
              </a:lnSpc>
              <a:spcAft>
                <a:spcPts val="900"/>
              </a:spcAft>
              <a:buSzPct val="100000"/>
              <a:buChar char="•"/>
            </a:pPr>
            <a:r>
              <a:rPr lang="en-US" sz="2000" dirty="0">
                <a:solidFill>
                  <a:srgbClr val="2C2233"/>
                </a:solidFill>
                <a:latin typeface="Calibri" pitchFamily="34" charset="0"/>
                <a:ea typeface="Calibri" pitchFamily="34" charset="-122"/>
                <a:cs typeface="Calibri" pitchFamily="34" charset="-120"/>
              </a:rPr>
              <a:t>Access levers: formulary tier, prior authorization, and step therapy determine real-world substitution</a:t>
            </a:r>
            <a:endParaRPr lang="en-US" sz="2000" dirty="0"/>
          </a:p>
        </p:txBody>
      </p:sp>
      <p:sp>
        <p:nvSpPr>
          <p:cNvPr id="14" name="Shape 12"/>
          <p:cNvSpPr/>
          <p:nvPr/>
        </p:nvSpPr>
        <p:spPr>
          <a:xfrm>
            <a:off x="640080" y="5276850"/>
            <a:ext cx="10911535" cy="914400"/>
          </a:xfrm>
          <a:prstGeom prst="roundRect">
            <a:avLst>
              <a:gd name="adj" fmla="val 8000"/>
            </a:avLst>
          </a:prstGeom>
          <a:solidFill>
            <a:schemeClr val="tx2">
              <a:lumMod val="75000"/>
              <a:lumOff val="25000"/>
            </a:schemeClr>
          </a:solidFill>
          <a:ln/>
          <a:effectLst>
            <a:outerShdw blurRad="76200" dist="25400" dir="5400000" algn="bl" rotWithShape="0">
              <a:srgbClr val="B9A8C2">
                <a:alpha val="28000"/>
              </a:srgbClr>
            </a:outerShdw>
          </a:effectLst>
        </p:spPr>
        <p:txBody>
          <a:bodyPr/>
          <a:lstStyle/>
          <a:p>
            <a:endParaRPr lang="en-US" sz="3600" dirty="0"/>
          </a:p>
        </p:txBody>
      </p:sp>
      <p:sp>
        <p:nvSpPr>
          <p:cNvPr id="15" name="Text 13"/>
          <p:cNvSpPr/>
          <p:nvPr/>
        </p:nvSpPr>
        <p:spPr>
          <a:xfrm>
            <a:off x="914400" y="5276850"/>
            <a:ext cx="10362895" cy="914400"/>
          </a:xfrm>
          <a:prstGeom prst="rect">
            <a:avLst/>
          </a:prstGeom>
          <a:noFill/>
          <a:ln/>
        </p:spPr>
        <p:txBody>
          <a:bodyPr wrap="square" lIns="0" tIns="0" rIns="0" bIns="0" rtlCol="0" anchor="ctr"/>
          <a:lstStyle/>
          <a:p>
            <a:pPr marL="0" indent="0">
              <a:lnSpc>
                <a:spcPts val="1800"/>
              </a:lnSpc>
              <a:buNone/>
            </a:pPr>
            <a:r>
              <a:rPr lang="en-US" sz="2000" b="1" dirty="0">
                <a:solidFill>
                  <a:srgbClr val="FFFF00"/>
                </a:solidFill>
                <a:latin typeface="Calibri" pitchFamily="34" charset="0"/>
                <a:ea typeface="Calibri" pitchFamily="34" charset="-122"/>
                <a:cs typeface="Calibri" pitchFamily="34" charset="-120"/>
              </a:rPr>
              <a:t>Novelty.  </a:t>
            </a:r>
            <a:r>
              <a:rPr lang="en-US" sz="2000" dirty="0">
                <a:solidFill>
                  <a:schemeClr val="bg1"/>
                </a:solidFill>
                <a:latin typeface="Calibri" pitchFamily="34" charset="0"/>
                <a:ea typeface="Calibri" pitchFamily="34" charset="-122"/>
                <a:cs typeface="Calibri" pitchFamily="34" charset="-120"/>
              </a:rPr>
              <a:t>Emissions concentrate in a few high-volume drugs (albuterol, budesonide-formoterol, fluticasone were about 87% of US inhaler emissions), so utilization and formulary data show where switching yields the greatest climate benefit.</a:t>
            </a:r>
            <a:endParaRPr lang="en-US" sz="2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77520" y="383319"/>
            <a:ext cx="11094415" cy="658368"/>
          </a:xfrm>
          <a:prstGeom prst="rect">
            <a:avLst/>
          </a:prstGeom>
          <a:noFill/>
          <a:ln/>
        </p:spPr>
        <p:txBody>
          <a:bodyPr wrap="square" lIns="0" tIns="0" rIns="0" bIns="0" rtlCol="0" anchor="t"/>
          <a:lstStyle/>
          <a:p>
            <a:pPr>
              <a:lnSpc>
                <a:spcPts val="3000"/>
              </a:lnSpc>
            </a:pPr>
            <a:r>
              <a:rPr lang="en-US" sz="3600" b="1" dirty="0">
                <a:latin typeface="Calibri" pitchFamily="34" charset="0"/>
                <a:ea typeface="Calibri" pitchFamily="34" charset="-122"/>
                <a:cs typeface="Calibri" pitchFamily="34" charset="-120"/>
              </a:rPr>
              <a:t>Emission-driven drug utilization and access</a:t>
            </a:r>
            <a:endParaRPr lang="en-US" sz="3600" dirty="0">
              <a:latin typeface="Calibri" charset="0"/>
              <a:ea typeface="Calibri" charset="0"/>
              <a:cs typeface="Calibri" charset="0"/>
            </a:endParaRPr>
          </a:p>
          <a:p>
            <a:pPr marL="0" indent="0" algn="l">
              <a:lnSpc>
                <a:spcPts val="3000"/>
              </a:lnSpc>
              <a:buNone/>
            </a:pPr>
            <a:r>
              <a:rPr lang="en-US" sz="3600" b="1" dirty="0">
                <a:latin typeface="Calibri" panose="020F0502020204030204" pitchFamily="34" charset="0"/>
                <a:ea typeface="Cambria" pitchFamily="34" charset="-122"/>
                <a:cs typeface="Calibri" panose="020F0502020204030204" pitchFamily="34" charset="0"/>
              </a:rPr>
              <a:t>: inhalers in Medicare</a:t>
            </a:r>
            <a:endParaRPr lang="en-US" sz="3600" dirty="0">
              <a:latin typeface="Calibri" panose="020F0502020204030204" pitchFamily="34" charset="0"/>
              <a:cs typeface="Calibri" panose="020F0502020204030204" pitchFamily="34" charset="0"/>
            </a:endParaRPr>
          </a:p>
        </p:txBody>
      </p:sp>
      <p:pic>
        <p:nvPicPr>
          <p:cNvPr id="4" name="Image 0" descr="img_inhaler_dispensing.jpg"/>
          <p:cNvPicPr>
            <a:picLocks noChangeAspect="1"/>
          </p:cNvPicPr>
          <p:nvPr/>
        </p:nvPicPr>
        <p:blipFill>
          <a:blip r:embed="rId3"/>
          <a:srcRect/>
          <a:stretch/>
        </p:blipFill>
        <p:spPr>
          <a:xfrm>
            <a:off x="548640" y="1234440"/>
            <a:ext cx="4782312" cy="2780414"/>
          </a:xfrm>
          <a:prstGeom prst="rect">
            <a:avLst/>
          </a:prstGeom>
        </p:spPr>
      </p:pic>
      <p:sp>
        <p:nvSpPr>
          <p:cNvPr id="5" name="Text 2"/>
          <p:cNvSpPr/>
          <p:nvPr/>
        </p:nvSpPr>
        <p:spPr>
          <a:xfrm>
            <a:off x="662940" y="4014854"/>
            <a:ext cx="4389120" cy="821306"/>
          </a:xfrm>
          <a:prstGeom prst="rect">
            <a:avLst/>
          </a:prstGeom>
          <a:noFill/>
          <a:ln/>
        </p:spPr>
        <p:txBody>
          <a:bodyPr wrap="square" lIns="0" tIns="0" rIns="0" bIns="0" rtlCol="0" anchor="ctr"/>
          <a:lstStyle/>
          <a:p>
            <a:pPr marL="0" indent="0">
              <a:lnSpc>
                <a:spcPts val="1500"/>
              </a:lnSpc>
              <a:buNone/>
            </a:pPr>
            <a:r>
              <a:rPr lang="en-US" i="1" dirty="0">
                <a:solidFill>
                  <a:srgbClr val="5A6C72"/>
                </a:solidFill>
                <a:latin typeface="Calibri" pitchFamily="34" charset="0"/>
                <a:ea typeface="Calibri" pitchFamily="34" charset="-122"/>
                <a:cs typeface="Calibri" pitchFamily="34" charset="-120"/>
              </a:rPr>
              <a:t>Inhalers dispensed per 1000 beneficiaries, by device type, 2008 to 2022 (N = 140,163,949). SABA and ICS = 87% of MDIs. Parthasarathi et al., 2025.</a:t>
            </a:r>
            <a:endParaRPr lang="en-US" dirty="0"/>
          </a:p>
        </p:txBody>
      </p:sp>
      <p:pic>
        <p:nvPicPr>
          <p:cNvPr id="6" name="Image 1" descr="img_inhaler_emissions.jpg"/>
          <p:cNvPicPr>
            <a:picLocks noChangeAspect="1"/>
          </p:cNvPicPr>
          <p:nvPr/>
        </p:nvPicPr>
        <p:blipFill>
          <a:blip r:embed="rId4"/>
          <a:srcRect/>
          <a:stretch/>
        </p:blipFill>
        <p:spPr>
          <a:xfrm>
            <a:off x="453394" y="4796347"/>
            <a:ext cx="5276492" cy="1534756"/>
          </a:xfrm>
          <a:prstGeom prst="rect">
            <a:avLst/>
          </a:prstGeom>
        </p:spPr>
      </p:pic>
      <p:sp>
        <p:nvSpPr>
          <p:cNvPr id="7" name="Text 3"/>
          <p:cNvSpPr/>
          <p:nvPr/>
        </p:nvSpPr>
        <p:spPr>
          <a:xfrm>
            <a:off x="548640" y="6356314"/>
            <a:ext cx="5458968" cy="357414"/>
          </a:xfrm>
          <a:prstGeom prst="rect">
            <a:avLst/>
          </a:prstGeom>
          <a:noFill/>
          <a:ln/>
        </p:spPr>
        <p:txBody>
          <a:bodyPr wrap="square" lIns="0" tIns="0" rIns="0" bIns="0" rtlCol="0" anchor="ctr"/>
          <a:lstStyle/>
          <a:p>
            <a:pPr marL="0" indent="0">
              <a:buNone/>
            </a:pPr>
            <a:r>
              <a:rPr lang="en-US" i="1" dirty="0">
                <a:solidFill>
                  <a:srgbClr val="5A6C72"/>
                </a:solidFill>
                <a:latin typeface="Calibri" pitchFamily="34" charset="0"/>
                <a:ea typeface="Calibri" pitchFamily="34" charset="-122"/>
                <a:cs typeface="Calibri" pitchFamily="34" charset="-120"/>
              </a:rPr>
              <a:t>Inhaler CO</a:t>
            </a:r>
            <a:r>
              <a:rPr lang="en-US" i="1" baseline="-25000" dirty="0">
                <a:solidFill>
                  <a:srgbClr val="5A6C72"/>
                </a:solidFill>
                <a:latin typeface="Calibri" pitchFamily="34" charset="0"/>
                <a:ea typeface="Calibri" pitchFamily="34" charset="-122"/>
                <a:cs typeface="Calibri" pitchFamily="34" charset="-120"/>
              </a:rPr>
              <a:t>2</a:t>
            </a:r>
            <a:r>
              <a:rPr lang="en-US" i="1" dirty="0">
                <a:solidFill>
                  <a:srgbClr val="5A6C72"/>
                </a:solidFill>
                <a:latin typeface="Calibri" pitchFamily="34" charset="0"/>
                <a:ea typeface="Calibri" pitchFamily="34" charset="-122"/>
                <a:cs typeface="Calibri" pitchFamily="34" charset="-120"/>
              </a:rPr>
              <a:t> emissions (MMT) concentrate in MDIs.</a:t>
            </a:r>
            <a:endParaRPr lang="en-US" dirty="0"/>
          </a:p>
        </p:txBody>
      </p:sp>
      <p:sp>
        <p:nvSpPr>
          <p:cNvPr id="8" name="Shape 4"/>
          <p:cNvSpPr/>
          <p:nvPr/>
        </p:nvSpPr>
        <p:spPr>
          <a:xfrm>
            <a:off x="5349240" y="1572768"/>
            <a:ext cx="475488" cy="475488"/>
          </a:xfrm>
          <a:prstGeom prst="ellipse">
            <a:avLst/>
          </a:prstGeom>
          <a:solidFill>
            <a:srgbClr val="0B6E75"/>
          </a:solidFill>
          <a:ln/>
        </p:spPr>
        <p:txBody>
          <a:bodyPr/>
          <a:lstStyle/>
          <a:p>
            <a:endParaRPr lang="en-US" sz="3200"/>
          </a:p>
        </p:txBody>
      </p:sp>
      <p:sp>
        <p:nvSpPr>
          <p:cNvPr id="9" name="Text 5"/>
          <p:cNvSpPr/>
          <p:nvPr/>
        </p:nvSpPr>
        <p:spPr>
          <a:xfrm>
            <a:off x="5349240" y="1572768"/>
            <a:ext cx="475488" cy="475488"/>
          </a:xfrm>
          <a:prstGeom prst="rect">
            <a:avLst/>
          </a:prstGeom>
          <a:noFill/>
          <a:ln/>
        </p:spPr>
        <p:txBody>
          <a:bodyPr wrap="square" lIns="0" tIns="0" rIns="0" bIns="0" rtlCol="0" anchor="ctr"/>
          <a:lstStyle/>
          <a:p>
            <a:pPr marL="0" indent="0" algn="ctr">
              <a:buNone/>
            </a:pPr>
            <a:r>
              <a:rPr lang="en-US" sz="3200" b="1" dirty="0">
                <a:solidFill>
                  <a:srgbClr val="FFFFFF"/>
                </a:solidFill>
                <a:ea typeface="Cambria" pitchFamily="34" charset="-122"/>
                <a:cs typeface="Cambria" pitchFamily="34" charset="-120"/>
              </a:rPr>
              <a:t>1</a:t>
            </a:r>
            <a:endParaRPr lang="en-US" sz="3200" dirty="0"/>
          </a:p>
        </p:txBody>
      </p:sp>
      <p:sp>
        <p:nvSpPr>
          <p:cNvPr id="10" name="Text 6"/>
          <p:cNvSpPr/>
          <p:nvPr/>
        </p:nvSpPr>
        <p:spPr>
          <a:xfrm>
            <a:off x="6007608" y="1527048"/>
            <a:ext cx="5635447" cy="1389888"/>
          </a:xfrm>
          <a:prstGeom prst="rect">
            <a:avLst/>
          </a:prstGeom>
          <a:noFill/>
          <a:ln/>
        </p:spPr>
        <p:txBody>
          <a:bodyPr wrap="square" lIns="0" tIns="0" rIns="0" bIns="0" rtlCol="0" anchor="t"/>
          <a:lstStyle/>
          <a:p>
            <a:pPr marL="0" indent="0">
              <a:lnSpc>
                <a:spcPts val="2000"/>
              </a:lnSpc>
              <a:spcAft>
                <a:spcPts val="300"/>
              </a:spcAft>
              <a:buNone/>
            </a:pPr>
            <a:r>
              <a:rPr lang="en-US" sz="2400" b="1" dirty="0">
                <a:solidFill>
                  <a:srgbClr val="084F54"/>
                </a:solidFill>
                <a:ea typeface="Calibri" pitchFamily="34" charset="-122"/>
                <a:cs typeface="Calibri" pitchFamily="34" charset="-120"/>
              </a:rPr>
              <a:t>Utilization</a:t>
            </a:r>
            <a:endParaRPr lang="en-US" sz="2400" dirty="0"/>
          </a:p>
          <a:p>
            <a:pPr marL="0" indent="0">
              <a:lnSpc>
                <a:spcPts val="2000"/>
              </a:lnSpc>
              <a:buNone/>
            </a:pPr>
            <a:r>
              <a:rPr lang="en-US" sz="2000" dirty="0">
                <a:solidFill>
                  <a:srgbClr val="22343A"/>
                </a:solidFill>
                <a:ea typeface="Calibri" pitchFamily="34" charset="-122"/>
                <a:cs typeface="Calibri" pitchFamily="34" charset="-120"/>
              </a:rPr>
              <a:t>Device-type and drug-class shares from national dispensing data. MDIs were 51% of inhalers dispensed.</a:t>
            </a:r>
            <a:endParaRPr lang="en-US" sz="2400" dirty="0"/>
          </a:p>
        </p:txBody>
      </p:sp>
      <p:sp>
        <p:nvSpPr>
          <p:cNvPr id="11" name="Shape 7"/>
          <p:cNvSpPr/>
          <p:nvPr/>
        </p:nvSpPr>
        <p:spPr>
          <a:xfrm>
            <a:off x="5586984" y="2075688"/>
            <a:ext cx="0" cy="978408"/>
          </a:xfrm>
          <a:prstGeom prst="line">
            <a:avLst/>
          </a:prstGeom>
          <a:noFill/>
          <a:ln w="25400">
            <a:solidFill>
              <a:srgbClr val="8FC9C6"/>
            </a:solidFill>
            <a:prstDash val="solid"/>
          </a:ln>
        </p:spPr>
        <p:txBody>
          <a:bodyPr/>
          <a:lstStyle/>
          <a:p>
            <a:endParaRPr lang="en-US" sz="3200"/>
          </a:p>
        </p:txBody>
      </p:sp>
      <p:sp>
        <p:nvSpPr>
          <p:cNvPr id="12" name="Shape 8"/>
          <p:cNvSpPr/>
          <p:nvPr/>
        </p:nvSpPr>
        <p:spPr>
          <a:xfrm>
            <a:off x="5349240" y="3054096"/>
            <a:ext cx="475488" cy="475488"/>
          </a:xfrm>
          <a:prstGeom prst="ellipse">
            <a:avLst/>
          </a:prstGeom>
          <a:solidFill>
            <a:srgbClr val="0B6E75"/>
          </a:solidFill>
          <a:ln/>
        </p:spPr>
        <p:txBody>
          <a:bodyPr/>
          <a:lstStyle/>
          <a:p>
            <a:endParaRPr lang="en-US" sz="3200"/>
          </a:p>
        </p:txBody>
      </p:sp>
      <p:sp>
        <p:nvSpPr>
          <p:cNvPr id="13" name="Text 9"/>
          <p:cNvSpPr/>
          <p:nvPr/>
        </p:nvSpPr>
        <p:spPr>
          <a:xfrm>
            <a:off x="5349240" y="3054096"/>
            <a:ext cx="475488" cy="475488"/>
          </a:xfrm>
          <a:prstGeom prst="rect">
            <a:avLst/>
          </a:prstGeom>
          <a:noFill/>
          <a:ln/>
        </p:spPr>
        <p:txBody>
          <a:bodyPr wrap="square" lIns="0" tIns="0" rIns="0" bIns="0" rtlCol="0" anchor="ctr"/>
          <a:lstStyle/>
          <a:p>
            <a:pPr marL="0" indent="0" algn="ctr">
              <a:buNone/>
            </a:pPr>
            <a:r>
              <a:rPr lang="en-US" sz="3200" b="1" dirty="0">
                <a:solidFill>
                  <a:srgbClr val="FFFFFF"/>
                </a:solidFill>
                <a:ea typeface="Cambria" pitchFamily="34" charset="-122"/>
                <a:cs typeface="Cambria" pitchFamily="34" charset="-120"/>
              </a:rPr>
              <a:t>2</a:t>
            </a:r>
            <a:endParaRPr lang="en-US" sz="3200" dirty="0"/>
          </a:p>
        </p:txBody>
      </p:sp>
      <p:sp>
        <p:nvSpPr>
          <p:cNvPr id="14" name="Text 10"/>
          <p:cNvSpPr/>
          <p:nvPr/>
        </p:nvSpPr>
        <p:spPr>
          <a:xfrm>
            <a:off x="6007608" y="2853396"/>
            <a:ext cx="5635447" cy="1389888"/>
          </a:xfrm>
          <a:prstGeom prst="rect">
            <a:avLst/>
          </a:prstGeom>
          <a:noFill/>
          <a:ln/>
        </p:spPr>
        <p:txBody>
          <a:bodyPr wrap="square" lIns="0" tIns="0" rIns="0" bIns="0" rtlCol="0" anchor="t"/>
          <a:lstStyle/>
          <a:p>
            <a:pPr marL="0" indent="0">
              <a:lnSpc>
                <a:spcPts val="2000"/>
              </a:lnSpc>
              <a:spcAft>
                <a:spcPts val="300"/>
              </a:spcAft>
              <a:buNone/>
            </a:pPr>
            <a:r>
              <a:rPr lang="en-US" sz="2400" b="1" dirty="0">
                <a:solidFill>
                  <a:srgbClr val="084F54"/>
                </a:solidFill>
                <a:ea typeface="Calibri" pitchFamily="34" charset="-122"/>
                <a:cs typeface="Calibri" pitchFamily="34" charset="-120"/>
              </a:rPr>
              <a:t>Impact consideration</a:t>
            </a:r>
            <a:endParaRPr lang="en-US" sz="2400" dirty="0"/>
          </a:p>
          <a:p>
            <a:pPr marL="0" indent="0">
              <a:lnSpc>
                <a:spcPts val="2000"/>
              </a:lnSpc>
              <a:buNone/>
            </a:pPr>
            <a:r>
              <a:rPr lang="en-US" sz="2000" dirty="0">
                <a:solidFill>
                  <a:srgbClr val="22343A"/>
                </a:solidFill>
                <a:ea typeface="Calibri" pitchFamily="34" charset="-122"/>
                <a:cs typeface="Calibri" pitchFamily="34" charset="-120"/>
              </a:rPr>
              <a:t>Per-inhaler global warming potential: MDIs about 1,400 to 3,200 times CO</a:t>
            </a:r>
            <a:r>
              <a:rPr lang="en-US" sz="2000" baseline="-25000" dirty="0">
                <a:solidFill>
                  <a:srgbClr val="22343A"/>
                </a:solidFill>
                <a:ea typeface="Calibri" pitchFamily="34" charset="-122"/>
                <a:cs typeface="Calibri" pitchFamily="34" charset="-120"/>
              </a:rPr>
              <a:t>2</a:t>
            </a:r>
            <a:r>
              <a:rPr lang="en-US" sz="2000" dirty="0">
                <a:solidFill>
                  <a:srgbClr val="22343A"/>
                </a:solidFill>
                <a:ea typeface="Calibri" pitchFamily="34" charset="-122"/>
                <a:cs typeface="Calibri" pitchFamily="34" charset="-120"/>
              </a:rPr>
              <a:t>; DPIs and SMIs roughly 10 to 40 times lower per dose. Multiply by counts to get emissions by device type.</a:t>
            </a:r>
            <a:endParaRPr lang="en-US" sz="2400" dirty="0"/>
          </a:p>
        </p:txBody>
      </p:sp>
      <p:sp>
        <p:nvSpPr>
          <p:cNvPr id="15" name="Shape 11"/>
          <p:cNvSpPr/>
          <p:nvPr/>
        </p:nvSpPr>
        <p:spPr>
          <a:xfrm>
            <a:off x="5586984" y="3557016"/>
            <a:ext cx="0" cy="978408"/>
          </a:xfrm>
          <a:prstGeom prst="line">
            <a:avLst/>
          </a:prstGeom>
          <a:noFill/>
          <a:ln w="25400">
            <a:solidFill>
              <a:srgbClr val="8FC9C6"/>
            </a:solidFill>
            <a:prstDash val="solid"/>
          </a:ln>
        </p:spPr>
        <p:txBody>
          <a:bodyPr/>
          <a:lstStyle/>
          <a:p>
            <a:endParaRPr lang="en-US" sz="3200"/>
          </a:p>
        </p:txBody>
      </p:sp>
      <p:sp>
        <p:nvSpPr>
          <p:cNvPr id="16" name="Shape 12"/>
          <p:cNvSpPr/>
          <p:nvPr/>
        </p:nvSpPr>
        <p:spPr>
          <a:xfrm>
            <a:off x="5349240" y="4535424"/>
            <a:ext cx="475488" cy="475488"/>
          </a:xfrm>
          <a:prstGeom prst="ellipse">
            <a:avLst/>
          </a:prstGeom>
          <a:solidFill>
            <a:srgbClr val="0B6E75"/>
          </a:solidFill>
          <a:ln/>
        </p:spPr>
        <p:txBody>
          <a:bodyPr/>
          <a:lstStyle/>
          <a:p>
            <a:endParaRPr lang="en-US" sz="3200"/>
          </a:p>
        </p:txBody>
      </p:sp>
      <p:sp>
        <p:nvSpPr>
          <p:cNvPr id="17" name="Text 13"/>
          <p:cNvSpPr/>
          <p:nvPr/>
        </p:nvSpPr>
        <p:spPr>
          <a:xfrm>
            <a:off x="5349240" y="4535424"/>
            <a:ext cx="475488" cy="475488"/>
          </a:xfrm>
          <a:prstGeom prst="rect">
            <a:avLst/>
          </a:prstGeom>
          <a:noFill/>
          <a:ln/>
        </p:spPr>
        <p:txBody>
          <a:bodyPr wrap="square" lIns="0" tIns="0" rIns="0" bIns="0" rtlCol="0" anchor="ctr"/>
          <a:lstStyle/>
          <a:p>
            <a:pPr marL="0" indent="0" algn="ctr">
              <a:buNone/>
            </a:pPr>
            <a:r>
              <a:rPr lang="en-US" sz="3200" b="1" dirty="0">
                <a:solidFill>
                  <a:srgbClr val="FFFFFF"/>
                </a:solidFill>
                <a:ea typeface="Cambria" pitchFamily="34" charset="-122"/>
                <a:cs typeface="Cambria" pitchFamily="34" charset="-120"/>
              </a:rPr>
              <a:t>3</a:t>
            </a:r>
            <a:endParaRPr lang="en-US" sz="3200" dirty="0"/>
          </a:p>
        </p:txBody>
      </p:sp>
      <p:sp>
        <p:nvSpPr>
          <p:cNvPr id="18" name="Text 14"/>
          <p:cNvSpPr/>
          <p:nvPr/>
        </p:nvSpPr>
        <p:spPr>
          <a:xfrm>
            <a:off x="6007608" y="4629186"/>
            <a:ext cx="5635447" cy="1389888"/>
          </a:xfrm>
          <a:prstGeom prst="rect">
            <a:avLst/>
          </a:prstGeom>
          <a:noFill/>
          <a:ln/>
        </p:spPr>
        <p:txBody>
          <a:bodyPr wrap="square" lIns="0" tIns="0" rIns="0" bIns="0" rtlCol="0" anchor="t"/>
          <a:lstStyle/>
          <a:p>
            <a:pPr marL="0" indent="0">
              <a:lnSpc>
                <a:spcPts val="2000"/>
              </a:lnSpc>
              <a:spcAft>
                <a:spcPts val="300"/>
              </a:spcAft>
              <a:buNone/>
            </a:pPr>
            <a:r>
              <a:rPr lang="en-US" sz="2400" b="1" dirty="0">
                <a:solidFill>
                  <a:srgbClr val="084F54"/>
                </a:solidFill>
                <a:latin typeface="Calibri" pitchFamily="34" charset="0"/>
                <a:ea typeface="Calibri" pitchFamily="34" charset="-122"/>
                <a:cs typeface="Calibri" pitchFamily="34" charset="-120"/>
              </a:rPr>
              <a:t>Access</a:t>
            </a:r>
            <a:endParaRPr lang="en-US" sz="2400" dirty="0"/>
          </a:p>
          <a:p>
            <a:pPr marL="0" indent="0">
              <a:lnSpc>
                <a:spcPts val="2000"/>
              </a:lnSpc>
              <a:buNone/>
            </a:pPr>
            <a:r>
              <a:rPr lang="en-US" sz="2000" dirty="0">
                <a:solidFill>
                  <a:srgbClr val="22343A"/>
                </a:solidFill>
                <a:latin typeface="Calibri" pitchFamily="34" charset="0"/>
                <a:ea typeface="Calibri" pitchFamily="34" charset="-122"/>
                <a:cs typeface="Calibri" pitchFamily="34" charset="-120"/>
              </a:rPr>
              <a:t>Higher out-of-pocket cost, prior authorization, and step therapy for DPIs and SMIs. </a:t>
            </a:r>
          </a:p>
          <a:p>
            <a:pPr marL="0" indent="0">
              <a:lnSpc>
                <a:spcPts val="2000"/>
              </a:lnSpc>
              <a:buNone/>
            </a:pPr>
            <a:r>
              <a:rPr lang="en-US" sz="2000" dirty="0">
                <a:solidFill>
                  <a:srgbClr val="22343A"/>
                </a:solidFill>
                <a:latin typeface="Calibri" pitchFamily="34" charset="0"/>
                <a:ea typeface="Calibri" pitchFamily="34" charset="-122"/>
                <a:cs typeface="Calibri" pitchFamily="34" charset="-120"/>
              </a:rPr>
              <a:t>Creating structural barriers on top of potential clinical barriers.</a:t>
            </a:r>
            <a:endParaRPr lang="en-US" sz="2400" dirty="0"/>
          </a:p>
        </p:txBody>
      </p:sp>
      <p:sp>
        <p:nvSpPr>
          <p:cNvPr id="20" name="Text 16"/>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marL="0" indent="0" algn="l">
              <a:lnSpc>
                <a:spcPts val="3000"/>
              </a:lnSpc>
              <a:buNone/>
            </a:pPr>
            <a:r>
              <a:rPr lang="en-US" sz="3600" b="1" dirty="0">
                <a:latin typeface="Calibri" pitchFamily="34" charset="0"/>
                <a:ea typeface="Calibri" pitchFamily="34" charset="-122"/>
                <a:cs typeface="Calibri" pitchFamily="34" charset="-120"/>
              </a:rPr>
              <a:t>1. Example studies</a:t>
            </a:r>
            <a:endParaRPr lang="en-US" sz="3600" dirty="0"/>
          </a:p>
        </p:txBody>
      </p:sp>
      <p:sp>
        <p:nvSpPr>
          <p:cNvPr id="6" name="Shape 4"/>
          <p:cNvSpPr/>
          <p:nvPr/>
        </p:nvSpPr>
        <p:spPr>
          <a:xfrm>
            <a:off x="640080" y="1481328"/>
            <a:ext cx="1371600" cy="50292"/>
          </a:xfrm>
          <a:prstGeom prst="rect">
            <a:avLst/>
          </a:prstGeom>
          <a:solidFill>
            <a:srgbClr val="EE8A2E"/>
          </a:solidFill>
          <a:ln/>
        </p:spPr>
        <p:txBody>
          <a:bodyPr/>
          <a:lstStyle/>
          <a:p>
            <a:endParaRPr lang="en-US"/>
          </a:p>
        </p:txBody>
      </p:sp>
      <p:sp>
        <p:nvSpPr>
          <p:cNvPr id="7" name="Text 5"/>
          <p:cNvSpPr/>
          <p:nvPr/>
        </p:nvSpPr>
        <p:spPr>
          <a:xfrm>
            <a:off x="640080" y="1645920"/>
            <a:ext cx="10911535" cy="292608"/>
          </a:xfrm>
          <a:prstGeom prst="rect">
            <a:avLst/>
          </a:prstGeom>
          <a:noFill/>
          <a:ln/>
        </p:spPr>
        <p:txBody>
          <a:bodyPr wrap="square" lIns="0" tIns="0" rIns="0" bIns="0" rtlCol="0" anchor="ctr"/>
          <a:lstStyle/>
          <a:p>
            <a:pPr marL="0" indent="0">
              <a:buNone/>
            </a:pPr>
            <a:r>
              <a:rPr lang="en-US" sz="2000" b="1" dirty="0">
                <a:solidFill>
                  <a:srgbClr val="C9711F"/>
                </a:solidFill>
                <a:latin typeface="Calibri" pitchFamily="34" charset="0"/>
                <a:ea typeface="Calibri" pitchFamily="34" charset="-122"/>
                <a:cs typeface="Calibri" pitchFamily="34" charset="-120"/>
              </a:rPr>
              <a:t>Emission quantification from utilization data</a:t>
            </a:r>
            <a:endParaRPr lang="en-US" sz="2000" dirty="0"/>
          </a:p>
        </p:txBody>
      </p:sp>
      <p:sp>
        <p:nvSpPr>
          <p:cNvPr id="8" name="Text 6"/>
          <p:cNvSpPr/>
          <p:nvPr/>
        </p:nvSpPr>
        <p:spPr>
          <a:xfrm>
            <a:off x="640080" y="1965960"/>
            <a:ext cx="10911535" cy="1920240"/>
          </a:xfrm>
          <a:prstGeom prst="rect">
            <a:avLst/>
          </a:prstGeom>
          <a:noFill/>
          <a:ln/>
        </p:spPr>
        <p:txBody>
          <a:bodyPr wrap="square" lIns="0" tIns="0" rIns="0" bIns="0" rtlCol="0" anchor="t"/>
          <a:lstStyle/>
          <a:p>
            <a:pPr marL="203200" indent="-203200">
              <a:lnSpc>
                <a:spcPts val="2000"/>
              </a:lnSpc>
              <a:spcAft>
                <a:spcPts val="800"/>
              </a:spcAft>
              <a:buSzPct val="100000"/>
              <a:buChar char="•"/>
            </a:pPr>
            <a:r>
              <a:rPr lang="en-US" dirty="0">
                <a:solidFill>
                  <a:srgbClr val="2C2233"/>
                </a:solidFill>
                <a:latin typeface="Calibri" pitchFamily="34" charset="0"/>
                <a:ea typeface="Calibri" pitchFamily="34" charset="-122"/>
                <a:cs typeface="Calibri" pitchFamily="34" charset="-120"/>
              </a:rPr>
              <a:t>Tirumalasetty 2024 (JAMA): 69.8M Medicare + Medicaid claims (2022) to about 1.15 MMT CO2e; MDIs about 98% of emissions</a:t>
            </a:r>
            <a:endParaRPr lang="en-US" dirty="0"/>
          </a:p>
          <a:p>
            <a:pPr marL="203200" indent="-203200">
              <a:lnSpc>
                <a:spcPts val="2000"/>
              </a:lnSpc>
              <a:spcAft>
                <a:spcPts val="800"/>
              </a:spcAft>
              <a:buSzPct val="100000"/>
              <a:buChar char="•"/>
            </a:pPr>
            <a:r>
              <a:rPr lang="en-US" dirty="0">
                <a:solidFill>
                  <a:srgbClr val="2C2233"/>
                </a:solidFill>
                <a:latin typeface="Calibri" pitchFamily="34" charset="0"/>
                <a:ea typeface="Calibri" pitchFamily="34" charset="-122"/>
                <a:cs typeface="Calibri" pitchFamily="34" charset="-120"/>
              </a:rPr>
              <a:t>Feldman 2025 (JAMA): 1.6 billion inhalers (2014 to 2024) to 24.9 MMT CO2e; MDIs 98%; social cost about $5.7 billion</a:t>
            </a:r>
            <a:endParaRPr lang="en-US" dirty="0"/>
          </a:p>
          <a:p>
            <a:pPr marL="203200" indent="-203200">
              <a:lnSpc>
                <a:spcPts val="2000"/>
              </a:lnSpc>
              <a:spcAft>
                <a:spcPts val="800"/>
              </a:spcAft>
              <a:buSzPct val="100000"/>
              <a:buChar char="•"/>
            </a:pPr>
            <a:r>
              <a:rPr lang="en-US" dirty="0">
                <a:solidFill>
                  <a:srgbClr val="2C2233"/>
                </a:solidFill>
                <a:latin typeface="Calibri" pitchFamily="34" charset="0"/>
                <a:ea typeface="Calibri" pitchFamily="34" charset="-122"/>
                <a:cs typeface="Calibri" pitchFamily="34" charset="-120"/>
              </a:rPr>
              <a:t>Weppner 2025 (JAMA): VA emissions fell 68% (2008 to 2023), with a further drop after a 2021 formulary switch to DPIs</a:t>
            </a:r>
            <a:endParaRPr lang="en-US" dirty="0"/>
          </a:p>
        </p:txBody>
      </p:sp>
      <p:sp>
        <p:nvSpPr>
          <p:cNvPr id="9" name="Text 7"/>
          <p:cNvSpPr/>
          <p:nvPr/>
        </p:nvSpPr>
        <p:spPr>
          <a:xfrm>
            <a:off x="640080" y="3977640"/>
            <a:ext cx="10911535" cy="292608"/>
          </a:xfrm>
          <a:prstGeom prst="rect">
            <a:avLst/>
          </a:prstGeom>
          <a:noFill/>
          <a:ln/>
        </p:spPr>
        <p:txBody>
          <a:bodyPr wrap="square" lIns="0" tIns="0" rIns="0" bIns="0" rtlCol="0" anchor="ctr"/>
          <a:lstStyle/>
          <a:p>
            <a:pPr marL="0" indent="0">
              <a:buNone/>
            </a:pPr>
            <a:r>
              <a:rPr lang="en-US" b="1" dirty="0">
                <a:solidFill>
                  <a:srgbClr val="C9711F"/>
                </a:solidFill>
                <a:latin typeface="Calibri" pitchFamily="34" charset="0"/>
                <a:ea typeface="Calibri" pitchFamily="34" charset="-122"/>
                <a:cs typeface="Calibri" pitchFamily="34" charset="-120"/>
              </a:rPr>
              <a:t>Utilization and access (Our work)</a:t>
            </a:r>
            <a:endParaRPr lang="en-US" dirty="0"/>
          </a:p>
        </p:txBody>
      </p:sp>
      <p:sp>
        <p:nvSpPr>
          <p:cNvPr id="10" name="Text 8"/>
          <p:cNvSpPr/>
          <p:nvPr/>
        </p:nvSpPr>
        <p:spPr>
          <a:xfrm>
            <a:off x="640079" y="4455514"/>
            <a:ext cx="10911535" cy="1828800"/>
          </a:xfrm>
          <a:prstGeom prst="rect">
            <a:avLst/>
          </a:prstGeom>
          <a:noFill/>
          <a:ln/>
        </p:spPr>
        <p:txBody>
          <a:bodyPr wrap="square" lIns="0" tIns="0" rIns="0" bIns="0" rtlCol="0" anchor="t"/>
          <a:lstStyle/>
          <a:p>
            <a:pPr marL="203200" indent="-203200">
              <a:lnSpc>
                <a:spcPts val="2000"/>
              </a:lnSpc>
              <a:spcAft>
                <a:spcPts val="800"/>
              </a:spcAft>
              <a:buSzPct val="100000"/>
              <a:buChar char="•"/>
            </a:pPr>
            <a:r>
              <a:rPr lang="en-US" dirty="0">
                <a:solidFill>
                  <a:srgbClr val="2C2233"/>
                </a:solidFill>
                <a:latin typeface="Calibri" pitchFamily="34" charset="0"/>
                <a:ea typeface="Calibri" pitchFamily="34" charset="-122"/>
                <a:cs typeface="Calibri" pitchFamily="34" charset="-120"/>
              </a:rPr>
              <a:t>Parthasarathi 2025 (Lancet Reg Health Am): 160.8M inhalers, 10.5M older adults, 51% MDIs; DPI coverage low, higher tiers, frequent PA or ST</a:t>
            </a:r>
            <a:endParaRPr lang="en-US" dirty="0"/>
          </a:p>
          <a:p>
            <a:pPr marL="203200" indent="-203200">
              <a:lnSpc>
                <a:spcPts val="2000"/>
              </a:lnSpc>
              <a:spcAft>
                <a:spcPts val="800"/>
              </a:spcAft>
              <a:buSzPct val="100000"/>
              <a:buChar char="•"/>
            </a:pPr>
            <a:r>
              <a:rPr lang="en-US" dirty="0">
                <a:solidFill>
                  <a:srgbClr val="2C2233"/>
                </a:solidFill>
                <a:latin typeface="Calibri" pitchFamily="34" charset="0"/>
                <a:ea typeface="Calibri" pitchFamily="34" charset="-122"/>
                <a:cs typeface="Calibri" pitchFamily="34" charset="-120"/>
              </a:rPr>
              <a:t>Parthasarathi 2026 (JAMA Netw Open): commercial plans mirror Medicare; low-barrier access to propellant-free options far rarer (SABA 7.8% vs 99.2%)</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C2F0B-D94D-0262-6DEE-1B9ABD92CC5F}"/>
              </a:ext>
            </a:extLst>
          </p:cNvPr>
          <p:cNvSpPr>
            <a:spLocks noGrp="1"/>
          </p:cNvSpPr>
          <p:nvPr>
            <p:ph type="title"/>
          </p:nvPr>
        </p:nvSpPr>
        <p:spPr>
          <a:xfrm>
            <a:off x="539496" y="583909"/>
            <a:ext cx="11113008" cy="849793"/>
          </a:xfrm>
        </p:spPr>
        <p:txBody>
          <a:bodyPr>
            <a:noAutofit/>
          </a:bodyPr>
          <a:lstStyle/>
          <a:p>
            <a:r>
              <a:rPr lang="en-US" sz="4000" b="1" dirty="0">
                <a:latin typeface="Calibri" panose="020F0502020204030204" pitchFamily="34" charset="0"/>
                <a:cs typeface="Calibri" panose="020F0502020204030204" pitchFamily="34" charset="0"/>
              </a:rPr>
              <a:t>2. Consumption-based exposure and risk assessment</a:t>
            </a:r>
            <a:r>
              <a:rPr lang="en-US" sz="4000" dirty="0">
                <a:latin typeface="Calibri" panose="020F0502020204030204" pitchFamily="34" charset="0"/>
                <a:cs typeface="Calibri" panose="020F0502020204030204" pitchFamily="34" charset="0"/>
              </a:rPr>
              <a:t> </a:t>
            </a:r>
          </a:p>
        </p:txBody>
      </p:sp>
      <p:sp>
        <p:nvSpPr>
          <p:cNvPr id="3" name="Content Placeholder 2">
            <a:extLst>
              <a:ext uri="{FF2B5EF4-FFF2-40B4-BE49-F238E27FC236}">
                <a16:creationId xmlns:a16="http://schemas.microsoft.com/office/drawing/2014/main" id="{DC0DE5C7-5AC3-B4AE-9E51-0E8C575464DE}"/>
              </a:ext>
            </a:extLst>
          </p:cNvPr>
          <p:cNvSpPr>
            <a:spLocks noGrp="1"/>
          </p:cNvSpPr>
          <p:nvPr>
            <p:ph idx="1"/>
          </p:nvPr>
        </p:nvSpPr>
        <p:spPr/>
        <p:txBody>
          <a:bodyPr>
            <a:normAutofit/>
          </a:bodyPr>
          <a:lstStyle/>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An environmental (ecotoxicological) risk assessment approach in which the environmental burden of a pharmaceutical is estimated from how much of it is consumed (used and excreted) by a population, and then compared against a concentration below which harm to aquatic organisms is not expected. </a:t>
            </a:r>
          </a:p>
          <a:p>
            <a:pPr marL="457200" indent="-457200">
              <a:buFont typeface="Arial" panose="020B0604020202020204" pitchFamily="34" charset="0"/>
              <a:buChar char="•"/>
            </a:pPr>
            <a:r>
              <a:rPr lang="en-US" sz="3200" dirty="0">
                <a:latin typeface="Calibri" panose="020F0502020204030204" pitchFamily="34" charset="0"/>
                <a:cs typeface="Calibri" panose="020F0502020204030204" pitchFamily="34" charset="0"/>
              </a:rPr>
              <a:t>Risk is expressed as the ratio of the </a:t>
            </a:r>
            <a:r>
              <a:rPr lang="en-US" sz="3200" b="1" dirty="0">
                <a:latin typeface="Calibri" panose="020F0502020204030204" pitchFamily="34" charset="0"/>
                <a:cs typeface="Calibri" panose="020F0502020204030204" pitchFamily="34" charset="0"/>
              </a:rPr>
              <a:t>Predicted Environmental Concentration (PEC)</a:t>
            </a:r>
            <a:r>
              <a:rPr lang="en-US" sz="3200" dirty="0">
                <a:latin typeface="Calibri" panose="020F0502020204030204" pitchFamily="34" charset="0"/>
                <a:cs typeface="Calibri" panose="020F0502020204030204" pitchFamily="34" charset="0"/>
              </a:rPr>
              <a:t> to the </a:t>
            </a:r>
            <a:r>
              <a:rPr lang="en-US" sz="3200" b="1" dirty="0">
                <a:latin typeface="Calibri" panose="020F0502020204030204" pitchFamily="34" charset="0"/>
                <a:cs typeface="Calibri" panose="020F0502020204030204" pitchFamily="34" charset="0"/>
              </a:rPr>
              <a:t>Predicted No-Effect Concentration (PNEC)</a:t>
            </a:r>
            <a:r>
              <a:rPr lang="en-US" sz="3200" dirty="0">
                <a:latin typeface="Calibri" panose="020F0502020204030204" pitchFamily="34" charset="0"/>
                <a:cs typeface="Calibri" panose="020F0502020204030204" pitchFamily="34" charset="0"/>
              </a:rPr>
              <a:t>, i.e., the risk quotient (RQ = PEC/PNEC). A ratio ≥1 signals potential ecological risk. [1-3]</a:t>
            </a:r>
          </a:p>
        </p:txBody>
      </p:sp>
    </p:spTree>
    <p:extLst>
      <p:ext uri="{BB962C8B-B14F-4D97-AF65-F5344CB8AC3E}">
        <p14:creationId xmlns:p14="http://schemas.microsoft.com/office/powerpoint/2010/main" val="1271335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094415" cy="658368"/>
          </a:xfrm>
          <a:prstGeom prst="rect">
            <a:avLst/>
          </a:prstGeom>
          <a:noFill/>
          <a:ln/>
        </p:spPr>
        <p:txBody>
          <a:bodyPr wrap="square" lIns="0" tIns="0" rIns="0" bIns="0" rtlCol="0" anchor="t"/>
          <a:lstStyle/>
          <a:p>
            <a:pPr marL="0" indent="0" algn="l">
              <a:lnSpc>
                <a:spcPts val="3000"/>
              </a:lnSpc>
              <a:buNone/>
            </a:pPr>
            <a:r>
              <a:rPr lang="en-US" sz="3200" b="1" dirty="0">
                <a:ea typeface="Cambria" pitchFamily="34" charset="-122"/>
                <a:cs typeface="Cambria" pitchFamily="34" charset="-120"/>
              </a:rPr>
              <a:t>2. Consumption-based environmental risk assessment</a:t>
            </a:r>
            <a:endParaRPr lang="en-US" sz="3200" dirty="0"/>
          </a:p>
        </p:txBody>
      </p:sp>
      <p:sp>
        <p:nvSpPr>
          <p:cNvPr id="5" name="Shape 3"/>
          <p:cNvSpPr/>
          <p:nvPr/>
        </p:nvSpPr>
        <p:spPr>
          <a:xfrm>
            <a:off x="548640" y="2148840"/>
            <a:ext cx="2606040" cy="868680"/>
          </a:xfrm>
          <a:prstGeom prst="roundRect">
            <a:avLst>
              <a:gd name="adj" fmla="val 8421"/>
            </a:avLst>
          </a:prstGeom>
          <a:solidFill>
            <a:srgbClr val="0B6E75"/>
          </a:solidFill>
          <a:ln/>
          <a:effectLst>
            <a:outerShdw blurRad="76200" dist="25400" dir="5400000" algn="bl" rotWithShape="0">
              <a:srgbClr val="9AAEB0">
                <a:alpha val="28000"/>
              </a:srgbClr>
            </a:outerShdw>
          </a:effectLst>
        </p:spPr>
        <p:txBody>
          <a:bodyPr/>
          <a:lstStyle/>
          <a:p>
            <a:endParaRPr lang="en-US" sz="2400"/>
          </a:p>
        </p:txBody>
      </p:sp>
      <p:sp>
        <p:nvSpPr>
          <p:cNvPr id="6" name="Text 4"/>
          <p:cNvSpPr/>
          <p:nvPr/>
        </p:nvSpPr>
        <p:spPr>
          <a:xfrm>
            <a:off x="658368" y="2148840"/>
            <a:ext cx="2386584" cy="868680"/>
          </a:xfrm>
          <a:prstGeom prst="rect">
            <a:avLst/>
          </a:prstGeom>
          <a:noFill/>
          <a:ln/>
        </p:spPr>
        <p:txBody>
          <a:bodyPr wrap="square" lIns="0" tIns="0" rIns="0" bIns="0" rtlCol="0" anchor="ctr"/>
          <a:lstStyle/>
          <a:p>
            <a:pPr marL="0" indent="0" algn="ctr">
              <a:lnSpc>
                <a:spcPts val="1500"/>
              </a:lnSpc>
              <a:buNone/>
            </a:pPr>
            <a:r>
              <a:rPr lang="en-US" sz="2000" b="1" dirty="0">
                <a:solidFill>
                  <a:srgbClr val="FFFF00"/>
                </a:solidFill>
                <a:ea typeface="Calibri" pitchFamily="34" charset="-122"/>
                <a:cs typeface="Calibri" pitchFamily="34" charset="-120"/>
              </a:rPr>
              <a:t>Consumption /</a:t>
            </a:r>
            <a:endParaRPr lang="en-US" sz="2000" dirty="0">
              <a:solidFill>
                <a:srgbClr val="FFFF00"/>
              </a:solidFill>
            </a:endParaRPr>
          </a:p>
          <a:p>
            <a:pPr marL="0" indent="0" algn="ctr">
              <a:lnSpc>
                <a:spcPts val="1500"/>
              </a:lnSpc>
              <a:buNone/>
            </a:pPr>
            <a:r>
              <a:rPr lang="en-US" sz="2000" b="1" dirty="0">
                <a:solidFill>
                  <a:srgbClr val="FFFF00"/>
                </a:solidFill>
                <a:ea typeface="Calibri" pitchFamily="34" charset="-122"/>
                <a:cs typeface="Calibri" pitchFamily="34" charset="-120"/>
              </a:rPr>
              <a:t>dispensing data</a:t>
            </a:r>
            <a:endParaRPr lang="en-US" sz="2000" dirty="0">
              <a:solidFill>
                <a:srgbClr val="FFFF00"/>
              </a:solidFill>
            </a:endParaRPr>
          </a:p>
          <a:p>
            <a:pPr marL="0" indent="0" algn="ctr">
              <a:lnSpc>
                <a:spcPts val="1500"/>
              </a:lnSpc>
              <a:buNone/>
            </a:pPr>
            <a:r>
              <a:rPr lang="en-US" sz="1600" dirty="0">
                <a:solidFill>
                  <a:schemeClr val="bg1"/>
                </a:solidFill>
                <a:ea typeface="Calibri" pitchFamily="34" charset="-122"/>
                <a:cs typeface="Calibri" pitchFamily="34" charset="-120"/>
              </a:rPr>
              <a:t>volumes, geography, time</a:t>
            </a:r>
            <a:endParaRPr lang="en-US" sz="2000" dirty="0">
              <a:solidFill>
                <a:schemeClr val="bg1"/>
              </a:solidFill>
            </a:endParaRPr>
          </a:p>
        </p:txBody>
      </p:sp>
      <p:sp>
        <p:nvSpPr>
          <p:cNvPr id="7" name="Shape 5"/>
          <p:cNvSpPr/>
          <p:nvPr/>
        </p:nvSpPr>
        <p:spPr>
          <a:xfrm>
            <a:off x="3200400" y="2587752"/>
            <a:ext cx="1234440" cy="0"/>
          </a:xfrm>
          <a:prstGeom prst="line">
            <a:avLst/>
          </a:prstGeom>
          <a:noFill/>
          <a:ln w="38100">
            <a:solidFill>
              <a:srgbClr val="2E9599"/>
            </a:solidFill>
            <a:prstDash val="solid"/>
            <a:tailEnd type="triangle"/>
          </a:ln>
        </p:spPr>
        <p:txBody>
          <a:bodyPr/>
          <a:lstStyle/>
          <a:p>
            <a:endParaRPr lang="en-US" sz="2400"/>
          </a:p>
        </p:txBody>
      </p:sp>
      <p:sp>
        <p:nvSpPr>
          <p:cNvPr id="8" name="Text 6"/>
          <p:cNvSpPr/>
          <p:nvPr/>
        </p:nvSpPr>
        <p:spPr>
          <a:xfrm>
            <a:off x="9491115" y="1832144"/>
            <a:ext cx="1603300" cy="457200"/>
          </a:xfrm>
          <a:prstGeom prst="rect">
            <a:avLst/>
          </a:prstGeom>
          <a:noFill/>
          <a:ln/>
        </p:spPr>
        <p:txBody>
          <a:bodyPr wrap="square" lIns="0" tIns="0" rIns="0" bIns="0" rtlCol="0" anchor="b"/>
          <a:lstStyle/>
          <a:p>
            <a:pPr marL="0" indent="0" algn="ctr">
              <a:lnSpc>
                <a:spcPts val="2400"/>
              </a:lnSpc>
              <a:buNone/>
            </a:pPr>
            <a:r>
              <a:rPr lang="en-US" sz="2400" b="1" i="1" dirty="0">
                <a:ea typeface="Calibri" pitchFamily="34" charset="-122"/>
                <a:cs typeface="Calibri" pitchFamily="34" charset="-120"/>
              </a:rPr>
              <a:t>× excretion</a:t>
            </a:r>
            <a:endParaRPr lang="en-US" sz="2400" b="1" dirty="0"/>
          </a:p>
          <a:p>
            <a:pPr marL="0" indent="0" algn="ctr">
              <a:lnSpc>
                <a:spcPts val="2400"/>
              </a:lnSpc>
              <a:buNone/>
            </a:pPr>
            <a:r>
              <a:rPr lang="en-US" sz="2400" b="1" i="1" dirty="0">
                <a:ea typeface="Calibri" pitchFamily="34" charset="-122"/>
                <a:cs typeface="Calibri" pitchFamily="34" charset="-120"/>
              </a:rPr>
              <a:t>× removal</a:t>
            </a:r>
            <a:endParaRPr lang="en-US" sz="2400" b="1" dirty="0"/>
          </a:p>
          <a:p>
            <a:pPr marL="0" indent="0" algn="ctr">
              <a:lnSpc>
                <a:spcPts val="2400"/>
              </a:lnSpc>
              <a:buNone/>
            </a:pPr>
            <a:r>
              <a:rPr lang="en-US" sz="2400" b="1" i="1" dirty="0">
                <a:ea typeface="Calibri" pitchFamily="34" charset="-122"/>
                <a:cs typeface="Calibri" pitchFamily="34" charset="-120"/>
              </a:rPr>
              <a:t>÷ dilution</a:t>
            </a:r>
            <a:endParaRPr lang="en-US" sz="2400" b="1" dirty="0"/>
          </a:p>
        </p:txBody>
      </p:sp>
      <p:sp>
        <p:nvSpPr>
          <p:cNvPr id="9" name="Shape 7"/>
          <p:cNvSpPr/>
          <p:nvPr/>
        </p:nvSpPr>
        <p:spPr>
          <a:xfrm>
            <a:off x="4480560" y="2148840"/>
            <a:ext cx="2331720" cy="868680"/>
          </a:xfrm>
          <a:prstGeom prst="roundRect">
            <a:avLst>
              <a:gd name="adj" fmla="val 8421"/>
            </a:avLst>
          </a:prstGeom>
          <a:solidFill>
            <a:srgbClr val="EAF2F1"/>
          </a:solidFill>
          <a:ln/>
          <a:effectLst>
            <a:outerShdw blurRad="76200" dist="25400" dir="5400000" algn="bl" rotWithShape="0">
              <a:srgbClr val="9AAEB0">
                <a:alpha val="28000"/>
              </a:srgbClr>
            </a:outerShdw>
          </a:effectLst>
        </p:spPr>
        <p:txBody>
          <a:bodyPr/>
          <a:lstStyle/>
          <a:p>
            <a:endParaRPr lang="en-US" sz="2400"/>
          </a:p>
        </p:txBody>
      </p:sp>
      <p:sp>
        <p:nvSpPr>
          <p:cNvPr id="10" name="Text 8"/>
          <p:cNvSpPr/>
          <p:nvPr/>
        </p:nvSpPr>
        <p:spPr>
          <a:xfrm>
            <a:off x="4590288" y="2148840"/>
            <a:ext cx="2112264" cy="868680"/>
          </a:xfrm>
          <a:prstGeom prst="rect">
            <a:avLst/>
          </a:prstGeom>
          <a:noFill/>
          <a:ln/>
        </p:spPr>
        <p:txBody>
          <a:bodyPr wrap="square" lIns="0" tIns="0" rIns="0" bIns="0" rtlCol="0" anchor="ctr"/>
          <a:lstStyle/>
          <a:p>
            <a:pPr marL="0" indent="0" algn="ctr">
              <a:lnSpc>
                <a:spcPts val="1500"/>
              </a:lnSpc>
              <a:buNone/>
            </a:pPr>
            <a:r>
              <a:rPr lang="en-US" sz="2000" b="1" dirty="0">
                <a:ea typeface="Calibri" pitchFamily="34" charset="-122"/>
                <a:cs typeface="Calibri" pitchFamily="34" charset="-120"/>
              </a:rPr>
              <a:t>PEC</a:t>
            </a:r>
            <a:endParaRPr lang="en-US" sz="2000" dirty="0"/>
          </a:p>
          <a:p>
            <a:pPr marL="0" indent="0" algn="ctr">
              <a:lnSpc>
                <a:spcPts val="1500"/>
              </a:lnSpc>
              <a:buNone/>
            </a:pPr>
            <a:r>
              <a:rPr lang="en-US" sz="1600" dirty="0">
                <a:ea typeface="Calibri" pitchFamily="34" charset="-122"/>
                <a:cs typeface="Calibri" pitchFamily="34" charset="-120"/>
              </a:rPr>
              <a:t>predicted environmental concentration</a:t>
            </a:r>
            <a:endParaRPr lang="en-US" sz="2000" dirty="0"/>
          </a:p>
        </p:txBody>
      </p:sp>
      <p:sp>
        <p:nvSpPr>
          <p:cNvPr id="11" name="Shape 9"/>
          <p:cNvSpPr/>
          <p:nvPr/>
        </p:nvSpPr>
        <p:spPr>
          <a:xfrm>
            <a:off x="548640" y="3520440"/>
            <a:ext cx="2606040" cy="868680"/>
          </a:xfrm>
          <a:prstGeom prst="roundRect">
            <a:avLst>
              <a:gd name="adj" fmla="val 8421"/>
            </a:avLst>
          </a:prstGeom>
          <a:solidFill>
            <a:srgbClr val="C9552F"/>
          </a:solidFill>
          <a:ln/>
          <a:effectLst>
            <a:outerShdw blurRad="76200" dist="25400" dir="5400000" algn="bl" rotWithShape="0">
              <a:srgbClr val="9AAEB0">
                <a:alpha val="28000"/>
              </a:srgbClr>
            </a:outerShdw>
          </a:effectLst>
        </p:spPr>
        <p:txBody>
          <a:bodyPr/>
          <a:lstStyle/>
          <a:p>
            <a:endParaRPr lang="en-US" sz="2400"/>
          </a:p>
        </p:txBody>
      </p:sp>
      <p:sp>
        <p:nvSpPr>
          <p:cNvPr id="12" name="Text 10"/>
          <p:cNvSpPr/>
          <p:nvPr/>
        </p:nvSpPr>
        <p:spPr>
          <a:xfrm>
            <a:off x="658368" y="3520440"/>
            <a:ext cx="2386584" cy="868680"/>
          </a:xfrm>
          <a:prstGeom prst="rect">
            <a:avLst/>
          </a:prstGeom>
          <a:noFill/>
          <a:ln/>
        </p:spPr>
        <p:txBody>
          <a:bodyPr wrap="square" lIns="0" tIns="0" rIns="0" bIns="0" rtlCol="0" anchor="ctr"/>
          <a:lstStyle/>
          <a:p>
            <a:pPr marL="0" indent="0" algn="ctr">
              <a:lnSpc>
                <a:spcPts val="1500"/>
              </a:lnSpc>
              <a:buNone/>
            </a:pPr>
            <a:r>
              <a:rPr lang="en-US" sz="2000" b="1" dirty="0">
                <a:solidFill>
                  <a:srgbClr val="FFFFFF"/>
                </a:solidFill>
                <a:ea typeface="Calibri" pitchFamily="34" charset="-122"/>
                <a:cs typeface="Calibri" pitchFamily="34" charset="-120"/>
              </a:rPr>
              <a:t>Ecotoxicity data</a:t>
            </a:r>
            <a:endParaRPr lang="en-US" sz="2000" dirty="0"/>
          </a:p>
          <a:p>
            <a:pPr marL="0" indent="0" algn="ctr">
              <a:lnSpc>
                <a:spcPts val="1500"/>
              </a:lnSpc>
              <a:buNone/>
            </a:pPr>
            <a:r>
              <a:rPr lang="en-US" dirty="0">
                <a:solidFill>
                  <a:schemeClr val="bg1"/>
                </a:solidFill>
                <a:ea typeface="Calibri" pitchFamily="34" charset="-122"/>
                <a:cs typeface="Calibri" pitchFamily="34" charset="-120"/>
              </a:rPr>
              <a:t>NOEC ÷ assessment factor</a:t>
            </a:r>
            <a:endParaRPr lang="en-US" sz="2400" dirty="0">
              <a:solidFill>
                <a:schemeClr val="bg1"/>
              </a:solidFill>
            </a:endParaRPr>
          </a:p>
        </p:txBody>
      </p:sp>
      <p:sp>
        <p:nvSpPr>
          <p:cNvPr id="13" name="Shape 11"/>
          <p:cNvSpPr/>
          <p:nvPr/>
        </p:nvSpPr>
        <p:spPr>
          <a:xfrm>
            <a:off x="3200400" y="3959352"/>
            <a:ext cx="1234440" cy="0"/>
          </a:xfrm>
          <a:prstGeom prst="line">
            <a:avLst/>
          </a:prstGeom>
          <a:noFill/>
          <a:ln w="38100">
            <a:solidFill>
              <a:srgbClr val="2E9599"/>
            </a:solidFill>
            <a:prstDash val="solid"/>
            <a:tailEnd type="triangle"/>
          </a:ln>
        </p:spPr>
        <p:txBody>
          <a:bodyPr/>
          <a:lstStyle/>
          <a:p>
            <a:endParaRPr lang="en-US" sz="2400"/>
          </a:p>
        </p:txBody>
      </p:sp>
      <p:sp>
        <p:nvSpPr>
          <p:cNvPr id="14" name="Shape 12"/>
          <p:cNvSpPr/>
          <p:nvPr/>
        </p:nvSpPr>
        <p:spPr>
          <a:xfrm>
            <a:off x="4480560" y="3520440"/>
            <a:ext cx="2331720" cy="868680"/>
          </a:xfrm>
          <a:prstGeom prst="roundRect">
            <a:avLst>
              <a:gd name="adj" fmla="val 8421"/>
            </a:avLst>
          </a:prstGeom>
          <a:solidFill>
            <a:srgbClr val="FBEEE8"/>
          </a:solidFill>
          <a:ln/>
          <a:effectLst>
            <a:outerShdw blurRad="76200" dist="25400" dir="5400000" algn="bl" rotWithShape="0">
              <a:srgbClr val="9AAEB0">
                <a:alpha val="28000"/>
              </a:srgbClr>
            </a:outerShdw>
          </a:effectLst>
        </p:spPr>
        <p:txBody>
          <a:bodyPr/>
          <a:lstStyle/>
          <a:p>
            <a:endParaRPr lang="en-US" sz="2400"/>
          </a:p>
        </p:txBody>
      </p:sp>
      <p:sp>
        <p:nvSpPr>
          <p:cNvPr id="15" name="Text 13"/>
          <p:cNvSpPr/>
          <p:nvPr/>
        </p:nvSpPr>
        <p:spPr>
          <a:xfrm>
            <a:off x="4590288" y="3520440"/>
            <a:ext cx="2112264" cy="868680"/>
          </a:xfrm>
          <a:prstGeom prst="rect">
            <a:avLst/>
          </a:prstGeom>
          <a:noFill/>
          <a:ln/>
        </p:spPr>
        <p:txBody>
          <a:bodyPr wrap="square" lIns="0" tIns="0" rIns="0" bIns="0" rtlCol="0" anchor="ctr"/>
          <a:lstStyle/>
          <a:p>
            <a:pPr marL="0" indent="0" algn="ctr">
              <a:lnSpc>
                <a:spcPts val="1500"/>
              </a:lnSpc>
              <a:buNone/>
            </a:pPr>
            <a:r>
              <a:rPr lang="en-US" sz="2000" b="1" dirty="0">
                <a:ea typeface="Calibri" pitchFamily="34" charset="-122"/>
                <a:cs typeface="Calibri" pitchFamily="34" charset="-120"/>
              </a:rPr>
              <a:t>PNEC</a:t>
            </a:r>
            <a:endParaRPr lang="en-US" sz="2000" dirty="0"/>
          </a:p>
          <a:p>
            <a:pPr marL="0" indent="0" algn="ctr">
              <a:lnSpc>
                <a:spcPts val="1500"/>
              </a:lnSpc>
              <a:buNone/>
            </a:pPr>
            <a:r>
              <a:rPr lang="en-US" sz="1600" dirty="0">
                <a:ea typeface="Calibri" pitchFamily="34" charset="-122"/>
                <a:cs typeface="Calibri" pitchFamily="34" charset="-120"/>
              </a:rPr>
              <a:t>predicted no-effect concentration</a:t>
            </a:r>
            <a:endParaRPr lang="en-US" sz="2000" dirty="0"/>
          </a:p>
        </p:txBody>
      </p:sp>
      <p:sp>
        <p:nvSpPr>
          <p:cNvPr id="16" name="Shape 14"/>
          <p:cNvSpPr/>
          <p:nvPr/>
        </p:nvSpPr>
        <p:spPr>
          <a:xfrm>
            <a:off x="6812280" y="2587752"/>
            <a:ext cx="1234440" cy="0"/>
          </a:xfrm>
          <a:prstGeom prst="line">
            <a:avLst/>
          </a:prstGeom>
          <a:noFill/>
          <a:ln w="38100">
            <a:solidFill>
              <a:srgbClr val="2E9599"/>
            </a:solidFill>
            <a:prstDash val="solid"/>
          </a:ln>
        </p:spPr>
        <p:txBody>
          <a:bodyPr/>
          <a:lstStyle/>
          <a:p>
            <a:endParaRPr lang="en-US" sz="2400"/>
          </a:p>
        </p:txBody>
      </p:sp>
      <p:sp>
        <p:nvSpPr>
          <p:cNvPr id="17" name="Shape 15"/>
          <p:cNvSpPr/>
          <p:nvPr/>
        </p:nvSpPr>
        <p:spPr>
          <a:xfrm>
            <a:off x="6812280" y="3959352"/>
            <a:ext cx="1234440" cy="0"/>
          </a:xfrm>
          <a:prstGeom prst="line">
            <a:avLst/>
          </a:prstGeom>
          <a:noFill/>
          <a:ln w="38100">
            <a:solidFill>
              <a:srgbClr val="2E9599"/>
            </a:solidFill>
            <a:prstDash val="solid"/>
          </a:ln>
        </p:spPr>
        <p:txBody>
          <a:bodyPr/>
          <a:lstStyle/>
          <a:p>
            <a:endParaRPr lang="en-US" sz="2400"/>
          </a:p>
        </p:txBody>
      </p:sp>
      <p:sp>
        <p:nvSpPr>
          <p:cNvPr id="18" name="Shape 16"/>
          <p:cNvSpPr/>
          <p:nvPr/>
        </p:nvSpPr>
        <p:spPr>
          <a:xfrm>
            <a:off x="8046720" y="2587752"/>
            <a:ext cx="0" cy="1371600"/>
          </a:xfrm>
          <a:prstGeom prst="line">
            <a:avLst/>
          </a:prstGeom>
          <a:noFill/>
          <a:ln w="38100">
            <a:solidFill>
              <a:srgbClr val="2E9599"/>
            </a:solidFill>
            <a:prstDash val="solid"/>
          </a:ln>
        </p:spPr>
        <p:txBody>
          <a:bodyPr/>
          <a:lstStyle/>
          <a:p>
            <a:endParaRPr lang="en-US" sz="2400"/>
          </a:p>
        </p:txBody>
      </p:sp>
      <p:sp>
        <p:nvSpPr>
          <p:cNvPr id="19" name="Shape 17"/>
          <p:cNvSpPr/>
          <p:nvPr/>
        </p:nvSpPr>
        <p:spPr>
          <a:xfrm>
            <a:off x="8046720" y="3273552"/>
            <a:ext cx="502920" cy="0"/>
          </a:xfrm>
          <a:prstGeom prst="line">
            <a:avLst/>
          </a:prstGeom>
          <a:noFill/>
          <a:ln w="38100">
            <a:solidFill>
              <a:srgbClr val="2E9599"/>
            </a:solidFill>
            <a:prstDash val="solid"/>
            <a:tailEnd type="triangle"/>
          </a:ln>
        </p:spPr>
        <p:txBody>
          <a:bodyPr/>
          <a:lstStyle/>
          <a:p>
            <a:endParaRPr lang="en-US" sz="2400"/>
          </a:p>
        </p:txBody>
      </p:sp>
      <p:sp>
        <p:nvSpPr>
          <p:cNvPr id="20" name="Shape 18"/>
          <p:cNvSpPr/>
          <p:nvPr/>
        </p:nvSpPr>
        <p:spPr>
          <a:xfrm>
            <a:off x="8503919" y="2816352"/>
            <a:ext cx="3090671" cy="914400"/>
          </a:xfrm>
          <a:prstGeom prst="roundRect">
            <a:avLst>
              <a:gd name="adj" fmla="val 8000"/>
            </a:avLst>
          </a:prstGeom>
          <a:solidFill>
            <a:srgbClr val="12262B"/>
          </a:solidFill>
          <a:ln/>
          <a:effectLst>
            <a:outerShdw blurRad="76200" dist="25400" dir="5400000" algn="bl" rotWithShape="0">
              <a:srgbClr val="9AAEB0">
                <a:alpha val="28000"/>
              </a:srgbClr>
            </a:outerShdw>
          </a:effectLst>
        </p:spPr>
        <p:txBody>
          <a:bodyPr/>
          <a:lstStyle/>
          <a:p>
            <a:endParaRPr lang="en-US" sz="2400"/>
          </a:p>
        </p:txBody>
      </p:sp>
      <p:sp>
        <p:nvSpPr>
          <p:cNvPr id="21" name="Text 19"/>
          <p:cNvSpPr/>
          <p:nvPr/>
        </p:nvSpPr>
        <p:spPr>
          <a:xfrm>
            <a:off x="8503919" y="2816352"/>
            <a:ext cx="3139129" cy="914400"/>
          </a:xfrm>
          <a:prstGeom prst="rect">
            <a:avLst/>
          </a:prstGeom>
          <a:noFill/>
          <a:ln/>
        </p:spPr>
        <p:txBody>
          <a:bodyPr wrap="square" lIns="0" tIns="0" rIns="0" bIns="0" rtlCol="0" anchor="ctr"/>
          <a:lstStyle/>
          <a:p>
            <a:pPr marL="0" indent="0" algn="ctr">
              <a:lnSpc>
                <a:spcPts val="1400"/>
              </a:lnSpc>
              <a:spcAft>
                <a:spcPts val="200"/>
              </a:spcAft>
              <a:buNone/>
            </a:pPr>
            <a:r>
              <a:rPr lang="en-US" b="1" dirty="0">
                <a:solidFill>
                  <a:srgbClr val="FFFFFF"/>
                </a:solidFill>
                <a:ea typeface="Calibri" pitchFamily="34" charset="-122"/>
                <a:cs typeface="Calibri" pitchFamily="34" charset="-120"/>
              </a:rPr>
              <a:t>RQ = PEC / PNEC</a:t>
            </a:r>
            <a:endParaRPr lang="en-US" dirty="0"/>
          </a:p>
          <a:p>
            <a:pPr marL="0" indent="0" algn="ctr">
              <a:lnSpc>
                <a:spcPts val="1400"/>
              </a:lnSpc>
              <a:buNone/>
            </a:pPr>
            <a:r>
              <a:rPr lang="en-US" sz="1400" dirty="0">
                <a:solidFill>
                  <a:srgbClr val="8FC9C6"/>
                </a:solidFill>
                <a:ea typeface="Calibri" pitchFamily="34" charset="-122"/>
                <a:cs typeface="Calibri" pitchFamily="34" charset="-120"/>
              </a:rPr>
              <a:t>RQ ≥ 1 flags priority compounds</a:t>
            </a:r>
            <a:endParaRPr lang="en-US" dirty="0"/>
          </a:p>
        </p:txBody>
      </p:sp>
      <p:sp>
        <p:nvSpPr>
          <p:cNvPr id="22" name="Text 20"/>
          <p:cNvSpPr/>
          <p:nvPr/>
        </p:nvSpPr>
        <p:spPr>
          <a:xfrm>
            <a:off x="548640" y="4686300"/>
            <a:ext cx="11094415" cy="457200"/>
          </a:xfrm>
          <a:prstGeom prst="rect">
            <a:avLst/>
          </a:prstGeom>
          <a:noFill/>
          <a:ln/>
        </p:spPr>
        <p:txBody>
          <a:bodyPr wrap="square" lIns="0" tIns="0" rIns="0" bIns="0" rtlCol="0" anchor="ctr"/>
          <a:lstStyle/>
          <a:p>
            <a:pPr marL="0" indent="0" algn="l">
              <a:lnSpc>
                <a:spcPts val="2200"/>
              </a:lnSpc>
              <a:buNone/>
            </a:pPr>
            <a:r>
              <a:rPr lang="en-US" sz="2400" dirty="0">
                <a:ea typeface="Calibri" pitchFamily="34" charset="-122"/>
                <a:cs typeface="Calibri" pitchFamily="34" charset="-120"/>
              </a:rPr>
              <a:t>Pharmacoepidemiology supplies consumption volumes and their geographic and temporal patterns.  Toxicology supplies the effect thresholds.</a:t>
            </a:r>
            <a:endParaRPr lang="en-US" sz="2400" dirty="0"/>
          </a:p>
        </p:txBody>
      </p:sp>
      <p:sp>
        <p:nvSpPr>
          <p:cNvPr id="23" name="Shape 21"/>
          <p:cNvSpPr/>
          <p:nvPr/>
        </p:nvSpPr>
        <p:spPr>
          <a:xfrm>
            <a:off x="548640" y="5440680"/>
            <a:ext cx="11094415" cy="658368"/>
          </a:xfrm>
          <a:prstGeom prst="roundRect">
            <a:avLst>
              <a:gd name="adj" fmla="val 9722"/>
            </a:avLst>
          </a:prstGeom>
          <a:solidFill>
            <a:srgbClr val="F4F8F7"/>
          </a:solidFill>
          <a:ln w="12700">
            <a:solidFill>
              <a:srgbClr val="D5E2E0"/>
            </a:solidFill>
            <a:prstDash val="solid"/>
          </a:ln>
        </p:spPr>
        <p:txBody>
          <a:bodyPr/>
          <a:lstStyle/>
          <a:p>
            <a:endParaRPr lang="en-US"/>
          </a:p>
        </p:txBody>
      </p:sp>
      <p:sp>
        <p:nvSpPr>
          <p:cNvPr id="24" name="Text 22"/>
          <p:cNvSpPr/>
          <p:nvPr/>
        </p:nvSpPr>
        <p:spPr>
          <a:xfrm>
            <a:off x="777240" y="5440680"/>
            <a:ext cx="10637215" cy="758952"/>
          </a:xfrm>
          <a:prstGeom prst="rect">
            <a:avLst/>
          </a:prstGeom>
          <a:noFill/>
          <a:ln/>
        </p:spPr>
        <p:txBody>
          <a:bodyPr wrap="square" lIns="0" tIns="0" rIns="0" bIns="0" rtlCol="0" anchor="ctr"/>
          <a:lstStyle/>
          <a:p>
            <a:pPr marL="0" indent="0">
              <a:lnSpc>
                <a:spcPts val="1500"/>
              </a:lnSpc>
              <a:buNone/>
            </a:pPr>
            <a:r>
              <a:rPr lang="en-US" sz="2000" b="1" dirty="0">
                <a:ea typeface="Calibri" pitchFamily="34" charset="-122"/>
                <a:cs typeface="Calibri" pitchFamily="34" charset="-120"/>
              </a:rPr>
              <a:t>Complementary measurement:  </a:t>
            </a:r>
            <a:r>
              <a:rPr lang="en-US" sz="2000" dirty="0">
                <a:ea typeface="Calibri" pitchFamily="34" charset="-122"/>
                <a:cs typeface="Calibri" pitchFamily="34" charset="-120"/>
              </a:rPr>
              <a:t>wastewater-based epidemiology back-estimates consumption and environmental load from measured wastewater concentrations.</a:t>
            </a:r>
            <a:endParaRPr lang="en-US" sz="2000" dirty="0"/>
          </a:p>
        </p:txBody>
      </p:sp>
      <p:sp>
        <p:nvSpPr>
          <p:cNvPr id="26" name="Text 24"/>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ED2CB-8F5D-ECFF-A92B-C5E7324C8DBE}"/>
              </a:ext>
            </a:extLst>
          </p:cNvPr>
          <p:cNvSpPr>
            <a:spLocks noGrp="1"/>
          </p:cNvSpPr>
          <p:nvPr>
            <p:ph type="title"/>
          </p:nvPr>
        </p:nvSpPr>
        <p:spPr>
          <a:xfrm>
            <a:off x="539496" y="549187"/>
            <a:ext cx="11113008" cy="480959"/>
          </a:xfrm>
        </p:spPr>
        <p:txBody>
          <a:bodyPr>
            <a:noAutofit/>
          </a:bodyPr>
          <a:lstStyle/>
          <a:p>
            <a:r>
              <a:rPr lang="en-US" sz="3200" b="1" dirty="0">
                <a:latin typeface="Calibri" panose="020F0502020204030204" pitchFamily="34" charset="0"/>
                <a:cs typeface="Calibri" panose="020F0502020204030204" pitchFamily="34" charset="0"/>
              </a:rPr>
              <a:t>2. Cons</a:t>
            </a:r>
            <a:r>
              <a:rPr lang="en-US" sz="3200" b="1" dirty="0">
                <a:latin typeface="Calibri" panose="020F0502020204030204" pitchFamily="34" charset="0"/>
                <a:ea typeface="Cambria" pitchFamily="34" charset="-122"/>
                <a:cs typeface="Calibri" panose="020F0502020204030204" pitchFamily="34" charset="0"/>
              </a:rPr>
              <a:t>umption-based environmental risk assessment</a:t>
            </a:r>
            <a:endParaRPr lang="en-US" sz="32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E22808-7E14-0E4A-C18D-84792149D4B6}"/>
                  </a:ext>
                </a:extLst>
              </p:cNvPr>
              <p:cNvSpPr>
                <a:spLocks noGrp="1"/>
              </p:cNvSpPr>
              <p:nvPr>
                <p:ph idx="1"/>
              </p:nvPr>
            </p:nvSpPr>
            <p:spPr>
              <a:xfrm>
                <a:off x="539496" y="1169043"/>
                <a:ext cx="11013670" cy="5398013"/>
              </a:xfrm>
            </p:spPr>
            <p:txBody>
              <a:bodyPr>
                <a:normAutofit lnSpcReduction="10000"/>
              </a:bodyPr>
              <a:lstStyle/>
              <a:p>
                <a:r>
                  <a:rPr lang="en-US" sz="2400" b="1" dirty="0">
                    <a:latin typeface="Calibri" panose="020F0502020204030204" pitchFamily="34" charset="0"/>
                    <a:cs typeface="Calibri" panose="020F0502020204030204" pitchFamily="34" charset="0"/>
                  </a:rPr>
                  <a:t>The research question </a:t>
                </a:r>
                <a:r>
                  <a:rPr lang="en-US" sz="2400" dirty="0">
                    <a:latin typeface="Calibri" panose="020F0502020204030204" pitchFamily="34" charset="0"/>
                    <a:cs typeface="Calibri" panose="020F0502020204030204" pitchFamily="34" charset="0"/>
                  </a:rPr>
                  <a:t>which pharmaceuticals, based on how much of each drug a population actually uses, pose the greatest risk to the aquatic environment—and can large-scale drug utilization data substitute for costly environmental sampling to identify and prioritize those substances? Examples (see Table) ask the same underlying question: can consumption/dispensing data reliably predict environmental risk and rank drugs of concern</a:t>
                </a:r>
                <a:endParaRPr lang="en-US" sz="2400" b="1" dirty="0">
                  <a:latin typeface="Calibri" panose="020F0502020204030204" pitchFamily="34" charset="0"/>
                  <a:cs typeface="Calibri" panose="020F0502020204030204" pitchFamily="34" charset="0"/>
                </a:endParaRPr>
              </a:p>
              <a:p>
                <a:pPr lvl="0"/>
                <a:r>
                  <a:rPr lang="en-US" sz="2400" b="1" dirty="0">
                    <a:latin typeface="Calibri" panose="020F0502020204030204" pitchFamily="34" charset="0"/>
                    <a:cs typeface="Calibri" panose="020F0502020204030204" pitchFamily="34" charset="0"/>
                  </a:rPr>
                  <a:t>Method</a:t>
                </a:r>
              </a:p>
              <a:p>
                <a:pPr lvl="0"/>
                <a:r>
                  <a:rPr lang="en-US" sz="2400" b="1" dirty="0">
                    <a:latin typeface="Calibri" panose="020F0502020204030204" pitchFamily="34" charset="0"/>
                    <a:cs typeface="Calibri" panose="020F0502020204030204" pitchFamily="34" charset="0"/>
                  </a:rPr>
                  <a:t>1. Quantify drug mass used.</a:t>
                </a:r>
                <a:r>
                  <a:rPr lang="en-US" sz="2400" dirty="0">
                    <a:latin typeface="Calibri" panose="020F0502020204030204" pitchFamily="34" charset="0"/>
                    <a:cs typeface="Calibri" panose="020F0502020204030204" pitchFamily="34" charset="0"/>
                  </a:rPr>
                  <a:t> Aggregate utilization data (dispensing/claims, wholesale/sales, or national consumption statistics) are converted to total kilograms of active pharmaceutical ingredient consumed per population per year. [1-2][4]</a:t>
                </a:r>
              </a:p>
              <a:p>
                <a:pPr lvl="0"/>
                <a:r>
                  <a:rPr lang="en-US" sz="2400" b="1" dirty="0">
                    <a:latin typeface="Calibri" panose="020F0502020204030204" pitchFamily="34" charset="0"/>
                    <a:cs typeface="Calibri" panose="020F0502020204030204" pitchFamily="34" charset="0"/>
                  </a:rPr>
                  <a:t>2. Estimate the environmental concentration (PEC).</a:t>
                </a:r>
                <a:r>
                  <a:rPr lang="en-US" sz="2400" dirty="0">
                    <a:latin typeface="Calibri" panose="020F0502020204030204" pitchFamily="34" charset="0"/>
                    <a:cs typeface="Calibri" panose="020F0502020204030204" pitchFamily="34" charset="0"/>
                  </a:rPr>
                  <a:t> The consumed mass is multiplied by a fraction excreted unchanged (from literature), reduced by wastewater-treatment removal efficiency, then divided by wastewater volume and a dilution factor to yield a predicted concentration in effluent or receiving surface water. [1-2][4]</a:t>
                </a:r>
              </a:p>
              <a:p>
                <a:pPr lvl="0"/>
                <a:endParaRPr lang="en-US" sz="2400" dirty="0">
                  <a:latin typeface="Calibri" panose="020F0502020204030204" pitchFamily="34" charset="0"/>
                  <a:cs typeface="Calibri" panose="020F0502020204030204" pitchFamily="34" charset="0"/>
                </a:endParaRPr>
              </a:p>
              <a:p>
                <a:pPr/>
                <a14:m>
                  <m:oMathPara xmlns:m="http://schemas.openxmlformats.org/officeDocument/2006/math">
                    <m:oMath>
                      <m:r>
                        <a:rPr lang="en-US" sz="2400" i="1">
                          <a:latin typeface="Cambria Math" panose="02040503050406030204" pitchFamily="18" charset="0"/>
                        </a:rPr>
                        <m:t>𝑃𝐸𝐶</m:t>
                      </m:r>
                      <m:r>
                        <a:rPr lang="en-US" sz="2400">
                          <a:latin typeface="Cambria Math" panose="02040503050406030204" pitchFamily="18" charset="0"/>
                        </a:rPr>
                        <m:t>=</m:t>
                      </m:r>
                      <m:f>
                        <m:fPr>
                          <m:ctrlPr>
                            <a:rPr lang="en-US" sz="2400" i="0">
                              <a:latin typeface="Calibri" panose="020F0502020204030204" pitchFamily="34" charset="0"/>
                              <a:cs typeface="Calibri" panose="020F0502020204030204" pitchFamily="34" charset="0"/>
                            </a:rPr>
                          </m:ctrlPr>
                        </m:fPr>
                        <m:num>
                          <m:r>
                            <m:rPr>
                              <m:nor/>
                            </m:rPr>
                            <a:rPr lang="en-US" sz="2400" i="0">
                              <a:latin typeface="Calibri" panose="020F0502020204030204" pitchFamily="34" charset="0"/>
                              <a:cs typeface="Calibri" panose="020F0502020204030204" pitchFamily="34" charset="0"/>
                            </a:rPr>
                            <m:t>Mass consumed</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𝑒𝑥𝑐𝑟𝑒𝑡𝑖𝑜𝑛</m:t>
                              </m:r>
                            </m:sub>
                          </m:sSub>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𝑟𝑒𝑚𝑜𝑣𝑎𝑙</m:t>
                                  </m:r>
                                </m:sub>
                              </m:sSub>
                            </m:e>
                          </m:d>
                        </m:num>
                        <m:den>
                          <m:r>
                            <m:rPr>
                              <m:nor/>
                            </m:rPr>
                            <a:rPr lang="en-US" sz="2400" i="0">
                              <a:latin typeface="Calibri" panose="020F0502020204030204" pitchFamily="34" charset="0"/>
                              <a:cs typeface="Calibri" panose="020F0502020204030204" pitchFamily="34" charset="0"/>
                            </a:rPr>
                            <m:t>Wastewater volume</m:t>
                          </m:r>
                          <m:r>
                            <a:rPr lang="en-US" sz="2400">
                              <a:latin typeface="Cambria Math" panose="02040503050406030204" pitchFamily="18" charset="0"/>
                            </a:rPr>
                            <m:t>×</m:t>
                          </m:r>
                          <m:r>
                            <m:rPr>
                              <m:nor/>
                            </m:rPr>
                            <a:rPr lang="en-US" sz="2400" i="0">
                              <a:latin typeface="Calibri" panose="020F0502020204030204" pitchFamily="34" charset="0"/>
                              <a:cs typeface="Calibri" panose="020F0502020204030204" pitchFamily="34" charset="0"/>
                            </a:rPr>
                            <m:t>Dilution</m:t>
                          </m:r>
                        </m:den>
                      </m:f>
                    </m:oMath>
                  </m:oMathPara>
                </a14:m>
                <a:endParaRPr lang="en-US" sz="2400" b="0"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AE22808-7E14-0E4A-C18D-84792149D4B6}"/>
                  </a:ext>
                </a:extLst>
              </p:cNvPr>
              <p:cNvSpPr>
                <a:spLocks noGrp="1" noRot="1" noChangeAspect="1" noMove="1" noResize="1" noEditPoints="1" noAdjustHandles="1" noChangeArrowheads="1" noChangeShapeType="1" noTextEdit="1"/>
              </p:cNvSpPr>
              <p:nvPr>
                <p:ph idx="1"/>
              </p:nvPr>
            </p:nvSpPr>
            <p:spPr>
              <a:xfrm>
                <a:off x="539496" y="1169043"/>
                <a:ext cx="11013670" cy="5398013"/>
              </a:xfrm>
              <a:blipFill>
                <a:blip r:embed="rId3"/>
                <a:stretch>
                  <a:fillRect l="-806" t="-2588" r="-922"/>
                </a:stretch>
              </a:blipFill>
            </p:spPr>
            <p:txBody>
              <a:bodyPr/>
              <a:lstStyle/>
              <a:p>
                <a:r>
                  <a:rPr lang="en-US">
                    <a:noFill/>
                  </a:rPr>
                  <a:t> </a:t>
                </a:r>
              </a:p>
            </p:txBody>
          </p:sp>
        </mc:Fallback>
      </mc:AlternateContent>
    </p:spTree>
    <p:extLst>
      <p:ext uri="{BB962C8B-B14F-4D97-AF65-F5344CB8AC3E}">
        <p14:creationId xmlns:p14="http://schemas.microsoft.com/office/powerpoint/2010/main" val="975573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marL="0" indent="0" algn="l">
              <a:lnSpc>
                <a:spcPts val="3000"/>
              </a:lnSpc>
              <a:buNone/>
            </a:pPr>
            <a:r>
              <a:rPr lang="en-US" sz="3600" b="1" dirty="0">
                <a:latin typeface="Calibri" pitchFamily="34" charset="0"/>
                <a:ea typeface="Calibri" pitchFamily="34" charset="-122"/>
                <a:cs typeface="Calibri" pitchFamily="34" charset="-120"/>
              </a:rPr>
              <a:t>The PEC equation and its key inputs</a:t>
            </a:r>
            <a:endParaRPr lang="en-US" sz="3600" dirty="0"/>
          </a:p>
        </p:txBody>
      </p:sp>
      <p:sp>
        <p:nvSpPr>
          <p:cNvPr id="7" name="Shape 5"/>
          <p:cNvSpPr/>
          <p:nvPr/>
        </p:nvSpPr>
        <p:spPr>
          <a:xfrm>
            <a:off x="640080" y="1783080"/>
            <a:ext cx="5212080" cy="1965960"/>
          </a:xfrm>
          <a:prstGeom prst="roundRect">
            <a:avLst>
              <a:gd name="adj" fmla="val 4651"/>
            </a:avLst>
          </a:prstGeom>
          <a:solidFill>
            <a:schemeClr val="tx2">
              <a:lumMod val="10000"/>
              <a:lumOff val="9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000" dirty="0"/>
          </a:p>
        </p:txBody>
      </p:sp>
      <p:sp>
        <p:nvSpPr>
          <p:cNvPr id="8" name="Text 6"/>
          <p:cNvSpPr/>
          <p:nvPr/>
        </p:nvSpPr>
        <p:spPr>
          <a:xfrm>
            <a:off x="914400" y="1965960"/>
            <a:ext cx="4663440" cy="274320"/>
          </a:xfrm>
          <a:prstGeom prst="rect">
            <a:avLst/>
          </a:prstGeom>
          <a:noFill/>
          <a:ln/>
        </p:spPr>
        <p:txBody>
          <a:bodyPr wrap="square" lIns="0" tIns="0" rIns="0" bIns="0" rtlCol="0" anchor="ctr"/>
          <a:lstStyle/>
          <a:p>
            <a:pPr marL="0" indent="0">
              <a:buNone/>
            </a:pPr>
            <a:r>
              <a:rPr lang="en-US" sz="1400" b="1" kern="0" spc="100" dirty="0">
                <a:solidFill>
                  <a:srgbClr val="462250"/>
                </a:solidFill>
                <a:latin typeface="Calibri" pitchFamily="34" charset="0"/>
                <a:ea typeface="Calibri" pitchFamily="34" charset="-122"/>
                <a:cs typeface="Calibri" pitchFamily="34" charset="-120"/>
              </a:rPr>
              <a:t>REFINED (PHASE II) SURFACE-WATER PEC</a:t>
            </a:r>
            <a:endParaRPr lang="en-US" sz="1400" dirty="0"/>
          </a:p>
        </p:txBody>
      </p:sp>
      <p:sp>
        <p:nvSpPr>
          <p:cNvPr id="9" name="Text 7"/>
          <p:cNvSpPr/>
          <p:nvPr/>
        </p:nvSpPr>
        <p:spPr>
          <a:xfrm>
            <a:off x="914400" y="2377440"/>
            <a:ext cx="4663440" cy="457200"/>
          </a:xfrm>
          <a:prstGeom prst="rect">
            <a:avLst/>
          </a:prstGeom>
          <a:noFill/>
          <a:ln/>
        </p:spPr>
        <p:txBody>
          <a:bodyPr wrap="square" lIns="0" tIns="0" rIns="0" bIns="0" rtlCol="0" anchor="ctr"/>
          <a:lstStyle/>
          <a:p>
            <a:pPr marL="0" indent="0" algn="ctr">
              <a:buNone/>
            </a:pPr>
            <a:r>
              <a:rPr lang="en-US" sz="2400" b="1" dirty="0">
                <a:solidFill>
                  <a:srgbClr val="2C2233"/>
                </a:solidFill>
                <a:latin typeface="Calibri" pitchFamily="34" charset="0"/>
                <a:ea typeface="Calibri" pitchFamily="34" charset="-122"/>
                <a:cs typeface="Calibri" pitchFamily="34" charset="-120"/>
              </a:rPr>
              <a:t>A · F_exc · (1 − R)</a:t>
            </a:r>
            <a:endParaRPr lang="en-US" sz="2400" dirty="0"/>
          </a:p>
        </p:txBody>
      </p:sp>
      <p:sp>
        <p:nvSpPr>
          <p:cNvPr id="10" name="Shape 8"/>
          <p:cNvSpPr/>
          <p:nvPr/>
        </p:nvSpPr>
        <p:spPr>
          <a:xfrm>
            <a:off x="1645920" y="2907792"/>
            <a:ext cx="3200400" cy="0"/>
          </a:xfrm>
          <a:prstGeom prst="line">
            <a:avLst/>
          </a:prstGeom>
          <a:noFill/>
          <a:ln w="25400">
            <a:solidFill>
              <a:srgbClr val="462250"/>
            </a:solidFill>
            <a:prstDash val="solid"/>
          </a:ln>
        </p:spPr>
        <p:txBody>
          <a:bodyPr/>
          <a:lstStyle/>
          <a:p>
            <a:endParaRPr lang="en-US"/>
          </a:p>
        </p:txBody>
      </p:sp>
      <p:sp>
        <p:nvSpPr>
          <p:cNvPr id="11" name="Text 9"/>
          <p:cNvSpPr/>
          <p:nvPr/>
        </p:nvSpPr>
        <p:spPr>
          <a:xfrm>
            <a:off x="914400" y="2944368"/>
            <a:ext cx="4663440" cy="457200"/>
          </a:xfrm>
          <a:prstGeom prst="rect">
            <a:avLst/>
          </a:prstGeom>
          <a:noFill/>
          <a:ln/>
        </p:spPr>
        <p:txBody>
          <a:bodyPr wrap="square" lIns="0" tIns="0" rIns="0" bIns="0" rtlCol="0" anchor="ctr"/>
          <a:lstStyle/>
          <a:p>
            <a:pPr marL="0" indent="0" algn="ctr">
              <a:buNone/>
            </a:pPr>
            <a:r>
              <a:rPr lang="en-US" sz="2400" b="1" dirty="0">
                <a:solidFill>
                  <a:srgbClr val="2C2233"/>
                </a:solidFill>
                <a:latin typeface="Calibri" pitchFamily="34" charset="0"/>
                <a:ea typeface="Calibri" pitchFamily="34" charset="-122"/>
                <a:cs typeface="Calibri" pitchFamily="34" charset="-120"/>
              </a:rPr>
              <a:t>V · P · D · 365</a:t>
            </a:r>
            <a:endParaRPr lang="en-US" sz="2400" dirty="0"/>
          </a:p>
        </p:txBody>
      </p:sp>
      <p:sp>
        <p:nvSpPr>
          <p:cNvPr id="12" name="Text 10"/>
          <p:cNvSpPr/>
          <p:nvPr/>
        </p:nvSpPr>
        <p:spPr>
          <a:xfrm>
            <a:off x="640080" y="3886199"/>
            <a:ext cx="5212080" cy="1682491"/>
          </a:xfrm>
          <a:prstGeom prst="rect">
            <a:avLst/>
          </a:prstGeom>
          <a:noFill/>
          <a:ln/>
        </p:spPr>
        <p:txBody>
          <a:bodyPr wrap="square" lIns="0" tIns="0" rIns="0" bIns="0" rtlCol="0" anchor="ctr"/>
          <a:lstStyle/>
          <a:p>
            <a:pPr marL="0" indent="0">
              <a:lnSpc>
                <a:spcPts val="1800"/>
              </a:lnSpc>
              <a:buNone/>
            </a:pPr>
            <a:r>
              <a:rPr lang="en-US" sz="2400" i="1" dirty="0">
                <a:solidFill>
                  <a:srgbClr val="6E6672"/>
                </a:solidFill>
                <a:latin typeface="Calibri" pitchFamily="34" charset="0"/>
                <a:ea typeface="Calibri" pitchFamily="34" charset="-122"/>
                <a:cs typeface="Calibri" pitchFamily="34" charset="-120"/>
              </a:rPr>
              <a:t>Phase I default PEC uses a fixed 1% penetration factor and worst-case removal, deliberately overestimating for most drugs.</a:t>
            </a:r>
            <a:endParaRPr lang="en-US" sz="2400" dirty="0"/>
          </a:p>
        </p:txBody>
      </p:sp>
      <p:sp>
        <p:nvSpPr>
          <p:cNvPr id="13" name="Text 11"/>
          <p:cNvSpPr/>
          <p:nvPr/>
        </p:nvSpPr>
        <p:spPr>
          <a:xfrm>
            <a:off x="6172200" y="1737360"/>
            <a:ext cx="5379415" cy="274320"/>
          </a:xfrm>
          <a:prstGeom prst="rect">
            <a:avLst/>
          </a:prstGeom>
          <a:noFill/>
          <a:ln/>
        </p:spPr>
        <p:txBody>
          <a:bodyPr wrap="square" lIns="0" tIns="0" rIns="0" bIns="0" rtlCol="0" anchor="ctr"/>
          <a:lstStyle/>
          <a:p>
            <a:pPr marL="0" indent="0">
              <a:buNone/>
            </a:pPr>
            <a:r>
              <a:rPr lang="en-US" sz="1300" b="1" kern="0" spc="150" dirty="0">
                <a:solidFill>
                  <a:srgbClr val="C9711F"/>
                </a:solidFill>
                <a:latin typeface="Calibri" pitchFamily="34" charset="0"/>
                <a:ea typeface="Calibri" pitchFamily="34" charset="-122"/>
                <a:cs typeface="Calibri" pitchFamily="34" charset="-120"/>
              </a:rPr>
              <a:t>THE FOUR REFINED INPUTS</a:t>
            </a:r>
            <a:endParaRPr lang="en-US" sz="1300" dirty="0"/>
          </a:p>
        </p:txBody>
      </p:sp>
      <p:sp>
        <p:nvSpPr>
          <p:cNvPr id="14" name="Text 12"/>
          <p:cNvSpPr/>
          <p:nvPr/>
        </p:nvSpPr>
        <p:spPr>
          <a:xfrm>
            <a:off x="6172200" y="2103120"/>
            <a:ext cx="5379415" cy="4023360"/>
          </a:xfrm>
          <a:prstGeom prst="rect">
            <a:avLst/>
          </a:prstGeom>
          <a:noFill/>
          <a:ln/>
        </p:spPr>
        <p:txBody>
          <a:bodyPr wrap="square" lIns="0" tIns="0" rIns="0" bIns="0" rtlCol="0" anchor="t"/>
          <a:lstStyle/>
          <a:p>
            <a:pPr marL="203200" indent="-203200">
              <a:lnSpc>
                <a:spcPts val="2100"/>
              </a:lnSpc>
              <a:spcAft>
                <a:spcPts val="1400"/>
              </a:spcAft>
              <a:buSzPct val="100000"/>
              <a:buChar char="•"/>
            </a:pPr>
            <a:r>
              <a:rPr lang="en-US" sz="2000" dirty="0">
                <a:solidFill>
                  <a:srgbClr val="2C2233"/>
                </a:solidFill>
                <a:latin typeface="Calibri" pitchFamily="34" charset="0"/>
                <a:ea typeface="Calibri" pitchFamily="34" charset="-122"/>
                <a:cs typeface="Calibri" pitchFamily="34" charset="-120"/>
              </a:rPr>
              <a:t>A  Consumption: annual mass of active ingredient from </a:t>
            </a:r>
            <a:r>
              <a:rPr lang="en-US" sz="2000" b="1" u="sng" dirty="0">
                <a:solidFill>
                  <a:srgbClr val="2C2233"/>
                </a:solidFill>
                <a:latin typeface="Calibri" pitchFamily="34" charset="0"/>
                <a:ea typeface="Calibri" pitchFamily="34" charset="-122"/>
                <a:cs typeface="Calibri" pitchFamily="34" charset="-120"/>
              </a:rPr>
              <a:t>utilization data</a:t>
            </a:r>
            <a:r>
              <a:rPr lang="en-US" sz="2000" dirty="0">
                <a:solidFill>
                  <a:srgbClr val="2C2233"/>
                </a:solidFill>
                <a:latin typeface="Calibri" pitchFamily="34" charset="0"/>
                <a:ea typeface="Calibri" pitchFamily="34" charset="-122"/>
                <a:cs typeface="Calibri" pitchFamily="34" charset="-120"/>
              </a:rPr>
              <a:t>. The most influential parameter.</a:t>
            </a:r>
            <a:endParaRPr lang="en-US" sz="2000" dirty="0"/>
          </a:p>
          <a:p>
            <a:pPr marL="203200" indent="-203200">
              <a:lnSpc>
                <a:spcPts val="2100"/>
              </a:lnSpc>
              <a:spcAft>
                <a:spcPts val="1400"/>
              </a:spcAft>
              <a:buSzPct val="100000"/>
              <a:buChar char="•"/>
            </a:pPr>
            <a:r>
              <a:rPr lang="en-US" sz="2000" dirty="0">
                <a:solidFill>
                  <a:srgbClr val="2C2233"/>
                </a:solidFill>
                <a:latin typeface="Calibri" pitchFamily="34" charset="0"/>
                <a:ea typeface="Calibri" pitchFamily="34" charset="-122"/>
                <a:cs typeface="Calibri" pitchFamily="34" charset="-120"/>
              </a:rPr>
              <a:t>F_exc  Excretion: fraction excreted unchanged; metabolite deconjugation can raise the effective load.</a:t>
            </a:r>
            <a:endParaRPr lang="en-US" sz="2000" dirty="0"/>
          </a:p>
          <a:p>
            <a:pPr marL="203200" indent="-203200">
              <a:lnSpc>
                <a:spcPts val="2100"/>
              </a:lnSpc>
              <a:spcAft>
                <a:spcPts val="1400"/>
              </a:spcAft>
              <a:buSzPct val="100000"/>
              <a:buChar char="•"/>
            </a:pPr>
            <a:r>
              <a:rPr lang="en-US" sz="2000" dirty="0">
                <a:solidFill>
                  <a:srgbClr val="2C2233"/>
                </a:solidFill>
                <a:latin typeface="Calibri" pitchFamily="34" charset="0"/>
                <a:ea typeface="Calibri" pitchFamily="34" charset="-122"/>
                <a:cs typeface="Calibri" pitchFamily="34" charset="-120"/>
              </a:rPr>
              <a:t>R  Removal: fraction eliminated in wastewater treatment; compound-specific, near 0% to over 90%.</a:t>
            </a:r>
            <a:endParaRPr lang="en-US" sz="2000" dirty="0"/>
          </a:p>
          <a:p>
            <a:pPr marL="203200" indent="-203200">
              <a:lnSpc>
                <a:spcPts val="2100"/>
              </a:lnSpc>
              <a:spcAft>
                <a:spcPts val="1400"/>
              </a:spcAft>
              <a:buSzPct val="100000"/>
              <a:buChar char="•"/>
            </a:pPr>
            <a:r>
              <a:rPr lang="en-US" sz="2000" dirty="0">
                <a:solidFill>
                  <a:srgbClr val="2C2233"/>
                </a:solidFill>
                <a:latin typeface="Calibri" pitchFamily="34" charset="0"/>
                <a:ea typeface="Calibri" pitchFamily="34" charset="-122"/>
                <a:cs typeface="Calibri" pitchFamily="34" charset="-120"/>
              </a:rPr>
              <a:t>V · P · D  Dilution: per-capita volume, population served, and river dilution; spatially explicit, not a fixed factor of 10.</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0C9A-181C-9D7F-95DB-5D0B45DEE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016C3-7C59-7542-14E8-CCD17E2ACD92}"/>
              </a:ext>
            </a:extLst>
          </p:cNvPr>
          <p:cNvSpPr>
            <a:spLocks noGrp="1"/>
          </p:cNvSpPr>
          <p:nvPr>
            <p:ph type="title"/>
          </p:nvPr>
        </p:nvSpPr>
        <p:spPr>
          <a:xfrm>
            <a:off x="539496" y="549187"/>
            <a:ext cx="11113008" cy="480959"/>
          </a:xfrm>
        </p:spPr>
        <p:txBody>
          <a:bodyPr>
            <a:noAutofit/>
          </a:bodyPr>
          <a:lstStyle/>
          <a:p>
            <a:r>
              <a:rPr lang="en-US" sz="3200" b="1" dirty="0">
                <a:latin typeface="Calibri" panose="020F0502020204030204" pitchFamily="34" charset="0"/>
                <a:cs typeface="Calibri" panose="020F0502020204030204" pitchFamily="34" charset="0"/>
              </a:rPr>
              <a:t>2. Consumption-driven PEC/PNEC approach</a:t>
            </a:r>
            <a:endParaRPr lang="en-US" sz="320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3709AF-F64C-9F7E-2562-B769F527B2C4}"/>
                  </a:ext>
                </a:extLst>
              </p:cNvPr>
              <p:cNvSpPr>
                <a:spLocks noGrp="1"/>
              </p:cNvSpPr>
              <p:nvPr>
                <p:ph idx="1"/>
              </p:nvPr>
            </p:nvSpPr>
            <p:spPr>
              <a:xfrm>
                <a:off x="539496" y="1169043"/>
                <a:ext cx="11013670" cy="5398013"/>
              </a:xfrm>
            </p:spPr>
            <p:txBody>
              <a:bodyPr>
                <a:normAutofit/>
              </a:bodyPr>
              <a:lstStyle/>
              <a:p>
                <a:pPr lvl="0"/>
                <a:r>
                  <a:rPr lang="en-US" sz="2400" b="1" dirty="0">
                    <a:latin typeface="Calibri" panose="020F0502020204030204" pitchFamily="34" charset="0"/>
                    <a:cs typeface="Calibri" panose="020F0502020204030204" pitchFamily="34" charset="0"/>
                  </a:rPr>
                  <a:t>3. Define the safe threshold (PNEC).</a:t>
                </a:r>
                <a:r>
                  <a:rPr lang="en-US" sz="2400" dirty="0">
                    <a:latin typeface="Calibri" panose="020F0502020204030204" pitchFamily="34" charset="0"/>
                    <a:cs typeface="Calibri" panose="020F0502020204030204" pitchFamily="34" charset="0"/>
                  </a:rPr>
                  <a:t> A predicted no-effect concentration is drawn from ecotoxicity data—experimental endpoints, external watch-lists (e.g., Region Stockholm), QSAR/ECOSAR predictions, or MIC-based cutoffs for antibiotics. [1-2][4]</a:t>
                </a:r>
              </a:p>
              <a:p>
                <a:pPr lvl="0"/>
                <a:r>
                  <a:rPr lang="en-US" sz="2400" b="1" dirty="0">
                    <a:latin typeface="Calibri" panose="020F0502020204030204" pitchFamily="34" charset="0"/>
                    <a:cs typeface="Calibri" panose="020F0502020204030204" pitchFamily="34" charset="0"/>
                  </a:rPr>
                  <a:t>4. Compute and rank the risk quotient.</a:t>
                </a:r>
                <a:r>
                  <a:rPr lang="en-US" sz="2400" dirty="0">
                    <a:latin typeface="Calibri" panose="020F0502020204030204" pitchFamily="34" charset="0"/>
                    <a:cs typeface="Calibri" panose="020F0502020204030204" pitchFamily="34" charset="0"/>
                  </a:rPr>
                  <a:t> </a:t>
                </a:r>
                <a14:m>
                  <m:oMath xmlns:m="http://schemas.openxmlformats.org/officeDocument/2006/math">
                    <m:r>
                      <a:rPr lang="en-US" sz="2400" i="1">
                        <a:latin typeface="Cambria Math" panose="02040503050406030204" pitchFamily="18" charset="0"/>
                      </a:rPr>
                      <m:t>𝑅𝑄</m:t>
                    </m:r>
                    <m:r>
                      <a:rPr lang="en-US" sz="2400">
                        <a:latin typeface="Cambria Math" panose="02040503050406030204" pitchFamily="18" charset="0"/>
                      </a:rPr>
                      <m:t>=</m:t>
                    </m:r>
                    <m:r>
                      <a:rPr lang="en-US" sz="2400" i="1">
                        <a:latin typeface="Cambria Math" panose="02040503050406030204" pitchFamily="18" charset="0"/>
                      </a:rPr>
                      <m:t>𝑃𝐸𝐶</m:t>
                    </m:r>
                    <m:r>
                      <a:rPr lang="en-US" sz="2400">
                        <a:latin typeface="Cambria Math" panose="02040503050406030204" pitchFamily="18" charset="0"/>
                      </a:rPr>
                      <m:t>/</m:t>
                    </m:r>
                    <m:r>
                      <a:rPr lang="en-US" sz="2400" i="1">
                        <a:latin typeface="Cambria Math" panose="02040503050406030204" pitchFamily="18" charset="0"/>
                      </a:rPr>
                      <m:t>𝑃𝑁𝐸𝐶</m:t>
                    </m:r>
                  </m:oMath>
                </a14:m>
                <a:r>
                  <a:rPr lang="en-US" sz="2400" dirty="0">
                    <a:latin typeface="Calibri" panose="020F0502020204030204" pitchFamily="34" charset="0"/>
                    <a:cs typeface="Calibri" panose="020F0502020204030204" pitchFamily="34" charset="0"/>
                  </a:rPr>
                  <a:t>; an </a:t>
                </a:r>
                <a14:m>
                  <m:oMath xmlns:m="http://schemas.openxmlformats.org/officeDocument/2006/math">
                    <m:r>
                      <a:rPr lang="en-US" sz="2400" i="1">
                        <a:latin typeface="Cambria Math" panose="02040503050406030204" pitchFamily="18" charset="0"/>
                      </a:rPr>
                      <m:t>𝑅𝑄</m:t>
                    </m:r>
                    <m:r>
                      <a:rPr lang="en-US" sz="2400">
                        <a:latin typeface="Cambria Math" panose="02040503050406030204" pitchFamily="18" charset="0"/>
                      </a:rPr>
                      <m:t>≥1</m:t>
                    </m:r>
                  </m:oMath>
                </a14:m>
                <a:r>
                  <a:rPr lang="en-US" sz="2400" dirty="0">
                    <a:latin typeface="Calibri" panose="020F0502020204030204" pitchFamily="34" charset="0"/>
                    <a:cs typeface="Calibri" panose="020F0502020204030204" pitchFamily="34" charset="0"/>
                  </a:rPr>
                  <a:t> flags potential environmental risk, and drugs are ranked to prioritize the highest-risk substances. Several studies extend the base method with sensitivity analyses, spatial/seasonal variation (e.g., water-scarcity adjustment), persistence/bioaccumulation flags, or validation against measured concentrations. [1-5]</a:t>
                </a:r>
              </a:p>
              <a:p>
                <a:r>
                  <a:rPr lang="en-US" sz="2400" b="1" dirty="0">
                    <a:latin typeface="Calibri" panose="020F0502020204030204" pitchFamily="34" charset="0"/>
                    <a:cs typeface="Calibri" panose="020F0502020204030204" pitchFamily="34" charset="0"/>
                  </a:rPr>
                  <a:t>Key common assumptions and shared limitations.</a:t>
                </a:r>
                <a:r>
                  <a:rPr lang="en-US" sz="2400" dirty="0">
                    <a:latin typeface="Calibri" panose="020F0502020204030204" pitchFamily="34" charset="0"/>
                    <a:cs typeface="Calibri" panose="020F0502020204030204" pitchFamily="34" charset="0"/>
                  </a:rPr>
                  <a:t> All rely on literature-derived excretion fractions and generic WWTP removal rates rather than site-specific measurement; all treat utilization data as a proxy for the mass actually reaching wastewater, so all are limited by gaps in that data—chiefly over-the-counter, hospital, and (where not included) veterinary supply, plus the exclusion of metabolites and conjugate back-transformation. The Norway validation showed the approach tends to over-predict risk relative to measured concentrations, underscoring that these are conservative screening/prioritization tools, not exposure measurements. [2][4]</a:t>
                </a:r>
              </a:p>
              <a:p>
                <a:endParaRPr lang="en-US" sz="2400" dirty="0">
                  <a:latin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983709AF-F64C-9F7E-2562-B769F527B2C4}"/>
                  </a:ext>
                </a:extLst>
              </p:cNvPr>
              <p:cNvSpPr>
                <a:spLocks noGrp="1" noRot="1" noChangeAspect="1" noMove="1" noResize="1" noEditPoints="1" noAdjustHandles="1" noChangeArrowheads="1" noChangeShapeType="1" noTextEdit="1"/>
              </p:cNvSpPr>
              <p:nvPr>
                <p:ph idx="1"/>
              </p:nvPr>
            </p:nvSpPr>
            <p:spPr>
              <a:xfrm>
                <a:off x="539496" y="1169043"/>
                <a:ext cx="11013670" cy="5398013"/>
              </a:xfrm>
              <a:blipFill>
                <a:blip r:embed="rId3"/>
                <a:stretch>
                  <a:fillRect l="-806" t="-2118" r="-806"/>
                </a:stretch>
              </a:blipFill>
            </p:spPr>
            <p:txBody>
              <a:bodyPr/>
              <a:lstStyle/>
              <a:p>
                <a:r>
                  <a:rPr lang="en-US">
                    <a:noFill/>
                  </a:rPr>
                  <a:t> </a:t>
                </a:r>
              </a:p>
            </p:txBody>
          </p:sp>
        </mc:Fallback>
      </mc:AlternateContent>
    </p:spTree>
    <p:extLst>
      <p:ext uri="{BB962C8B-B14F-4D97-AF65-F5344CB8AC3E}">
        <p14:creationId xmlns:p14="http://schemas.microsoft.com/office/powerpoint/2010/main" val="201537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00E7-68A2-9C6F-5349-D50E5B6C2FB3}"/>
              </a:ext>
            </a:extLst>
          </p:cNvPr>
          <p:cNvSpPr>
            <a:spLocks noGrp="1"/>
          </p:cNvSpPr>
          <p:nvPr>
            <p:ph type="title"/>
          </p:nvPr>
        </p:nvSpPr>
        <p:spPr>
          <a:xfrm>
            <a:off x="539496" y="280695"/>
            <a:ext cx="11113008" cy="849793"/>
          </a:xfrm>
        </p:spPr>
        <p:txBody>
          <a:bodyPr>
            <a:normAutofit/>
          </a:bodyPr>
          <a:lstStyle/>
          <a:p>
            <a:r>
              <a:rPr lang="en-US" sz="4000" dirty="0">
                <a:latin typeface="Calibri" panose="020F0502020204030204" pitchFamily="34" charset="0"/>
                <a:cs typeface="Calibri" panose="020F0502020204030204" pitchFamily="34" charset="0"/>
              </a:rPr>
              <a:t>PEC and PNEC</a:t>
            </a:r>
          </a:p>
        </p:txBody>
      </p:sp>
      <p:graphicFrame>
        <p:nvGraphicFramePr>
          <p:cNvPr id="4" name="Content Placeholder 3">
            <a:extLst>
              <a:ext uri="{FF2B5EF4-FFF2-40B4-BE49-F238E27FC236}">
                <a16:creationId xmlns:a16="http://schemas.microsoft.com/office/drawing/2014/main" id="{7696DE7B-44DB-522E-DAE1-2C83BD2DCA87}"/>
              </a:ext>
            </a:extLst>
          </p:cNvPr>
          <p:cNvGraphicFramePr>
            <a:graphicFrameLocks noGrp="1"/>
          </p:cNvGraphicFramePr>
          <p:nvPr>
            <p:ph idx="1"/>
            <p:extLst>
              <p:ext uri="{D42A27DB-BD31-4B8C-83A1-F6EECF244321}">
                <p14:modId xmlns:p14="http://schemas.microsoft.com/office/powerpoint/2010/main" val="3030823858"/>
              </p:ext>
            </p:extLst>
          </p:nvPr>
        </p:nvGraphicFramePr>
        <p:xfrm>
          <a:off x="433843" y="924879"/>
          <a:ext cx="11113008" cy="5396406"/>
        </p:xfrm>
        <a:graphic>
          <a:graphicData uri="http://schemas.openxmlformats.org/drawingml/2006/table">
            <a:tbl>
              <a:tblPr>
                <a:tableStyleId>{5C22544A-7EE6-4342-B048-85BDC9FD1C3A}</a:tableStyleId>
              </a:tblPr>
              <a:tblGrid>
                <a:gridCol w="2274633">
                  <a:extLst>
                    <a:ext uri="{9D8B030D-6E8A-4147-A177-3AD203B41FA5}">
                      <a16:colId xmlns:a16="http://schemas.microsoft.com/office/drawing/2014/main" val="3565032334"/>
                    </a:ext>
                  </a:extLst>
                </a:gridCol>
                <a:gridCol w="4855915">
                  <a:extLst>
                    <a:ext uri="{9D8B030D-6E8A-4147-A177-3AD203B41FA5}">
                      <a16:colId xmlns:a16="http://schemas.microsoft.com/office/drawing/2014/main" val="686018387"/>
                    </a:ext>
                  </a:extLst>
                </a:gridCol>
                <a:gridCol w="3982460">
                  <a:extLst>
                    <a:ext uri="{9D8B030D-6E8A-4147-A177-3AD203B41FA5}">
                      <a16:colId xmlns:a16="http://schemas.microsoft.com/office/drawing/2014/main" val="4093081301"/>
                    </a:ext>
                  </a:extLst>
                </a:gridCol>
              </a:tblGrid>
              <a:tr h="695523">
                <a:tc>
                  <a:txBody>
                    <a:bodyPr/>
                    <a:lstStyle/>
                    <a:p>
                      <a:pPr>
                        <a:buNone/>
                      </a:pPr>
                      <a:r>
                        <a:rPr lang="en-US" sz="2000">
                          <a:effectLst/>
                        </a:rPr>
                        <a:t>Attribute</a:t>
                      </a:r>
                    </a:p>
                  </a:txBody>
                  <a:tcPr marL="69552" marR="69552" marT="34776" marB="34776" anchor="ctr">
                    <a:solidFill>
                      <a:schemeClr val="tx2">
                        <a:lumMod val="25000"/>
                        <a:lumOff val="75000"/>
                      </a:schemeClr>
                    </a:solidFill>
                  </a:tcPr>
                </a:tc>
                <a:tc>
                  <a:txBody>
                    <a:bodyPr/>
                    <a:lstStyle/>
                    <a:p>
                      <a:pPr algn="l">
                        <a:buNone/>
                      </a:pPr>
                      <a:r>
                        <a:rPr lang="en-US" sz="2000" dirty="0">
                          <a:effectLst/>
                        </a:rPr>
                        <a:t>PEC (Predicted Environmental Concentration)</a:t>
                      </a:r>
                    </a:p>
                  </a:txBody>
                  <a:tcPr marL="69552" marR="69552" marT="34776" marB="34776" anchor="ctr">
                    <a:solidFill>
                      <a:schemeClr val="tx2">
                        <a:lumMod val="25000"/>
                        <a:lumOff val="75000"/>
                      </a:schemeClr>
                    </a:solidFill>
                  </a:tcPr>
                </a:tc>
                <a:tc>
                  <a:txBody>
                    <a:bodyPr/>
                    <a:lstStyle/>
                    <a:p>
                      <a:pPr algn="l">
                        <a:buNone/>
                      </a:pPr>
                      <a:r>
                        <a:rPr lang="en-US" sz="2000">
                          <a:effectLst/>
                        </a:rPr>
                        <a:t>PNEC (Predicted No-Effect Concentration)</a:t>
                      </a:r>
                    </a:p>
                  </a:txBody>
                  <a:tcPr marL="69552" marR="69552" marT="34776" marB="34776" anchor="ctr">
                    <a:solidFill>
                      <a:schemeClr val="tx2">
                        <a:lumMod val="25000"/>
                        <a:lumOff val="75000"/>
                      </a:schemeClr>
                    </a:solidFill>
                  </a:tcPr>
                </a:tc>
                <a:extLst>
                  <a:ext uri="{0D108BD9-81ED-4DB2-BD59-A6C34878D82A}">
                    <a16:rowId xmlns:a16="http://schemas.microsoft.com/office/drawing/2014/main" val="1949827268"/>
                  </a:ext>
                </a:extLst>
              </a:tr>
              <a:tr h="904180">
                <a:tc>
                  <a:txBody>
                    <a:bodyPr/>
                    <a:lstStyle/>
                    <a:p>
                      <a:pPr>
                        <a:buNone/>
                      </a:pPr>
                      <a:r>
                        <a:rPr lang="en-US" sz="2000">
                          <a:effectLst/>
                        </a:rPr>
                        <a:t>What it represents</a:t>
                      </a:r>
                    </a:p>
                  </a:txBody>
                  <a:tcPr marL="69552" marR="69552" marT="34776" marB="34776" anchor="ctr">
                    <a:solidFill>
                      <a:schemeClr val="tx2">
                        <a:lumMod val="25000"/>
                        <a:lumOff val="75000"/>
                      </a:schemeClr>
                    </a:solidFill>
                  </a:tcPr>
                </a:tc>
                <a:tc>
                  <a:txBody>
                    <a:bodyPr/>
                    <a:lstStyle/>
                    <a:p>
                      <a:pPr algn="l">
                        <a:buNone/>
                      </a:pPr>
                      <a:r>
                        <a:rPr lang="en-US" sz="2000" dirty="0">
                          <a:effectLst/>
                        </a:rPr>
                        <a:t>Exposure — concentration expected in water/sediment</a:t>
                      </a:r>
                    </a:p>
                  </a:txBody>
                  <a:tcPr marL="69552" marR="69552" marT="34776" marB="34776" anchor="ctr"/>
                </a:tc>
                <a:tc>
                  <a:txBody>
                    <a:bodyPr/>
                    <a:lstStyle/>
                    <a:p>
                      <a:pPr algn="l">
                        <a:buNone/>
                      </a:pPr>
                      <a:r>
                        <a:rPr lang="en-US" sz="2000" dirty="0">
                          <a:effectLst/>
                        </a:rPr>
                        <a:t>Effect threshold — concentration below which organisms are unlikely to be harmed</a:t>
                      </a:r>
                    </a:p>
                  </a:txBody>
                  <a:tcPr marL="69552" marR="69552" marT="34776" marB="34776" anchor="ctr"/>
                </a:tc>
                <a:extLst>
                  <a:ext uri="{0D108BD9-81ED-4DB2-BD59-A6C34878D82A}">
                    <a16:rowId xmlns:a16="http://schemas.microsoft.com/office/drawing/2014/main" val="102475123"/>
                  </a:ext>
                </a:extLst>
              </a:tr>
              <a:tr h="904180">
                <a:tc>
                  <a:txBody>
                    <a:bodyPr/>
                    <a:lstStyle/>
                    <a:p>
                      <a:pPr>
                        <a:buNone/>
                      </a:pPr>
                      <a:r>
                        <a:rPr lang="en-US" sz="2000" dirty="0">
                          <a:effectLst/>
                        </a:rPr>
                        <a:t>Derived from</a:t>
                      </a:r>
                    </a:p>
                  </a:txBody>
                  <a:tcPr marL="69552" marR="69552" marT="34776" marB="34776" anchor="ctr">
                    <a:solidFill>
                      <a:schemeClr val="tx2">
                        <a:lumMod val="25000"/>
                        <a:lumOff val="75000"/>
                      </a:schemeClr>
                    </a:solidFill>
                  </a:tcPr>
                </a:tc>
                <a:tc>
                  <a:txBody>
                    <a:bodyPr/>
                    <a:lstStyle/>
                    <a:p>
                      <a:pPr algn="l">
                        <a:buNone/>
                      </a:pPr>
                      <a:r>
                        <a:rPr lang="en-US" sz="2000">
                          <a:effectLst/>
                        </a:rPr>
                        <a:t>Consumption/sales mass, excretion fraction, WWTP removal, wastewater volume, dilution factor</a:t>
                      </a:r>
                    </a:p>
                  </a:txBody>
                  <a:tcPr marL="69552" marR="69552" marT="34776" marB="34776" anchor="ctr"/>
                </a:tc>
                <a:tc>
                  <a:txBody>
                    <a:bodyPr/>
                    <a:lstStyle/>
                    <a:p>
                      <a:pPr algn="l">
                        <a:buNone/>
                      </a:pPr>
                      <a:r>
                        <a:rPr lang="en-US" sz="2000" dirty="0">
                          <a:effectLst/>
                        </a:rPr>
                        <a:t>Ecotoxicity test endpoints (EC50/LC50/NOEC) for algae, daphnids, fish</a:t>
                      </a:r>
                    </a:p>
                  </a:txBody>
                  <a:tcPr marL="69552" marR="69552" marT="34776" marB="34776" anchor="ctr"/>
                </a:tc>
                <a:extLst>
                  <a:ext uri="{0D108BD9-81ED-4DB2-BD59-A6C34878D82A}">
                    <a16:rowId xmlns:a16="http://schemas.microsoft.com/office/drawing/2014/main" val="3772614116"/>
                  </a:ext>
                </a:extLst>
              </a:tr>
              <a:tr h="695523">
                <a:tc>
                  <a:txBody>
                    <a:bodyPr/>
                    <a:lstStyle/>
                    <a:p>
                      <a:pPr>
                        <a:buNone/>
                      </a:pPr>
                      <a:r>
                        <a:rPr lang="en-US" sz="2000">
                          <a:effectLst/>
                        </a:rPr>
                        <a:t>Data source</a:t>
                      </a:r>
                    </a:p>
                  </a:txBody>
                  <a:tcPr marL="69552" marR="69552" marT="34776" marB="34776" anchor="ctr">
                    <a:solidFill>
                      <a:schemeClr val="tx2">
                        <a:lumMod val="25000"/>
                        <a:lumOff val="75000"/>
                      </a:schemeClr>
                    </a:solidFill>
                  </a:tcPr>
                </a:tc>
                <a:tc>
                  <a:txBody>
                    <a:bodyPr/>
                    <a:lstStyle/>
                    <a:p>
                      <a:pPr algn="l">
                        <a:buNone/>
                      </a:pPr>
                      <a:r>
                        <a:rPr lang="en-US" sz="2000">
                          <a:effectLst/>
                        </a:rPr>
                        <a:t>Drug-utilization + fate/hydrology data (or measured = MEC)</a:t>
                      </a:r>
                    </a:p>
                  </a:txBody>
                  <a:tcPr marL="69552" marR="69552" marT="34776" marB="34776" anchor="ctr"/>
                </a:tc>
                <a:tc>
                  <a:txBody>
                    <a:bodyPr/>
                    <a:lstStyle/>
                    <a:p>
                      <a:pPr algn="l">
                        <a:buNone/>
                      </a:pPr>
                      <a:r>
                        <a:rPr lang="en-US" sz="2000" dirty="0">
                          <a:effectLst/>
                        </a:rPr>
                        <a:t>Laboratory toxicity data</a:t>
                      </a:r>
                    </a:p>
                  </a:txBody>
                  <a:tcPr marL="69552" marR="69552" marT="34776" marB="34776" anchor="ctr"/>
                </a:tc>
                <a:extLst>
                  <a:ext uri="{0D108BD9-81ED-4DB2-BD59-A6C34878D82A}">
                    <a16:rowId xmlns:a16="http://schemas.microsoft.com/office/drawing/2014/main" val="2593035583"/>
                  </a:ext>
                </a:extLst>
              </a:tr>
              <a:tr h="695523">
                <a:tc>
                  <a:txBody>
                    <a:bodyPr/>
                    <a:lstStyle/>
                    <a:p>
                      <a:pPr>
                        <a:buNone/>
                      </a:pPr>
                      <a:r>
                        <a:rPr lang="en-US" sz="2000">
                          <a:effectLst/>
                        </a:rPr>
                        <a:t>Key operation</a:t>
                      </a:r>
                    </a:p>
                  </a:txBody>
                  <a:tcPr marL="69552" marR="69552" marT="34776" marB="34776" anchor="ctr">
                    <a:solidFill>
                      <a:schemeClr val="tx2">
                        <a:lumMod val="25000"/>
                        <a:lumOff val="75000"/>
                      </a:schemeClr>
                    </a:solidFill>
                  </a:tcPr>
                </a:tc>
                <a:tc>
                  <a:txBody>
                    <a:bodyPr/>
                    <a:lstStyle/>
                    <a:p>
                      <a:pPr algn="l">
                        <a:buNone/>
                      </a:pPr>
                      <a:r>
                        <a:rPr lang="en-US" sz="2000">
                          <a:effectLst/>
                        </a:rPr>
                        <a:t>Mass-balance emission model</a:t>
                      </a:r>
                    </a:p>
                  </a:txBody>
                  <a:tcPr marL="69552" marR="69552" marT="34776" marB="34776" anchor="ctr"/>
                </a:tc>
                <a:tc>
                  <a:txBody>
                    <a:bodyPr/>
                    <a:lstStyle/>
                    <a:p>
                      <a:pPr algn="l">
                        <a:buNone/>
                      </a:pPr>
                      <a:r>
                        <a:rPr lang="en-US" sz="2000" dirty="0">
                          <a:effectLst/>
                        </a:rPr>
                        <a:t>Lowest sensitive endpoint ÷ assessment factor (or SSD HC5 ÷ AF)</a:t>
                      </a:r>
                    </a:p>
                  </a:txBody>
                  <a:tcPr marL="69552" marR="69552" marT="34776" marB="34776" anchor="ctr"/>
                </a:tc>
                <a:extLst>
                  <a:ext uri="{0D108BD9-81ED-4DB2-BD59-A6C34878D82A}">
                    <a16:rowId xmlns:a16="http://schemas.microsoft.com/office/drawing/2014/main" val="2344313427"/>
                  </a:ext>
                </a:extLst>
              </a:tr>
              <a:tr h="278209">
                <a:tc>
                  <a:txBody>
                    <a:bodyPr/>
                    <a:lstStyle/>
                    <a:p>
                      <a:pPr>
                        <a:buNone/>
                      </a:pPr>
                      <a:r>
                        <a:rPr lang="en-US" sz="2000">
                          <a:effectLst/>
                        </a:rPr>
                        <a:t>Units</a:t>
                      </a:r>
                    </a:p>
                  </a:txBody>
                  <a:tcPr marL="69552" marR="69552" marT="34776" marB="34776" anchor="ctr">
                    <a:solidFill>
                      <a:schemeClr val="tx2">
                        <a:lumMod val="25000"/>
                        <a:lumOff val="75000"/>
                      </a:schemeClr>
                    </a:solidFill>
                  </a:tcPr>
                </a:tc>
                <a:tc>
                  <a:txBody>
                    <a:bodyPr/>
                    <a:lstStyle/>
                    <a:p>
                      <a:pPr algn="l">
                        <a:buNone/>
                      </a:pPr>
                      <a:r>
                        <a:rPr lang="en-US" sz="2000">
                          <a:effectLst/>
                        </a:rPr>
                        <a:t>Concentration (e.g., µg/L)</a:t>
                      </a:r>
                    </a:p>
                  </a:txBody>
                  <a:tcPr marL="69552" marR="69552" marT="34776" marB="34776" anchor="ctr"/>
                </a:tc>
                <a:tc>
                  <a:txBody>
                    <a:bodyPr/>
                    <a:lstStyle/>
                    <a:p>
                      <a:pPr algn="l">
                        <a:buNone/>
                      </a:pPr>
                      <a:r>
                        <a:rPr lang="en-US" sz="2000" dirty="0">
                          <a:effectLst/>
                        </a:rPr>
                        <a:t>Concentration (e.g., µg/L)</a:t>
                      </a:r>
                    </a:p>
                  </a:txBody>
                  <a:tcPr marL="69552" marR="69552" marT="34776" marB="34776" anchor="ctr"/>
                </a:tc>
                <a:extLst>
                  <a:ext uri="{0D108BD9-81ED-4DB2-BD59-A6C34878D82A}">
                    <a16:rowId xmlns:a16="http://schemas.microsoft.com/office/drawing/2014/main" val="384067296"/>
                  </a:ext>
                </a:extLst>
              </a:tr>
              <a:tr h="278209">
                <a:tc>
                  <a:txBody>
                    <a:bodyPr/>
                    <a:lstStyle/>
                    <a:p>
                      <a:pPr>
                        <a:buNone/>
                      </a:pPr>
                      <a:r>
                        <a:rPr lang="en-US" sz="2000" dirty="0">
                          <a:effectLst/>
                        </a:rPr>
                        <a:t>Role in RQ</a:t>
                      </a:r>
                    </a:p>
                  </a:txBody>
                  <a:tcPr marL="69552" marR="69552" marT="34776" marB="34776" anchor="ctr">
                    <a:solidFill>
                      <a:schemeClr val="tx2">
                        <a:lumMod val="25000"/>
                        <a:lumOff val="75000"/>
                      </a:schemeClr>
                    </a:solidFill>
                  </a:tcPr>
                </a:tc>
                <a:tc>
                  <a:txBody>
                    <a:bodyPr/>
                    <a:lstStyle/>
                    <a:p>
                      <a:pPr algn="l">
                        <a:buNone/>
                      </a:pPr>
                      <a:r>
                        <a:rPr lang="en-US" sz="2000">
                          <a:effectLst/>
                        </a:rPr>
                        <a:t>Numerator</a:t>
                      </a:r>
                    </a:p>
                  </a:txBody>
                  <a:tcPr marL="69552" marR="69552" marT="34776" marB="34776" anchor="ctr"/>
                </a:tc>
                <a:tc>
                  <a:txBody>
                    <a:bodyPr/>
                    <a:lstStyle/>
                    <a:p>
                      <a:pPr algn="l">
                        <a:buNone/>
                      </a:pPr>
                      <a:r>
                        <a:rPr lang="en-US" sz="2000" dirty="0">
                          <a:effectLst/>
                        </a:rPr>
                        <a:t>Denominator</a:t>
                      </a:r>
                    </a:p>
                  </a:txBody>
                  <a:tcPr marL="69552" marR="69552" marT="34776" marB="34776" anchor="ctr"/>
                </a:tc>
                <a:extLst>
                  <a:ext uri="{0D108BD9-81ED-4DB2-BD59-A6C34878D82A}">
                    <a16:rowId xmlns:a16="http://schemas.microsoft.com/office/drawing/2014/main" val="1328996523"/>
                  </a:ext>
                </a:extLst>
              </a:tr>
            </a:tbl>
          </a:graphicData>
        </a:graphic>
      </p:graphicFrame>
    </p:spTree>
    <p:extLst>
      <p:ext uri="{BB962C8B-B14F-4D97-AF65-F5344CB8AC3E}">
        <p14:creationId xmlns:p14="http://schemas.microsoft.com/office/powerpoint/2010/main" val="237162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5" name="Text 3"/>
          <p:cNvSpPr/>
          <p:nvPr/>
        </p:nvSpPr>
        <p:spPr>
          <a:xfrm>
            <a:off x="640080" y="288037"/>
            <a:ext cx="10911535" cy="777240"/>
          </a:xfrm>
          <a:prstGeom prst="rect">
            <a:avLst/>
          </a:prstGeom>
          <a:noFill/>
          <a:ln/>
        </p:spPr>
        <p:txBody>
          <a:bodyPr wrap="square" lIns="0" tIns="0" rIns="0" bIns="0" rtlCol="0" anchor="t"/>
          <a:lstStyle/>
          <a:p>
            <a:pPr>
              <a:lnSpc>
                <a:spcPts val="3000"/>
              </a:lnSpc>
            </a:pPr>
            <a:r>
              <a:rPr lang="en-US" sz="2800" b="1" dirty="0" err="1">
                <a:latin typeface="Calibri" pitchFamily="34" charset="0"/>
                <a:ea typeface="Calibri" pitchFamily="34" charset="-122"/>
                <a:cs typeface="Calibri" pitchFamily="34" charset="-120"/>
              </a:rPr>
              <a:t>Giunchi</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Villen</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Wettermark</a:t>
            </a:r>
            <a:r>
              <a:rPr lang="en-US" sz="2800" b="1" dirty="0">
                <a:latin typeface="Calibri" pitchFamily="34" charset="0"/>
                <a:ea typeface="Calibri" pitchFamily="34" charset="-122"/>
                <a:cs typeface="Calibri" pitchFamily="34" charset="-120"/>
              </a:rPr>
              <a:t> et al., BJCP 2023</a:t>
            </a:r>
            <a:r>
              <a:rPr lang="en-US" sz="2800" dirty="0">
                <a:latin typeface="Calibri" pitchFamily="34" charset="0"/>
                <a:ea typeface="Calibri" pitchFamily="34" charset="-122"/>
                <a:cs typeface="Calibri" pitchFamily="34" charset="-120"/>
              </a:rPr>
              <a:t>, using Italian utilization data and a Region Stockholm watch-list of 25 hazardous drugs.</a:t>
            </a:r>
            <a:endParaRPr lang="en-US" sz="2800" b="1" dirty="0">
              <a:latin typeface="Calibri" pitchFamily="34" charset="0"/>
              <a:ea typeface="Calibri" pitchFamily="34" charset="-122"/>
              <a:cs typeface="Calibri" pitchFamily="34" charset="-120"/>
            </a:endParaRPr>
          </a:p>
        </p:txBody>
      </p:sp>
      <p:sp>
        <p:nvSpPr>
          <p:cNvPr id="7" name="Text 5"/>
          <p:cNvSpPr/>
          <p:nvPr/>
        </p:nvSpPr>
        <p:spPr>
          <a:xfrm>
            <a:off x="640079" y="1120140"/>
            <a:ext cx="11096649" cy="5449823"/>
          </a:xfrm>
          <a:prstGeom prst="rect">
            <a:avLst/>
          </a:prstGeom>
          <a:noFill/>
          <a:ln/>
        </p:spPr>
        <p:txBody>
          <a:bodyPr wrap="square" lIns="0" tIns="0" rIns="0" bIns="0" rtlCol="0" anchor="t"/>
          <a:lstStyle/>
          <a:p>
            <a:pPr>
              <a:lnSpc>
                <a:spcPct val="100000"/>
              </a:lnSpc>
              <a:spcAft>
                <a:spcPts val="1100"/>
              </a:spcAft>
              <a:buSzPct val="100000"/>
            </a:pPr>
            <a:r>
              <a:rPr lang="en-US" sz="2000" b="1" dirty="0"/>
              <a:t>Research question</a:t>
            </a:r>
            <a:r>
              <a:rPr lang="en-US" sz="2000" dirty="0"/>
              <a:t> Which pharmaceuticals, based on how much Italy actually uses, pose the greatest risk to the aquatic environment — and can national drug-utilization data substitute for costly environmental sampling to identify and prioritize them?</a:t>
            </a:r>
          </a:p>
          <a:p>
            <a:r>
              <a:rPr lang="en-US" sz="2000" b="1" dirty="0"/>
              <a:t>Method = consumption-based PEC/PNEC risk quotient (4 steps)</a:t>
            </a:r>
            <a:endParaRPr lang="en-US" sz="2000" dirty="0"/>
          </a:p>
          <a:p>
            <a:pPr lvl="1"/>
            <a:r>
              <a:rPr lang="en-US" sz="2000" b="1" dirty="0"/>
              <a:t>Start from a curated watch-list</a:t>
            </a:r>
            <a:r>
              <a:rPr lang="en-US" sz="2000" dirty="0"/>
              <a:t> → 25 environmentally hazardous drugs pre-selected by Region Stockholm.</a:t>
            </a:r>
          </a:p>
          <a:p>
            <a:pPr lvl="1"/>
            <a:r>
              <a:rPr lang="en-US" sz="2000" b="1" dirty="0"/>
              <a:t>Quantify mass used</a:t>
            </a:r>
            <a:r>
              <a:rPr lang="en-US" sz="2000" dirty="0"/>
              <a:t> → Italian national drug-utilization data (2019–2021) converted to kg of active ingredient/year.</a:t>
            </a:r>
          </a:p>
          <a:p>
            <a:pPr lvl="1"/>
            <a:r>
              <a:rPr lang="en-US" sz="2000" b="1" dirty="0"/>
              <a:t>Estimate exposure (PEC)</a:t>
            </a:r>
            <a:r>
              <a:rPr lang="en-US" sz="2000" dirty="0"/>
              <a:t> → mass × fraction excreted unchanged × (1 − WWTP removal) ÷ wastewater volume × dilution.</a:t>
            </a:r>
          </a:p>
          <a:p>
            <a:pPr lvl="1"/>
            <a:r>
              <a:rPr lang="en-US" sz="2000" b="1" dirty="0"/>
              <a:t>Define safe threshold (PNEC) and rank</a:t>
            </a:r>
            <a:r>
              <a:rPr lang="en-US" sz="2000" dirty="0"/>
              <a:t> → eco-toxicological PNEC values (Region Stockholm / literature); compute </a:t>
            </a:r>
            <a:r>
              <a:rPr lang="en-US" sz="2000" b="1" dirty="0"/>
              <a:t>RQ = PEC/PNEC</a:t>
            </a:r>
            <a:r>
              <a:rPr lang="en-US" sz="2000" dirty="0"/>
              <a:t>; RQ ≥ 1 = potential risk.</a:t>
            </a:r>
          </a:p>
          <a:p>
            <a:r>
              <a:rPr lang="en-US" sz="2000" b="1" dirty="0"/>
              <a:t>Data sources &amp; assumptions</a:t>
            </a:r>
            <a:endParaRPr lang="en-US" sz="2000" dirty="0"/>
          </a:p>
          <a:p>
            <a:pPr lvl="0"/>
            <a:r>
              <a:rPr lang="en-US" sz="2000" dirty="0"/>
              <a:t>Exposure input: national reimbursed-utilization statistics (</a:t>
            </a:r>
            <a:r>
              <a:rPr lang="en-US" sz="2000" dirty="0" err="1"/>
              <a:t>OsMed</a:t>
            </a:r>
            <a:r>
              <a:rPr lang="en-US" sz="2000" dirty="0"/>
              <a:t> / AIFA), 25 drugs.</a:t>
            </a:r>
          </a:p>
          <a:p>
            <a:pPr lvl="0"/>
            <a:r>
              <a:rPr lang="en-US" sz="2000" dirty="0"/>
              <a:t>PNEC and excretion/removal parameters: imported from eco-toxicology literature + the Region Stockholm list (not derived in-study).</a:t>
            </a:r>
          </a:p>
          <a:p>
            <a:pPr lvl="0"/>
            <a:r>
              <a:rPr lang="en-US" sz="2000" dirty="0"/>
              <a:t>Assumes utilization data proxies mass reaching wastewater; generic (not site-specific) excretion and removal rates.</a:t>
            </a:r>
          </a:p>
          <a:p>
            <a:br>
              <a:rPr lang="en-US" sz="2000" dirty="0"/>
            </a:br>
            <a:endParaRPr lang="en-US" sz="2800" dirty="0"/>
          </a:p>
        </p:txBody>
      </p:sp>
      <p:sp>
        <p:nvSpPr>
          <p:cNvPr id="8" name="Shape 6"/>
          <p:cNvSpPr/>
          <p:nvPr/>
        </p:nvSpPr>
        <p:spPr>
          <a:xfrm>
            <a:off x="7452360" y="1737360"/>
            <a:ext cx="4099255" cy="4206240"/>
          </a:xfrm>
          <a:prstGeom prst="roundRect">
            <a:avLst>
              <a:gd name="adj" fmla="val 2231"/>
            </a:avLst>
          </a:prstGeom>
          <a:noFill/>
          <a:ln/>
          <a:effectLst>
            <a:outerShdw blurRad="76200" dist="25400" dir="5400000" algn="bl" rotWithShape="0">
              <a:srgbClr val="B9A8C2">
                <a:alpha val="28000"/>
              </a:srgbClr>
            </a:outerShdw>
          </a:effectLst>
        </p:spPr>
        <p:txBody>
          <a:bodyPr/>
          <a:lstStyle/>
          <a:p>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E3094-64DC-241C-B039-F9535B6B8E51}"/>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6CF6C7F5-B6D2-BA34-8746-DD22463F4715}"/>
              </a:ext>
            </a:extLst>
          </p:cNvPr>
          <p:cNvSpPr/>
          <p:nvPr/>
        </p:nvSpPr>
        <p:spPr>
          <a:xfrm>
            <a:off x="640080" y="288037"/>
            <a:ext cx="10911535" cy="777240"/>
          </a:xfrm>
          <a:prstGeom prst="rect">
            <a:avLst/>
          </a:prstGeom>
          <a:noFill/>
          <a:ln/>
        </p:spPr>
        <p:txBody>
          <a:bodyPr wrap="square" lIns="0" tIns="0" rIns="0" bIns="0" rtlCol="0" anchor="t"/>
          <a:lstStyle/>
          <a:p>
            <a:pPr>
              <a:lnSpc>
                <a:spcPts val="3000"/>
              </a:lnSpc>
            </a:pPr>
            <a:r>
              <a:rPr lang="en-US" sz="2800" b="1" dirty="0" err="1">
                <a:latin typeface="Calibri" pitchFamily="34" charset="0"/>
                <a:ea typeface="Calibri" pitchFamily="34" charset="-122"/>
                <a:cs typeface="Calibri" pitchFamily="34" charset="-120"/>
              </a:rPr>
              <a:t>Giunchi</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Villen</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Wettermark</a:t>
            </a:r>
            <a:r>
              <a:rPr lang="en-US" sz="2800" b="1" dirty="0">
                <a:latin typeface="Calibri" pitchFamily="34" charset="0"/>
                <a:ea typeface="Calibri" pitchFamily="34" charset="-122"/>
                <a:cs typeface="Calibri" pitchFamily="34" charset="-120"/>
              </a:rPr>
              <a:t> et al., BJCP 2023</a:t>
            </a:r>
          </a:p>
        </p:txBody>
      </p:sp>
      <p:sp>
        <p:nvSpPr>
          <p:cNvPr id="7" name="Text 5">
            <a:extLst>
              <a:ext uri="{FF2B5EF4-FFF2-40B4-BE49-F238E27FC236}">
                <a16:creationId xmlns:a16="http://schemas.microsoft.com/office/drawing/2014/main" id="{68DFCCCD-3DDD-61E3-4C49-E5A3A8D180E6}"/>
              </a:ext>
            </a:extLst>
          </p:cNvPr>
          <p:cNvSpPr/>
          <p:nvPr/>
        </p:nvSpPr>
        <p:spPr>
          <a:xfrm>
            <a:off x="547522" y="1003529"/>
            <a:ext cx="11096649" cy="4480551"/>
          </a:xfrm>
          <a:prstGeom prst="rect">
            <a:avLst/>
          </a:prstGeom>
          <a:noFill/>
          <a:ln/>
        </p:spPr>
        <p:txBody>
          <a:bodyPr wrap="square" lIns="0" tIns="0" rIns="0" bIns="0" rtlCol="0" anchor="t"/>
          <a:lstStyle/>
          <a:p>
            <a:pPr marL="285750" indent="-285750">
              <a:buFont typeface="Arial" panose="020B0604020202020204" pitchFamily="34" charset="0"/>
              <a:buChar char="•"/>
            </a:pPr>
            <a:r>
              <a:rPr lang="en-US" sz="2400" b="1" dirty="0">
                <a:latin typeface="Calibri" panose="020F0502020204030204" pitchFamily="34" charset="0"/>
                <a:cs typeface="Calibri" panose="020F0502020204030204" pitchFamily="34" charset="0"/>
              </a:rPr>
              <a:t>Key findings</a:t>
            </a:r>
            <a:endParaRPr lang="en-US" sz="2400" dirty="0">
              <a:latin typeface="Calibri" panose="020F0502020204030204" pitchFamily="34" charset="0"/>
              <a:cs typeface="Calibri" panose="020F0502020204030204" pitchFamily="34" charset="0"/>
            </a:endParaRPr>
          </a:p>
          <a:p>
            <a:pPr lvl="1"/>
            <a:r>
              <a:rPr lang="en-US" sz="2400" b="1" dirty="0">
                <a:latin typeface="Calibri" panose="020F0502020204030204" pitchFamily="34" charset="0"/>
                <a:cs typeface="Calibri" panose="020F0502020204030204" pitchFamily="34" charset="0"/>
              </a:rPr>
              <a:t>High risk (RQ ≥ 1):</a:t>
            </a:r>
            <a:r>
              <a:rPr lang="en-US" sz="2400" dirty="0">
                <a:latin typeface="Calibri" panose="020F0502020204030204" pitchFamily="34" charset="0"/>
                <a:cs typeface="Calibri" panose="020F0502020204030204" pitchFamily="34" charset="0"/>
              </a:rPr>
              <a:t> levonorgestrel, ciprofloxacin, amoxicillin, azithromycin, venlafaxine, sertraline, diclofenac.</a:t>
            </a:r>
          </a:p>
          <a:p>
            <a:pPr lvl="1"/>
            <a:r>
              <a:rPr lang="en-US" sz="2400" b="1" dirty="0">
                <a:latin typeface="Calibri" panose="020F0502020204030204" pitchFamily="34" charset="0"/>
                <a:cs typeface="Calibri" panose="020F0502020204030204" pitchFamily="34" charset="0"/>
              </a:rPr>
              <a:t>Moderate risk:</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ethinylestradiol</a:t>
            </a:r>
            <a:r>
              <a:rPr lang="en-US" sz="2400" dirty="0">
                <a:latin typeface="Calibri" panose="020F0502020204030204" pitchFamily="34" charset="0"/>
                <a:cs typeface="Calibri" panose="020F0502020204030204" pitchFamily="34" charset="0"/>
              </a:rPr>
              <a:t>, estradiol, clarithromycin.</a:t>
            </a:r>
          </a:p>
          <a:p>
            <a:pPr lvl="1"/>
            <a:r>
              <a:rPr lang="en-US" sz="2400" dirty="0">
                <a:latin typeface="Calibri" panose="020F0502020204030204" pitchFamily="34" charset="0"/>
                <a:cs typeface="Calibri" panose="020F0502020204030204" pitchFamily="34" charset="0"/>
              </a:rPr>
              <a:t>Hormones, antibiotics, and antidepressants dominate the high-risk tier.</a:t>
            </a:r>
          </a:p>
          <a:p>
            <a:pPr marL="285750" indent="-285750">
              <a:buFont typeface="Arial" panose="020B0604020202020204" pitchFamily="34" charset="0"/>
              <a:buChar char="•"/>
            </a:pPr>
            <a:r>
              <a:rPr lang="en-US" sz="2400" b="1" dirty="0">
                <a:latin typeface="Calibri" panose="020F0502020204030204" pitchFamily="34" charset="0"/>
                <a:cs typeface="Calibri" panose="020F0502020204030204" pitchFamily="34" charset="0"/>
              </a:rPr>
              <a:t>Take-home</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A repeatable, low-cost screening tool: national drug-utilization data + a fixed hazard watch-list can rank country-specific environmental risk and flag where containment or eco-friendlier prescribing/disposal measures are warranted. Best used as a conservative prioritization screen, not an exposure measurement.</a:t>
            </a:r>
          </a:p>
          <a:p>
            <a:pPr marL="285750" indent="-285750">
              <a:buFont typeface="Arial" panose="020B0604020202020204" pitchFamily="34" charset="0"/>
              <a:buChar char="•"/>
            </a:pPr>
            <a:r>
              <a:rPr lang="en-US" sz="2400" b="1" dirty="0">
                <a:latin typeface="Calibri" panose="020F0502020204030204" pitchFamily="34" charset="0"/>
                <a:cs typeface="Calibri" panose="020F0502020204030204" pitchFamily="34" charset="0"/>
              </a:rPr>
              <a:t>Limitations</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Omits OTC, hospital, and veterinary supply and drug metabolites/conjugate back-transformation; relies on literature-derived excretion and removal rates; conservative screening approach.</a:t>
            </a:r>
          </a:p>
          <a:p>
            <a:pPr>
              <a:lnSpc>
                <a:spcPct val="100000"/>
              </a:lnSpc>
              <a:spcAft>
                <a:spcPts val="1100"/>
              </a:spcAft>
              <a:buSzPct val="100000"/>
            </a:pPr>
            <a:endParaRPr lang="en-US" sz="3200" dirty="0">
              <a:latin typeface="Calibri" panose="020F0502020204030204" pitchFamily="34" charset="0"/>
              <a:cs typeface="Calibri" panose="020F0502020204030204" pitchFamily="34" charset="0"/>
            </a:endParaRPr>
          </a:p>
          <a:p>
            <a:pPr>
              <a:lnSpc>
                <a:spcPct val="100000"/>
              </a:lnSpc>
              <a:spcAft>
                <a:spcPts val="1100"/>
              </a:spcAft>
              <a:buSzPct val="100000"/>
            </a:pPr>
            <a:endParaRPr lang="en-US" sz="3200" dirty="0">
              <a:latin typeface="Calibri" panose="020F0502020204030204" pitchFamily="34" charset="0"/>
              <a:cs typeface="Calibri" panose="020F0502020204030204" pitchFamily="34" charset="0"/>
            </a:endParaRPr>
          </a:p>
        </p:txBody>
      </p:sp>
      <p:sp>
        <p:nvSpPr>
          <p:cNvPr id="8" name="Shape 6">
            <a:extLst>
              <a:ext uri="{FF2B5EF4-FFF2-40B4-BE49-F238E27FC236}">
                <a16:creationId xmlns:a16="http://schemas.microsoft.com/office/drawing/2014/main" id="{0B150FC3-39C1-709F-46D7-5C2387841088}"/>
              </a:ext>
            </a:extLst>
          </p:cNvPr>
          <p:cNvSpPr/>
          <p:nvPr/>
        </p:nvSpPr>
        <p:spPr>
          <a:xfrm>
            <a:off x="7452360" y="1737360"/>
            <a:ext cx="4099255" cy="4206240"/>
          </a:xfrm>
          <a:prstGeom prst="roundRect">
            <a:avLst>
              <a:gd name="adj" fmla="val 2231"/>
            </a:avLst>
          </a:prstGeom>
          <a:noFill/>
          <a:ln/>
          <a:effectLst>
            <a:outerShdw blurRad="76200" dist="25400" dir="5400000" algn="bl" rotWithShape="0">
              <a:srgbClr val="B9A8C2">
                <a:alpha val="28000"/>
              </a:srgbClr>
            </a:outerShdw>
          </a:effectLst>
        </p:spPr>
        <p:txBody>
          <a:bodyPr/>
          <a:lstStyle/>
          <a:p>
            <a:endParaRPr lang="en-US" sz="2000"/>
          </a:p>
        </p:txBody>
      </p:sp>
    </p:spTree>
    <p:extLst>
      <p:ext uri="{BB962C8B-B14F-4D97-AF65-F5344CB8AC3E}">
        <p14:creationId xmlns:p14="http://schemas.microsoft.com/office/powerpoint/2010/main" val="1717886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462250"/>
          </a:solidFill>
          <a:ln/>
        </p:spPr>
        <p:txBody>
          <a:bodyPr/>
          <a:lstStyle/>
          <a:p>
            <a:endParaRPr lang="en-US"/>
          </a:p>
        </p:txBody>
      </p:sp>
      <p:sp>
        <p:nvSpPr>
          <p:cNvPr id="5" name="Text 3"/>
          <p:cNvSpPr/>
          <p:nvPr/>
        </p:nvSpPr>
        <p:spPr>
          <a:xfrm>
            <a:off x="640080" y="694944"/>
            <a:ext cx="10911535" cy="777240"/>
          </a:xfrm>
          <a:prstGeom prst="rect">
            <a:avLst/>
          </a:prstGeom>
          <a:noFill/>
          <a:ln/>
        </p:spPr>
        <p:txBody>
          <a:bodyPr wrap="square" lIns="0" tIns="0" rIns="0" bIns="0" rtlCol="0" anchor="t"/>
          <a:lstStyle/>
          <a:p>
            <a:pPr marL="0" indent="0" algn="l">
              <a:lnSpc>
                <a:spcPts val="3000"/>
              </a:lnSpc>
              <a:buNone/>
            </a:pPr>
            <a:r>
              <a:rPr lang="en-US" sz="3600" b="1" dirty="0">
                <a:latin typeface="Calibri" pitchFamily="34" charset="0"/>
                <a:ea typeface="Calibri" pitchFamily="34" charset="-122"/>
                <a:cs typeface="Calibri" pitchFamily="34" charset="-120"/>
              </a:rPr>
              <a:t>Wastewater-based epidemiology (WBE)</a:t>
            </a:r>
            <a:endParaRPr lang="en-US" sz="3600" dirty="0"/>
          </a:p>
        </p:txBody>
      </p:sp>
      <p:sp>
        <p:nvSpPr>
          <p:cNvPr id="7" name="Text 5"/>
          <p:cNvSpPr/>
          <p:nvPr/>
        </p:nvSpPr>
        <p:spPr>
          <a:xfrm>
            <a:off x="640080" y="1691640"/>
            <a:ext cx="10911535" cy="4572000"/>
          </a:xfrm>
          <a:prstGeom prst="rect">
            <a:avLst/>
          </a:prstGeom>
          <a:noFill/>
          <a:ln/>
        </p:spPr>
        <p:txBody>
          <a:bodyPr wrap="square" lIns="0" tIns="0" rIns="0" bIns="0" rtlCol="0" anchor="t"/>
          <a:lstStyle/>
          <a:p>
            <a:pPr marL="203200" indent="-203200">
              <a:lnSpc>
                <a:spcPts val="2300"/>
              </a:lnSpc>
              <a:spcAft>
                <a:spcPts val="1300"/>
              </a:spcAft>
              <a:buSzPct val="100000"/>
              <a:buChar char="•"/>
            </a:pPr>
            <a:r>
              <a:rPr lang="en-US" sz="2800" dirty="0">
                <a:solidFill>
                  <a:srgbClr val="2C2233"/>
                </a:solidFill>
                <a:latin typeface="Calibri" pitchFamily="34" charset="0"/>
                <a:ea typeface="Calibri" pitchFamily="34" charset="-122"/>
                <a:cs typeface="Calibri" pitchFamily="34" charset="-120"/>
              </a:rPr>
              <a:t>WBE back-calculates population-level drug use from parent drugs and metabolites in influent wastewater, in near-real time</a:t>
            </a:r>
            <a:endParaRPr lang="en-US" sz="2800" dirty="0"/>
          </a:p>
          <a:p>
            <a:pPr marL="203200" indent="-203200">
              <a:lnSpc>
                <a:spcPts val="2300"/>
              </a:lnSpc>
              <a:spcAft>
                <a:spcPts val="1300"/>
              </a:spcAft>
              <a:buSzPct val="100000"/>
              <a:buChar char="•"/>
            </a:pPr>
            <a:r>
              <a:rPr lang="en-US" sz="2800" dirty="0">
                <a:solidFill>
                  <a:srgbClr val="2C2233"/>
                </a:solidFill>
                <a:latin typeface="Calibri" pitchFamily="34" charset="0"/>
                <a:ea typeface="Calibri" pitchFamily="34" charset="-122"/>
                <a:cs typeface="Calibri" pitchFamily="34" charset="-120"/>
              </a:rPr>
              <a:t>Independently validates or replaces the consumption input (A), the most influential PEC parameter; good agreement with dispensing data</a:t>
            </a:r>
            <a:endParaRPr lang="en-US" sz="2800" dirty="0"/>
          </a:p>
          <a:p>
            <a:pPr marL="203200" indent="-203200">
              <a:lnSpc>
                <a:spcPts val="2300"/>
              </a:lnSpc>
              <a:spcAft>
                <a:spcPts val="1300"/>
              </a:spcAft>
              <a:buSzPct val="100000"/>
              <a:buChar char="•"/>
            </a:pPr>
            <a:r>
              <a:rPr lang="en-US" sz="2800" dirty="0">
                <a:solidFill>
                  <a:srgbClr val="2C2233"/>
                </a:solidFill>
                <a:latin typeface="Calibri" pitchFamily="34" charset="0"/>
                <a:ea typeface="Calibri" pitchFamily="34" charset="-122"/>
                <a:cs typeface="Calibri" pitchFamily="34" charset="-120"/>
              </a:rPr>
              <a:t>Captures over-the-counter and non-prescription use that dispensing statistics miss (for example acetaminophen, ibuprofen, naproxen)</a:t>
            </a:r>
            <a:endParaRPr lang="en-US" sz="2800" dirty="0"/>
          </a:p>
          <a:p>
            <a:pPr marL="203200" indent="-203200">
              <a:lnSpc>
                <a:spcPts val="2300"/>
              </a:lnSpc>
              <a:spcAft>
                <a:spcPts val="1300"/>
              </a:spcAft>
              <a:buSzPct val="100000"/>
              <a:buChar char="•"/>
            </a:pPr>
            <a:r>
              <a:rPr lang="en-US" sz="2800" dirty="0">
                <a:solidFill>
                  <a:srgbClr val="2C2233"/>
                </a:solidFill>
                <a:latin typeface="Calibri" pitchFamily="34" charset="0"/>
                <a:ea typeface="Calibri" pitchFamily="34" charset="-122"/>
                <a:cs typeface="Calibri" pitchFamily="34" charset="-120"/>
              </a:rPr>
              <a:t>Anchors models to measured loads and triangulates with pharmacoepidemiology to track prescribing or disposal interventions</a:t>
            </a:r>
            <a:endParaRPr lang="en-US" sz="2800" dirty="0"/>
          </a:p>
          <a:p>
            <a:pPr marL="203200" indent="-203200">
              <a:lnSpc>
                <a:spcPts val="2300"/>
              </a:lnSpc>
              <a:spcAft>
                <a:spcPts val="1300"/>
              </a:spcAft>
              <a:buSzPct val="100000"/>
              <a:buChar char="•"/>
            </a:pPr>
            <a:r>
              <a:rPr lang="en-US" sz="2800" dirty="0">
                <a:solidFill>
                  <a:srgbClr val="2C2233"/>
                </a:solidFill>
                <a:latin typeface="Calibri" pitchFamily="34" charset="0"/>
                <a:ea typeface="Calibri" pitchFamily="34" charset="-122"/>
                <a:cs typeface="Calibri" pitchFamily="34" charset="-120"/>
              </a:rPr>
              <a:t>Caveat: back-calculation carries compound-specific uncertainty; WBE complements rather than replaces prescription-based data</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marL="0" indent="0" algn="l">
              <a:lnSpc>
                <a:spcPts val="3000"/>
              </a:lnSpc>
              <a:buNone/>
            </a:pPr>
            <a:r>
              <a:rPr lang="en-US" sz="3600" b="1" dirty="0">
                <a:latin typeface="Calibri" pitchFamily="34" charset="0"/>
                <a:ea typeface="Calibri" pitchFamily="34" charset="-122"/>
                <a:cs typeface="Calibri" pitchFamily="34" charset="-120"/>
              </a:rPr>
              <a:t>3. Life Cycle Assessment: evaluating treatment pathways</a:t>
            </a:r>
            <a:endParaRPr lang="en-US" sz="3600" dirty="0"/>
          </a:p>
        </p:txBody>
      </p:sp>
      <p:sp>
        <p:nvSpPr>
          <p:cNvPr id="6" name="Shape 4"/>
          <p:cNvSpPr/>
          <p:nvPr/>
        </p:nvSpPr>
        <p:spPr>
          <a:xfrm>
            <a:off x="640080" y="1481328"/>
            <a:ext cx="1371600" cy="50292"/>
          </a:xfrm>
          <a:prstGeom prst="rect">
            <a:avLst/>
          </a:prstGeom>
          <a:solidFill>
            <a:srgbClr val="EE8A2E"/>
          </a:solidFill>
          <a:ln/>
        </p:spPr>
        <p:txBody>
          <a:bodyPr/>
          <a:lstStyle/>
          <a:p>
            <a:endParaRPr lang="en-US"/>
          </a:p>
        </p:txBody>
      </p:sp>
      <p:sp>
        <p:nvSpPr>
          <p:cNvPr id="7" name="Text 5"/>
          <p:cNvSpPr/>
          <p:nvPr/>
        </p:nvSpPr>
        <p:spPr>
          <a:xfrm>
            <a:off x="640080" y="1645920"/>
            <a:ext cx="10911535" cy="640080"/>
          </a:xfrm>
          <a:prstGeom prst="rect">
            <a:avLst/>
          </a:prstGeom>
          <a:noFill/>
          <a:ln/>
        </p:spPr>
        <p:txBody>
          <a:bodyPr wrap="square" lIns="0" tIns="0" rIns="0" bIns="0" rtlCol="0" anchor="ctr"/>
          <a:lstStyle/>
          <a:p>
            <a:pPr marL="0" indent="0">
              <a:lnSpc>
                <a:spcPts val="2200"/>
              </a:lnSpc>
              <a:buNone/>
            </a:pPr>
            <a:r>
              <a:rPr lang="en-US" sz="2800" dirty="0">
                <a:solidFill>
                  <a:srgbClr val="2C2233"/>
                </a:solidFill>
                <a:latin typeface="Calibri" pitchFamily="34" charset="0"/>
                <a:ea typeface="Calibri" pitchFamily="34" charset="-122"/>
                <a:cs typeface="Calibri" pitchFamily="34" charset="-120"/>
              </a:rPr>
              <a:t>Standardized cradle-to-grave quantification of environmental burden (ISO 14040/14044), comparing options that perform the same function.</a:t>
            </a:r>
            <a:endParaRPr lang="en-US" sz="2800" dirty="0"/>
          </a:p>
        </p:txBody>
      </p:sp>
      <p:sp>
        <p:nvSpPr>
          <p:cNvPr id="8" name="Shape 6"/>
          <p:cNvSpPr/>
          <p:nvPr/>
        </p:nvSpPr>
        <p:spPr>
          <a:xfrm>
            <a:off x="640080" y="2468880"/>
            <a:ext cx="2522144" cy="1371600"/>
          </a:xfrm>
          <a:prstGeom prst="roundRect">
            <a:avLst>
              <a:gd name="adj" fmla="val 6000"/>
            </a:avLst>
          </a:prstGeom>
          <a:solidFill>
            <a:schemeClr val="tx2">
              <a:lumMod val="90000"/>
              <a:lumOff val="1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800"/>
          </a:p>
        </p:txBody>
      </p:sp>
      <p:sp>
        <p:nvSpPr>
          <p:cNvPr id="9" name="Text 7"/>
          <p:cNvSpPr/>
          <p:nvPr/>
        </p:nvSpPr>
        <p:spPr>
          <a:xfrm>
            <a:off x="822960" y="2468880"/>
            <a:ext cx="2156384" cy="1371600"/>
          </a:xfrm>
          <a:prstGeom prst="rect">
            <a:avLst/>
          </a:prstGeom>
          <a:noFill/>
          <a:ln/>
        </p:spPr>
        <p:txBody>
          <a:bodyPr wrap="square" lIns="0" tIns="0" rIns="0" bIns="0" rtlCol="0" anchor="ctr"/>
          <a:lstStyle/>
          <a:p>
            <a:pPr marL="457200" indent="-457200">
              <a:lnSpc>
                <a:spcPts val="1600"/>
              </a:lnSpc>
              <a:buAutoNum type="arabicPlain"/>
            </a:pPr>
            <a:r>
              <a:rPr lang="en-US" sz="2000" b="1" dirty="0">
                <a:solidFill>
                  <a:srgbClr val="FFFFFF"/>
                </a:solidFill>
                <a:latin typeface="Calibri" pitchFamily="34" charset="0"/>
                <a:ea typeface="Calibri" pitchFamily="34" charset="-122"/>
                <a:cs typeface="Calibri" pitchFamily="34" charset="-120"/>
              </a:rPr>
              <a:t>Goal &amp; scope</a:t>
            </a:r>
          </a:p>
          <a:p>
            <a:pPr marL="514350" indent="-514350">
              <a:lnSpc>
                <a:spcPts val="1600"/>
              </a:lnSpc>
              <a:buAutoNum type="arabicPlain"/>
            </a:pPr>
            <a:endParaRPr lang="en-US" sz="3200" dirty="0"/>
          </a:p>
          <a:p>
            <a:pPr marL="0" indent="0">
              <a:lnSpc>
                <a:spcPts val="1600"/>
              </a:lnSpc>
              <a:buNone/>
            </a:pPr>
            <a:r>
              <a:rPr lang="en-US" sz="2000" dirty="0">
                <a:solidFill>
                  <a:srgbClr val="E8DCEF"/>
                </a:solidFill>
                <a:latin typeface="Calibri" pitchFamily="34" charset="0"/>
                <a:ea typeface="Calibri" pitchFamily="34" charset="-122"/>
                <a:cs typeface="Calibri" pitchFamily="34" charset="-120"/>
              </a:rPr>
              <a:t>functional unit, boundary</a:t>
            </a:r>
            <a:endParaRPr lang="en-US" sz="3600" dirty="0"/>
          </a:p>
        </p:txBody>
      </p:sp>
      <p:sp>
        <p:nvSpPr>
          <p:cNvPr id="10" name="Text 8"/>
          <p:cNvSpPr/>
          <p:nvPr/>
        </p:nvSpPr>
        <p:spPr>
          <a:xfrm>
            <a:off x="3143936" y="2468880"/>
            <a:ext cx="274320" cy="1371600"/>
          </a:xfrm>
          <a:prstGeom prst="rect">
            <a:avLst/>
          </a:prstGeom>
          <a:noFill/>
          <a:ln/>
        </p:spPr>
        <p:txBody>
          <a:bodyPr wrap="square" lIns="0" tIns="0" rIns="0" bIns="0" rtlCol="0" anchor="ctr"/>
          <a:lstStyle/>
          <a:p>
            <a:pPr marL="0" indent="0" algn="ctr">
              <a:buNone/>
            </a:pPr>
            <a:r>
              <a:rPr lang="en-US" sz="3200" b="1" dirty="0">
                <a:solidFill>
                  <a:srgbClr val="EE8A2E"/>
                </a:solidFill>
                <a:latin typeface="Calibri" pitchFamily="34" charset="0"/>
                <a:ea typeface="Calibri" pitchFamily="34" charset="-122"/>
                <a:cs typeface="Calibri" pitchFamily="34" charset="-120"/>
              </a:rPr>
              <a:t>&gt;</a:t>
            </a:r>
            <a:endParaRPr lang="en-US" sz="3200" dirty="0"/>
          </a:p>
        </p:txBody>
      </p:sp>
      <p:sp>
        <p:nvSpPr>
          <p:cNvPr id="11" name="Shape 9"/>
          <p:cNvSpPr/>
          <p:nvPr/>
        </p:nvSpPr>
        <p:spPr>
          <a:xfrm>
            <a:off x="3436544" y="2468880"/>
            <a:ext cx="2522144" cy="1371600"/>
          </a:xfrm>
          <a:prstGeom prst="roundRect">
            <a:avLst>
              <a:gd name="adj" fmla="val 6000"/>
            </a:avLst>
          </a:prstGeom>
          <a:solidFill>
            <a:schemeClr val="tx2">
              <a:lumMod val="10000"/>
              <a:lumOff val="9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800"/>
          </a:p>
        </p:txBody>
      </p:sp>
      <p:sp>
        <p:nvSpPr>
          <p:cNvPr id="12" name="Text 10"/>
          <p:cNvSpPr/>
          <p:nvPr/>
        </p:nvSpPr>
        <p:spPr>
          <a:xfrm>
            <a:off x="3619424" y="2468880"/>
            <a:ext cx="2156384" cy="1371600"/>
          </a:xfrm>
          <a:prstGeom prst="rect">
            <a:avLst/>
          </a:prstGeom>
          <a:noFill/>
          <a:ln/>
        </p:spPr>
        <p:txBody>
          <a:bodyPr wrap="square" lIns="0" tIns="0" rIns="0" bIns="0" rtlCol="0" anchor="ctr"/>
          <a:lstStyle/>
          <a:p>
            <a:pPr marL="457200" indent="-457200">
              <a:lnSpc>
                <a:spcPts val="1600"/>
              </a:lnSpc>
              <a:buAutoNum type="arabicPlain" startAt="2"/>
            </a:pPr>
            <a:r>
              <a:rPr lang="en-US" sz="2000" b="1" dirty="0">
                <a:solidFill>
                  <a:srgbClr val="462250"/>
                </a:solidFill>
                <a:latin typeface="Calibri" pitchFamily="34" charset="0"/>
                <a:ea typeface="Calibri" pitchFamily="34" charset="-122"/>
                <a:cs typeface="Calibri" pitchFamily="34" charset="-120"/>
              </a:rPr>
              <a:t>Inventory (LCI)</a:t>
            </a:r>
          </a:p>
          <a:p>
            <a:pPr marL="514350" indent="-514350">
              <a:lnSpc>
                <a:spcPts val="1600"/>
              </a:lnSpc>
              <a:buAutoNum type="arabicPlain" startAt="2"/>
            </a:pPr>
            <a:endParaRPr lang="en-US" sz="3200" dirty="0"/>
          </a:p>
          <a:p>
            <a:pPr marL="0" indent="0">
              <a:lnSpc>
                <a:spcPts val="1600"/>
              </a:lnSpc>
              <a:buNone/>
            </a:pPr>
            <a:r>
              <a:rPr lang="en-US" sz="2000" dirty="0">
                <a:solidFill>
                  <a:srgbClr val="3C3443"/>
                </a:solidFill>
                <a:latin typeface="Calibri" pitchFamily="34" charset="0"/>
                <a:ea typeface="Calibri" pitchFamily="34" charset="-122"/>
                <a:cs typeface="Calibri" pitchFamily="34" charset="-120"/>
              </a:rPr>
              <a:t>inputs and emissions</a:t>
            </a:r>
            <a:endParaRPr lang="en-US" sz="3600" dirty="0"/>
          </a:p>
        </p:txBody>
      </p:sp>
      <p:sp>
        <p:nvSpPr>
          <p:cNvPr id="13" name="Text 11"/>
          <p:cNvSpPr/>
          <p:nvPr/>
        </p:nvSpPr>
        <p:spPr>
          <a:xfrm>
            <a:off x="5940400" y="2468880"/>
            <a:ext cx="274320" cy="1371600"/>
          </a:xfrm>
          <a:prstGeom prst="rect">
            <a:avLst/>
          </a:prstGeom>
          <a:noFill/>
          <a:ln/>
        </p:spPr>
        <p:txBody>
          <a:bodyPr wrap="square" lIns="0" tIns="0" rIns="0" bIns="0" rtlCol="0" anchor="ctr"/>
          <a:lstStyle/>
          <a:p>
            <a:pPr marL="0" indent="0" algn="ctr">
              <a:buNone/>
            </a:pPr>
            <a:r>
              <a:rPr lang="en-US" sz="3200" b="1" dirty="0">
                <a:solidFill>
                  <a:srgbClr val="EE8A2E"/>
                </a:solidFill>
                <a:latin typeface="Calibri" pitchFamily="34" charset="0"/>
                <a:ea typeface="Calibri" pitchFamily="34" charset="-122"/>
                <a:cs typeface="Calibri" pitchFamily="34" charset="-120"/>
              </a:rPr>
              <a:t>&gt;</a:t>
            </a:r>
            <a:endParaRPr lang="en-US" sz="3200" dirty="0"/>
          </a:p>
        </p:txBody>
      </p:sp>
      <p:sp>
        <p:nvSpPr>
          <p:cNvPr id="14" name="Shape 12"/>
          <p:cNvSpPr/>
          <p:nvPr/>
        </p:nvSpPr>
        <p:spPr>
          <a:xfrm>
            <a:off x="6233008" y="2468880"/>
            <a:ext cx="2522144" cy="1371600"/>
          </a:xfrm>
          <a:prstGeom prst="roundRect">
            <a:avLst>
              <a:gd name="adj" fmla="val 6000"/>
            </a:avLst>
          </a:prstGeom>
          <a:solidFill>
            <a:schemeClr val="tx2">
              <a:lumMod val="90000"/>
              <a:lumOff val="1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800"/>
          </a:p>
        </p:txBody>
      </p:sp>
      <p:sp>
        <p:nvSpPr>
          <p:cNvPr id="15" name="Text 13"/>
          <p:cNvSpPr/>
          <p:nvPr/>
        </p:nvSpPr>
        <p:spPr>
          <a:xfrm>
            <a:off x="6415888" y="2468880"/>
            <a:ext cx="2156384" cy="1371600"/>
          </a:xfrm>
          <a:prstGeom prst="rect">
            <a:avLst/>
          </a:prstGeom>
          <a:noFill/>
          <a:ln/>
        </p:spPr>
        <p:txBody>
          <a:bodyPr wrap="square" lIns="0" tIns="0" rIns="0" bIns="0" rtlCol="0" anchor="ctr"/>
          <a:lstStyle/>
          <a:p>
            <a:pPr marL="457200" indent="-457200">
              <a:lnSpc>
                <a:spcPts val="1600"/>
              </a:lnSpc>
              <a:buAutoNum type="arabicPlain" startAt="3"/>
            </a:pPr>
            <a:r>
              <a:rPr lang="en-US" sz="2000" b="1" dirty="0">
                <a:solidFill>
                  <a:srgbClr val="FFFFFF"/>
                </a:solidFill>
                <a:latin typeface="Calibri" pitchFamily="34" charset="0"/>
                <a:ea typeface="Calibri" pitchFamily="34" charset="-122"/>
                <a:cs typeface="Calibri" pitchFamily="34" charset="-120"/>
              </a:rPr>
              <a:t>Impact (LCIA)</a:t>
            </a:r>
          </a:p>
          <a:p>
            <a:pPr marL="514350" indent="-514350">
              <a:lnSpc>
                <a:spcPts val="1600"/>
              </a:lnSpc>
              <a:buAutoNum type="arabicPlain" startAt="3"/>
            </a:pPr>
            <a:endParaRPr lang="en-US" sz="3200" dirty="0"/>
          </a:p>
          <a:p>
            <a:pPr marL="0" indent="0">
              <a:lnSpc>
                <a:spcPts val="1600"/>
              </a:lnSpc>
              <a:buNone/>
            </a:pPr>
            <a:r>
              <a:rPr lang="en-US" sz="2000" dirty="0">
                <a:solidFill>
                  <a:srgbClr val="E8DCEF"/>
                </a:solidFill>
                <a:latin typeface="Calibri" pitchFamily="34" charset="0"/>
                <a:ea typeface="Calibri" pitchFamily="34" charset="-122"/>
                <a:cs typeface="Calibri" pitchFamily="34" charset="-120"/>
              </a:rPr>
              <a:t>USEtox for API toxicity</a:t>
            </a:r>
            <a:endParaRPr lang="en-US" sz="3600" dirty="0"/>
          </a:p>
        </p:txBody>
      </p:sp>
      <p:sp>
        <p:nvSpPr>
          <p:cNvPr id="16" name="Text 14"/>
          <p:cNvSpPr/>
          <p:nvPr/>
        </p:nvSpPr>
        <p:spPr>
          <a:xfrm>
            <a:off x="8736863" y="2468880"/>
            <a:ext cx="274320" cy="1371600"/>
          </a:xfrm>
          <a:prstGeom prst="rect">
            <a:avLst/>
          </a:prstGeom>
          <a:noFill/>
          <a:ln/>
        </p:spPr>
        <p:txBody>
          <a:bodyPr wrap="square" lIns="0" tIns="0" rIns="0" bIns="0" rtlCol="0" anchor="ctr"/>
          <a:lstStyle/>
          <a:p>
            <a:pPr marL="0" indent="0" algn="ctr">
              <a:buNone/>
            </a:pPr>
            <a:r>
              <a:rPr lang="en-US" sz="3200" b="1" dirty="0">
                <a:solidFill>
                  <a:srgbClr val="EE8A2E"/>
                </a:solidFill>
                <a:latin typeface="Calibri" pitchFamily="34" charset="0"/>
                <a:ea typeface="Calibri" pitchFamily="34" charset="-122"/>
                <a:cs typeface="Calibri" pitchFamily="34" charset="-120"/>
              </a:rPr>
              <a:t>&gt;</a:t>
            </a:r>
            <a:endParaRPr lang="en-US" sz="3200" dirty="0"/>
          </a:p>
        </p:txBody>
      </p:sp>
      <p:sp>
        <p:nvSpPr>
          <p:cNvPr id="17" name="Shape 15"/>
          <p:cNvSpPr/>
          <p:nvPr/>
        </p:nvSpPr>
        <p:spPr>
          <a:xfrm>
            <a:off x="9029471" y="2468880"/>
            <a:ext cx="2522144" cy="1371600"/>
          </a:xfrm>
          <a:prstGeom prst="roundRect">
            <a:avLst>
              <a:gd name="adj" fmla="val 6000"/>
            </a:avLst>
          </a:prstGeom>
          <a:solidFill>
            <a:schemeClr val="tx2">
              <a:lumMod val="10000"/>
              <a:lumOff val="90000"/>
            </a:schemeClr>
          </a:solidFill>
          <a:ln w="12700">
            <a:solidFill>
              <a:srgbClr val="E2D6E8"/>
            </a:solidFill>
            <a:prstDash val="solid"/>
          </a:ln>
          <a:effectLst>
            <a:outerShdw blurRad="76200" dist="25400" dir="5400000" algn="bl" rotWithShape="0">
              <a:srgbClr val="B9A8C2">
                <a:alpha val="28000"/>
              </a:srgbClr>
            </a:outerShdw>
          </a:effectLst>
        </p:spPr>
        <p:txBody>
          <a:bodyPr/>
          <a:lstStyle/>
          <a:p>
            <a:endParaRPr lang="en-US" sz="2800"/>
          </a:p>
        </p:txBody>
      </p:sp>
      <p:sp>
        <p:nvSpPr>
          <p:cNvPr id="18" name="Text 16"/>
          <p:cNvSpPr/>
          <p:nvPr/>
        </p:nvSpPr>
        <p:spPr>
          <a:xfrm>
            <a:off x="9212351" y="2468880"/>
            <a:ext cx="2156384" cy="1371600"/>
          </a:xfrm>
          <a:prstGeom prst="rect">
            <a:avLst/>
          </a:prstGeom>
          <a:noFill/>
          <a:ln/>
        </p:spPr>
        <p:txBody>
          <a:bodyPr wrap="square" lIns="0" tIns="0" rIns="0" bIns="0" rtlCol="0" anchor="ctr"/>
          <a:lstStyle/>
          <a:p>
            <a:pPr marL="457200" indent="-457200">
              <a:lnSpc>
                <a:spcPts val="1600"/>
              </a:lnSpc>
              <a:buAutoNum type="arabicPlain" startAt="4"/>
            </a:pPr>
            <a:r>
              <a:rPr lang="en-US" sz="2000" b="1" dirty="0">
                <a:solidFill>
                  <a:srgbClr val="462250"/>
                </a:solidFill>
                <a:latin typeface="Calibri" pitchFamily="34" charset="0"/>
                <a:ea typeface="Calibri" pitchFamily="34" charset="-122"/>
                <a:cs typeface="Calibri" pitchFamily="34" charset="-120"/>
              </a:rPr>
              <a:t>Interpretation</a:t>
            </a:r>
          </a:p>
          <a:p>
            <a:pPr marL="514350" indent="-514350">
              <a:lnSpc>
                <a:spcPts val="1600"/>
              </a:lnSpc>
              <a:buAutoNum type="arabicPlain" startAt="4"/>
            </a:pPr>
            <a:endParaRPr lang="en-US" sz="3200" dirty="0"/>
          </a:p>
          <a:p>
            <a:pPr marL="0" indent="0">
              <a:lnSpc>
                <a:spcPts val="1600"/>
              </a:lnSpc>
              <a:buNone/>
            </a:pPr>
            <a:r>
              <a:rPr lang="en-US" sz="2000" dirty="0">
                <a:solidFill>
                  <a:srgbClr val="3C3443"/>
                </a:solidFill>
                <a:latin typeface="Calibri" pitchFamily="34" charset="0"/>
                <a:ea typeface="Calibri" pitchFamily="34" charset="-122"/>
                <a:cs typeface="Calibri" pitchFamily="34" charset="-120"/>
              </a:rPr>
              <a:t>hotspots, sensitivity</a:t>
            </a:r>
            <a:endParaRPr lang="en-US" sz="3600" dirty="0"/>
          </a:p>
        </p:txBody>
      </p:sp>
      <p:sp>
        <p:nvSpPr>
          <p:cNvPr id="19" name="Text 17"/>
          <p:cNvSpPr/>
          <p:nvPr/>
        </p:nvSpPr>
        <p:spPr>
          <a:xfrm>
            <a:off x="640080" y="4114800"/>
            <a:ext cx="10911535" cy="2011680"/>
          </a:xfrm>
          <a:prstGeom prst="rect">
            <a:avLst/>
          </a:prstGeom>
          <a:noFill/>
          <a:ln/>
        </p:spPr>
        <p:txBody>
          <a:bodyPr wrap="square" lIns="0" tIns="0" rIns="0" bIns="0" rtlCol="0" anchor="t"/>
          <a:lstStyle/>
          <a:p>
            <a:pPr marL="203200" indent="-203200">
              <a:lnSpc>
                <a:spcPts val="2100"/>
              </a:lnSpc>
              <a:spcAft>
                <a:spcPts val="900"/>
              </a:spcAft>
              <a:buSzPct val="100000"/>
              <a:buChar char="•"/>
            </a:pPr>
            <a:r>
              <a:rPr lang="en-US" sz="2400" dirty="0">
                <a:solidFill>
                  <a:srgbClr val="2C2233"/>
                </a:solidFill>
                <a:latin typeface="Calibri" pitchFamily="34" charset="0"/>
                <a:ea typeface="Calibri" pitchFamily="34" charset="-122"/>
                <a:cs typeface="Calibri" pitchFamily="34" charset="-120"/>
              </a:rPr>
              <a:t>Complements PEC/PNEC: RQ captures receiving-water risk; LCA captures the full manufacturing, use, and disposal footprint</a:t>
            </a:r>
          </a:p>
          <a:p>
            <a:pPr marL="203200" indent="-203200">
              <a:lnSpc>
                <a:spcPts val="2100"/>
              </a:lnSpc>
              <a:spcAft>
                <a:spcPts val="900"/>
              </a:spcAft>
              <a:buSzPct val="100000"/>
              <a:buFontTx/>
              <a:buChar char="•"/>
            </a:pPr>
            <a:r>
              <a:rPr lang="en-US" sz="2400" dirty="0">
                <a:solidFill>
                  <a:srgbClr val="22343A"/>
                </a:solidFill>
                <a:latin typeface="Calibri" panose="020F0502020204030204" pitchFamily="34" charset="0"/>
                <a:ea typeface="Calibri" pitchFamily="34" charset="-122"/>
                <a:cs typeface="Calibri" panose="020F0502020204030204" pitchFamily="34" charset="0"/>
              </a:rPr>
              <a:t>Impact categories: global warming potential in kg CO2e is the typical </a:t>
            </a:r>
            <a:r>
              <a:rPr lang="en-US" sz="2400" dirty="0" err="1">
                <a:solidFill>
                  <a:srgbClr val="22343A"/>
                </a:solidFill>
                <a:latin typeface="Calibri" panose="020F0502020204030204" pitchFamily="34" charset="0"/>
                <a:ea typeface="Calibri" pitchFamily="34" charset="-122"/>
                <a:cs typeface="Calibri" panose="020F0502020204030204" pitchFamily="34" charset="0"/>
              </a:rPr>
              <a:t>cateogry</a:t>
            </a:r>
            <a:endParaRPr lang="en-US" sz="2400" dirty="0"/>
          </a:p>
          <a:p>
            <a:pPr marL="203200" indent="-203200">
              <a:lnSpc>
                <a:spcPts val="2100"/>
              </a:lnSpc>
              <a:spcAft>
                <a:spcPts val="900"/>
              </a:spcAft>
              <a:buSzPct val="100000"/>
              <a:buChar char="•"/>
            </a:pPr>
            <a:r>
              <a:rPr lang="en-US" sz="2400" dirty="0">
                <a:solidFill>
                  <a:srgbClr val="2C2233"/>
                </a:solidFill>
                <a:latin typeface="Calibri" pitchFamily="34" charset="0"/>
                <a:ea typeface="Calibri" pitchFamily="34" charset="-122"/>
                <a:cs typeface="Calibri" pitchFamily="34" charset="-120"/>
              </a:rPr>
              <a:t>Limitation: sparse API inventory data; antimicrobial resistance usually omitted; Product Category Rules proposed to standardize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094415" cy="658368"/>
          </a:xfrm>
          <a:prstGeom prst="rect">
            <a:avLst/>
          </a:prstGeom>
          <a:noFill/>
          <a:ln/>
        </p:spPr>
        <p:txBody>
          <a:bodyPr wrap="square" lIns="0" tIns="0" rIns="0" bIns="0" rtlCol="0" anchor="t"/>
          <a:lstStyle/>
          <a:p>
            <a:pPr marL="0" indent="0" algn="l">
              <a:lnSpc>
                <a:spcPts val="3000"/>
              </a:lnSpc>
              <a:buNone/>
            </a:pPr>
            <a:r>
              <a:rPr lang="en-US" sz="3600" b="1" dirty="0">
                <a:latin typeface="Calibri" panose="020F0502020204030204" pitchFamily="34" charset="0"/>
                <a:ea typeface="Cambria" pitchFamily="34" charset="-122"/>
                <a:cs typeface="Calibri" panose="020F0502020204030204" pitchFamily="34" charset="0"/>
              </a:rPr>
              <a:t>Life-cycle assessment</a:t>
            </a:r>
            <a:endParaRPr lang="en-US" sz="3600" dirty="0">
              <a:latin typeface="Calibri" panose="020F0502020204030204" pitchFamily="34" charset="0"/>
              <a:cs typeface="Calibri" panose="020F0502020204030204" pitchFamily="34" charset="0"/>
            </a:endParaRPr>
          </a:p>
        </p:txBody>
      </p:sp>
      <p:sp>
        <p:nvSpPr>
          <p:cNvPr id="6" name="Text 4"/>
          <p:cNvSpPr/>
          <p:nvPr/>
        </p:nvSpPr>
        <p:spPr>
          <a:xfrm>
            <a:off x="643955" y="3108960"/>
            <a:ext cx="10999099" cy="3483864"/>
          </a:xfrm>
          <a:prstGeom prst="rect">
            <a:avLst/>
          </a:prstGeom>
          <a:noFill/>
          <a:ln/>
        </p:spPr>
        <p:txBody>
          <a:bodyPr wrap="square" lIns="0" tIns="0" rIns="0" bIns="0" rtlCol="0" anchor="t"/>
          <a:lstStyle/>
          <a:p>
            <a:pPr marL="177800" indent="-177800">
              <a:spcAft>
                <a:spcPts val="800"/>
              </a:spcAft>
              <a:buSzPct val="100000"/>
              <a:buChar char="•"/>
            </a:pPr>
            <a:r>
              <a:rPr lang="en-US" sz="2800" dirty="0">
                <a:solidFill>
                  <a:srgbClr val="22343A"/>
                </a:solidFill>
                <a:latin typeface="Calibri" panose="020F0502020204030204" pitchFamily="34" charset="0"/>
                <a:ea typeface="Calibri" pitchFamily="34" charset="-122"/>
                <a:cs typeface="Calibri" panose="020F0502020204030204" pitchFamily="34" charset="0"/>
              </a:rPr>
              <a:t>Functional unit: linked to the question and system boundary (e.g., one treatment course)</a:t>
            </a:r>
            <a:endParaRPr lang="en-US" sz="2800" dirty="0">
              <a:latin typeface="Calibri" panose="020F0502020204030204" pitchFamily="34" charset="0"/>
              <a:cs typeface="Calibri" panose="020F0502020204030204" pitchFamily="34" charset="0"/>
            </a:endParaRPr>
          </a:p>
          <a:p>
            <a:pPr marL="177800" indent="-177800">
              <a:spcAft>
                <a:spcPts val="800"/>
              </a:spcAft>
              <a:buSzPct val="100000"/>
              <a:buFontTx/>
              <a:buChar char="•"/>
            </a:pPr>
            <a:r>
              <a:rPr lang="en-US" sz="2800" dirty="0">
                <a:solidFill>
                  <a:srgbClr val="22343A"/>
                </a:solidFill>
                <a:latin typeface="Calibri" panose="020F0502020204030204" pitchFamily="34" charset="0"/>
                <a:ea typeface="Calibri" pitchFamily="34" charset="-122"/>
                <a:cs typeface="Calibri" panose="020F0502020204030204" pitchFamily="34" charset="0"/>
              </a:rPr>
              <a:t>System boundary: cradle-to-gate versus cradle-to-grave</a:t>
            </a:r>
            <a:endParaRPr lang="en-US" sz="2800" dirty="0">
              <a:latin typeface="Calibri" panose="020F0502020204030204" pitchFamily="34" charset="0"/>
              <a:cs typeface="Calibri" panose="020F0502020204030204" pitchFamily="34" charset="0"/>
            </a:endParaRPr>
          </a:p>
          <a:p>
            <a:pPr marL="177800" indent="-177800">
              <a:spcAft>
                <a:spcPts val="800"/>
              </a:spcAft>
              <a:buSzPct val="100000"/>
              <a:buFontTx/>
              <a:buChar char="•"/>
            </a:pPr>
            <a:r>
              <a:rPr lang="en-US" sz="2800" dirty="0">
                <a:solidFill>
                  <a:srgbClr val="22343A"/>
                </a:solidFill>
                <a:latin typeface="Calibri" panose="020F0502020204030204" pitchFamily="34" charset="0"/>
                <a:ea typeface="Calibri" pitchFamily="34" charset="-122"/>
                <a:cs typeface="Calibri" panose="020F0502020204030204" pitchFamily="34" charset="0"/>
              </a:rPr>
              <a:t>Scopes 1, 2, 3 (direct, purchased energy, supply chain); scope 3 dominates for pharmaceuticals</a:t>
            </a:r>
          </a:p>
          <a:p>
            <a:pPr marL="177800" indent="-177800">
              <a:spcAft>
                <a:spcPts val="800"/>
              </a:spcAft>
              <a:buSzPct val="100000"/>
              <a:buChar char="•"/>
            </a:pPr>
            <a:r>
              <a:rPr lang="en-US" sz="2800" dirty="0">
                <a:solidFill>
                  <a:srgbClr val="22343A"/>
                </a:solidFill>
                <a:latin typeface="Calibri" panose="020F0502020204030204" pitchFamily="34" charset="0"/>
                <a:ea typeface="Calibri" pitchFamily="34" charset="-122"/>
                <a:cs typeface="Calibri" panose="020F0502020204030204" pitchFamily="34" charset="0"/>
              </a:rPr>
              <a:t>Approaches: process-based, input-output, or hybrid</a:t>
            </a:r>
            <a:endParaRPr lang="en-US" sz="2800" dirty="0">
              <a:latin typeface="Calibri" panose="020F0502020204030204" pitchFamily="34" charset="0"/>
              <a:cs typeface="Calibri" panose="020F0502020204030204" pitchFamily="34" charset="0"/>
            </a:endParaRPr>
          </a:p>
        </p:txBody>
      </p:sp>
      <p:grpSp>
        <p:nvGrpSpPr>
          <p:cNvPr id="38" name="Group 37">
            <a:extLst>
              <a:ext uri="{FF2B5EF4-FFF2-40B4-BE49-F238E27FC236}">
                <a16:creationId xmlns:a16="http://schemas.microsoft.com/office/drawing/2014/main" id="{2E31F2F2-E20A-A373-32C6-39291A63B0E6}"/>
              </a:ext>
            </a:extLst>
          </p:cNvPr>
          <p:cNvGrpSpPr/>
          <p:nvPr/>
        </p:nvGrpSpPr>
        <p:grpSpPr>
          <a:xfrm>
            <a:off x="643956" y="1234440"/>
            <a:ext cx="10762797" cy="1768356"/>
            <a:chOff x="643956" y="1234440"/>
            <a:chExt cx="5790895" cy="1405378"/>
          </a:xfrm>
        </p:grpSpPr>
        <p:sp>
          <p:nvSpPr>
            <p:cNvPr id="19" name="Text 17"/>
            <p:cNvSpPr/>
            <p:nvPr/>
          </p:nvSpPr>
          <p:spPr>
            <a:xfrm>
              <a:off x="689676" y="1234440"/>
              <a:ext cx="5699455" cy="274320"/>
            </a:xfrm>
            <a:prstGeom prst="rect">
              <a:avLst/>
            </a:prstGeom>
            <a:noFill/>
            <a:ln/>
          </p:spPr>
          <p:txBody>
            <a:bodyPr wrap="square" lIns="0" tIns="0" rIns="0" bIns="0" rtlCol="0" anchor="ctr"/>
            <a:lstStyle/>
            <a:p>
              <a:pPr marL="0" indent="0">
                <a:buNone/>
              </a:pPr>
              <a:r>
                <a:rPr lang="en-US" sz="2800" b="1" kern="0" spc="150" dirty="0">
                  <a:solidFill>
                    <a:srgbClr val="5A6C72"/>
                  </a:solidFill>
                  <a:latin typeface="Calibri" panose="020F0502020204030204" pitchFamily="34" charset="0"/>
                  <a:ea typeface="Calibri" pitchFamily="34" charset="-122"/>
                  <a:cs typeface="Calibri" panose="020F0502020204030204" pitchFamily="34" charset="0"/>
                </a:rPr>
                <a:t>CRADLE                                GATE                       		 GRAVE</a:t>
              </a:r>
              <a:endParaRPr lang="en-US" sz="2800" dirty="0">
                <a:latin typeface="Calibri" panose="020F0502020204030204" pitchFamily="34" charset="0"/>
                <a:cs typeface="Calibri" panose="020F0502020204030204" pitchFamily="34" charset="0"/>
              </a:endParaRPr>
            </a:p>
          </p:txBody>
        </p:sp>
        <p:sp>
          <p:nvSpPr>
            <p:cNvPr id="20" name="Shape 18"/>
            <p:cNvSpPr/>
            <p:nvPr/>
          </p:nvSpPr>
          <p:spPr>
            <a:xfrm>
              <a:off x="689676" y="1572768"/>
              <a:ext cx="858469" cy="566928"/>
            </a:xfrm>
            <a:prstGeom prst="roundRect">
              <a:avLst>
                <a:gd name="adj" fmla="val 8065"/>
              </a:avLst>
            </a:prstGeom>
            <a:solidFill>
              <a:srgbClr val="D7E8E6"/>
            </a:solidFill>
            <a:ln w="12700">
              <a:solidFill>
                <a:srgbClr val="D5E2E0"/>
              </a:solidFill>
              <a:prstDash val="solid"/>
            </a:ln>
          </p:spPr>
          <p:txBody>
            <a:bodyPr/>
            <a:lstStyle/>
            <a:p>
              <a:endParaRPr lang="en-US" sz="4800">
                <a:latin typeface="Calibri" panose="020F0502020204030204" pitchFamily="34" charset="0"/>
                <a:cs typeface="Calibri" panose="020F0502020204030204" pitchFamily="34" charset="0"/>
              </a:endParaRPr>
            </a:p>
          </p:txBody>
        </p:sp>
        <p:sp>
          <p:nvSpPr>
            <p:cNvPr id="21" name="Text 19"/>
            <p:cNvSpPr/>
            <p:nvPr/>
          </p:nvSpPr>
          <p:spPr>
            <a:xfrm>
              <a:off x="643956" y="1572768"/>
              <a:ext cx="949909" cy="566928"/>
            </a:xfrm>
            <a:prstGeom prst="rect">
              <a:avLst/>
            </a:prstGeom>
            <a:noFill/>
            <a:ln/>
          </p:spPr>
          <p:txBody>
            <a:bodyPr wrap="square" lIns="0" tIns="0" rIns="0" bIns="0" rtlCol="0" anchor="ctr"/>
            <a:lstStyle/>
            <a:p>
              <a:pPr marL="0" indent="0" algn="ctr">
                <a:lnSpc>
                  <a:spcPts val="1000"/>
                </a:lnSpc>
                <a:buNone/>
              </a:pPr>
              <a:r>
                <a:rPr lang="en-US" b="1" dirty="0">
                  <a:solidFill>
                    <a:srgbClr val="084F54"/>
                  </a:solidFill>
                  <a:latin typeface="Calibri" panose="020F0502020204030204" pitchFamily="34" charset="0"/>
                  <a:ea typeface="Calibri" pitchFamily="34" charset="-122"/>
                  <a:cs typeface="Calibri" panose="020F0502020204030204" pitchFamily="34" charset="0"/>
                </a:rPr>
                <a:t>API synthesis</a:t>
              </a:r>
              <a:endParaRPr lang="en-US" dirty="0">
                <a:latin typeface="Calibri" panose="020F0502020204030204" pitchFamily="34" charset="0"/>
                <a:cs typeface="Calibri" panose="020F0502020204030204" pitchFamily="34" charset="0"/>
              </a:endParaRPr>
            </a:p>
          </p:txBody>
        </p:sp>
        <p:sp>
          <p:nvSpPr>
            <p:cNvPr id="22" name="Shape 20"/>
            <p:cNvSpPr/>
            <p:nvPr/>
          </p:nvSpPr>
          <p:spPr>
            <a:xfrm>
              <a:off x="1657873" y="1572768"/>
              <a:ext cx="858469" cy="566928"/>
            </a:xfrm>
            <a:prstGeom prst="roundRect">
              <a:avLst>
                <a:gd name="adj" fmla="val 8065"/>
              </a:avLst>
            </a:prstGeom>
            <a:solidFill>
              <a:srgbClr val="D7E8E6"/>
            </a:solidFill>
            <a:ln w="12700">
              <a:solidFill>
                <a:srgbClr val="D5E2E0"/>
              </a:solidFill>
              <a:prstDash val="solid"/>
            </a:ln>
          </p:spPr>
          <p:txBody>
            <a:bodyPr/>
            <a:lstStyle/>
            <a:p>
              <a:endParaRPr lang="en-US" sz="4800">
                <a:latin typeface="Calibri" panose="020F0502020204030204" pitchFamily="34" charset="0"/>
                <a:cs typeface="Calibri" panose="020F0502020204030204" pitchFamily="34" charset="0"/>
              </a:endParaRPr>
            </a:p>
          </p:txBody>
        </p:sp>
        <p:sp>
          <p:nvSpPr>
            <p:cNvPr id="23" name="Text 21"/>
            <p:cNvSpPr/>
            <p:nvPr/>
          </p:nvSpPr>
          <p:spPr>
            <a:xfrm>
              <a:off x="1612153" y="1572768"/>
              <a:ext cx="949909" cy="566928"/>
            </a:xfrm>
            <a:prstGeom prst="rect">
              <a:avLst/>
            </a:prstGeom>
            <a:noFill/>
            <a:ln/>
          </p:spPr>
          <p:txBody>
            <a:bodyPr wrap="square" lIns="0" tIns="0" rIns="0" bIns="0" rtlCol="0" anchor="ctr"/>
            <a:lstStyle/>
            <a:p>
              <a:pPr marL="0" indent="0" algn="ctr">
                <a:lnSpc>
                  <a:spcPts val="1000"/>
                </a:lnSpc>
                <a:buNone/>
              </a:pPr>
              <a:r>
                <a:rPr lang="en-US" b="1" dirty="0">
                  <a:solidFill>
                    <a:srgbClr val="084F54"/>
                  </a:solidFill>
                  <a:latin typeface="Calibri" panose="020F0502020204030204" pitchFamily="34" charset="0"/>
                  <a:ea typeface="Calibri" pitchFamily="34" charset="-122"/>
                  <a:cs typeface="Calibri" panose="020F0502020204030204" pitchFamily="34" charset="0"/>
                </a:rPr>
                <a:t>Manufacturing</a:t>
              </a:r>
              <a:endParaRPr lang="en-US" dirty="0">
                <a:latin typeface="Calibri" panose="020F0502020204030204" pitchFamily="34" charset="0"/>
                <a:cs typeface="Calibri" panose="020F0502020204030204" pitchFamily="34" charset="0"/>
              </a:endParaRPr>
            </a:p>
          </p:txBody>
        </p:sp>
        <p:sp>
          <p:nvSpPr>
            <p:cNvPr id="24" name="Shape 22"/>
            <p:cNvSpPr/>
            <p:nvPr/>
          </p:nvSpPr>
          <p:spPr>
            <a:xfrm>
              <a:off x="2626070" y="1572768"/>
              <a:ext cx="858469" cy="566928"/>
            </a:xfrm>
            <a:prstGeom prst="roundRect">
              <a:avLst>
                <a:gd name="adj" fmla="val 8065"/>
              </a:avLst>
            </a:prstGeom>
            <a:solidFill>
              <a:srgbClr val="D7E8E6"/>
            </a:solidFill>
            <a:ln w="12700">
              <a:solidFill>
                <a:srgbClr val="D5E2E0"/>
              </a:solidFill>
              <a:prstDash val="solid"/>
            </a:ln>
          </p:spPr>
          <p:txBody>
            <a:bodyPr/>
            <a:lstStyle/>
            <a:p>
              <a:endParaRPr lang="en-US" sz="4800">
                <a:latin typeface="Calibri" panose="020F0502020204030204" pitchFamily="34" charset="0"/>
                <a:cs typeface="Calibri" panose="020F0502020204030204" pitchFamily="34" charset="0"/>
              </a:endParaRPr>
            </a:p>
          </p:txBody>
        </p:sp>
        <p:sp>
          <p:nvSpPr>
            <p:cNvPr id="25" name="Text 23"/>
            <p:cNvSpPr/>
            <p:nvPr/>
          </p:nvSpPr>
          <p:spPr>
            <a:xfrm>
              <a:off x="2580350" y="1572768"/>
              <a:ext cx="949909" cy="566928"/>
            </a:xfrm>
            <a:prstGeom prst="rect">
              <a:avLst/>
            </a:prstGeom>
            <a:noFill/>
            <a:ln/>
          </p:spPr>
          <p:txBody>
            <a:bodyPr wrap="square" lIns="0" tIns="0" rIns="0" bIns="0" rtlCol="0" anchor="ctr"/>
            <a:lstStyle/>
            <a:p>
              <a:pPr marL="0" indent="0" algn="ctr">
                <a:lnSpc>
                  <a:spcPts val="1000"/>
                </a:lnSpc>
                <a:buNone/>
              </a:pPr>
              <a:r>
                <a:rPr lang="en-US" b="1" dirty="0">
                  <a:solidFill>
                    <a:srgbClr val="084F54"/>
                  </a:solidFill>
                  <a:latin typeface="Calibri" panose="020F0502020204030204" pitchFamily="34" charset="0"/>
                  <a:ea typeface="Calibri" pitchFamily="34" charset="-122"/>
                  <a:cs typeface="Calibri" panose="020F0502020204030204" pitchFamily="34" charset="0"/>
                </a:rPr>
                <a:t>Packaging</a:t>
              </a:r>
              <a:endParaRPr lang="en-US" dirty="0">
                <a:latin typeface="Calibri" panose="020F0502020204030204" pitchFamily="34" charset="0"/>
                <a:cs typeface="Calibri" panose="020F0502020204030204" pitchFamily="34" charset="0"/>
              </a:endParaRPr>
            </a:p>
          </p:txBody>
        </p:sp>
        <p:sp>
          <p:nvSpPr>
            <p:cNvPr id="26" name="Shape 24"/>
            <p:cNvSpPr/>
            <p:nvPr/>
          </p:nvSpPr>
          <p:spPr>
            <a:xfrm>
              <a:off x="3594268" y="1572768"/>
              <a:ext cx="858469" cy="566928"/>
            </a:xfrm>
            <a:prstGeom prst="roundRect">
              <a:avLst>
                <a:gd name="adj" fmla="val 8065"/>
              </a:avLst>
            </a:prstGeom>
            <a:solidFill>
              <a:srgbClr val="D7E8E6"/>
            </a:solidFill>
            <a:ln w="12700">
              <a:solidFill>
                <a:srgbClr val="D5E2E0"/>
              </a:solidFill>
              <a:prstDash val="solid"/>
            </a:ln>
          </p:spPr>
          <p:txBody>
            <a:bodyPr/>
            <a:lstStyle/>
            <a:p>
              <a:endParaRPr lang="en-US" sz="4800">
                <a:latin typeface="Calibri" panose="020F0502020204030204" pitchFamily="34" charset="0"/>
                <a:cs typeface="Calibri" panose="020F0502020204030204" pitchFamily="34" charset="0"/>
              </a:endParaRPr>
            </a:p>
          </p:txBody>
        </p:sp>
        <p:sp>
          <p:nvSpPr>
            <p:cNvPr id="27" name="Text 25"/>
            <p:cNvSpPr/>
            <p:nvPr/>
          </p:nvSpPr>
          <p:spPr>
            <a:xfrm>
              <a:off x="3548548" y="1572768"/>
              <a:ext cx="949909" cy="566928"/>
            </a:xfrm>
            <a:prstGeom prst="rect">
              <a:avLst/>
            </a:prstGeom>
            <a:noFill/>
            <a:ln/>
          </p:spPr>
          <p:txBody>
            <a:bodyPr wrap="square" lIns="0" tIns="0" rIns="0" bIns="0" rtlCol="0" anchor="ctr"/>
            <a:lstStyle/>
            <a:p>
              <a:pPr marL="0" indent="0" algn="ctr">
                <a:lnSpc>
                  <a:spcPts val="1000"/>
                </a:lnSpc>
                <a:buNone/>
              </a:pPr>
              <a:r>
                <a:rPr lang="en-US" b="1" dirty="0">
                  <a:solidFill>
                    <a:srgbClr val="084F54"/>
                  </a:solidFill>
                  <a:latin typeface="Calibri" panose="020F0502020204030204" pitchFamily="34" charset="0"/>
                  <a:ea typeface="Calibri" pitchFamily="34" charset="-122"/>
                  <a:cs typeface="Calibri" panose="020F0502020204030204" pitchFamily="34" charset="0"/>
                </a:rPr>
                <a:t>Distribution</a:t>
              </a:r>
              <a:endParaRPr lang="en-US" dirty="0">
                <a:latin typeface="Calibri" panose="020F0502020204030204" pitchFamily="34" charset="0"/>
                <a:cs typeface="Calibri" panose="020F0502020204030204" pitchFamily="34" charset="0"/>
              </a:endParaRPr>
            </a:p>
          </p:txBody>
        </p:sp>
        <p:sp>
          <p:nvSpPr>
            <p:cNvPr id="28" name="Shape 26"/>
            <p:cNvSpPr/>
            <p:nvPr/>
          </p:nvSpPr>
          <p:spPr>
            <a:xfrm>
              <a:off x="4562465" y="1572768"/>
              <a:ext cx="858469" cy="566928"/>
            </a:xfrm>
            <a:prstGeom prst="roundRect">
              <a:avLst>
                <a:gd name="adj" fmla="val 8065"/>
              </a:avLst>
            </a:prstGeom>
            <a:solidFill>
              <a:srgbClr val="EAF2F1"/>
            </a:solidFill>
            <a:ln w="12700">
              <a:solidFill>
                <a:srgbClr val="D5E2E0"/>
              </a:solidFill>
              <a:prstDash val="solid"/>
            </a:ln>
          </p:spPr>
          <p:txBody>
            <a:bodyPr/>
            <a:lstStyle/>
            <a:p>
              <a:endParaRPr lang="en-US" sz="4800">
                <a:latin typeface="Calibri" panose="020F0502020204030204" pitchFamily="34" charset="0"/>
                <a:cs typeface="Calibri" panose="020F0502020204030204" pitchFamily="34" charset="0"/>
              </a:endParaRPr>
            </a:p>
          </p:txBody>
        </p:sp>
        <p:sp>
          <p:nvSpPr>
            <p:cNvPr id="29" name="Text 27"/>
            <p:cNvSpPr/>
            <p:nvPr/>
          </p:nvSpPr>
          <p:spPr>
            <a:xfrm>
              <a:off x="4516745" y="1572768"/>
              <a:ext cx="949909" cy="566928"/>
            </a:xfrm>
            <a:prstGeom prst="rect">
              <a:avLst/>
            </a:prstGeom>
            <a:noFill/>
            <a:ln/>
          </p:spPr>
          <p:txBody>
            <a:bodyPr wrap="square" lIns="0" tIns="0" rIns="0" bIns="0" rtlCol="0" anchor="ctr"/>
            <a:lstStyle/>
            <a:p>
              <a:pPr marL="0" indent="0" algn="ctr">
                <a:lnSpc>
                  <a:spcPts val="1000"/>
                </a:lnSpc>
                <a:buNone/>
              </a:pPr>
              <a:r>
                <a:rPr lang="en-US" b="1" dirty="0">
                  <a:solidFill>
                    <a:srgbClr val="084F54"/>
                  </a:solidFill>
                  <a:latin typeface="Calibri" panose="020F0502020204030204" pitchFamily="34" charset="0"/>
                  <a:ea typeface="Calibri" pitchFamily="34" charset="-122"/>
                  <a:cs typeface="Calibri" panose="020F0502020204030204" pitchFamily="34" charset="0"/>
                </a:rPr>
                <a:t>Use</a:t>
              </a:r>
              <a:endParaRPr lang="en-US" dirty="0">
                <a:latin typeface="Calibri" panose="020F0502020204030204" pitchFamily="34" charset="0"/>
                <a:cs typeface="Calibri" panose="020F0502020204030204" pitchFamily="34" charset="0"/>
              </a:endParaRPr>
            </a:p>
          </p:txBody>
        </p:sp>
        <p:sp>
          <p:nvSpPr>
            <p:cNvPr id="30" name="Shape 28"/>
            <p:cNvSpPr/>
            <p:nvPr/>
          </p:nvSpPr>
          <p:spPr>
            <a:xfrm>
              <a:off x="5530662" y="1572768"/>
              <a:ext cx="858469" cy="566928"/>
            </a:xfrm>
            <a:prstGeom prst="roundRect">
              <a:avLst>
                <a:gd name="adj" fmla="val 8065"/>
              </a:avLst>
            </a:prstGeom>
            <a:solidFill>
              <a:srgbClr val="EAF2F1"/>
            </a:solidFill>
            <a:ln w="12700">
              <a:solidFill>
                <a:srgbClr val="D5E2E0"/>
              </a:solidFill>
              <a:prstDash val="solid"/>
            </a:ln>
          </p:spPr>
          <p:txBody>
            <a:bodyPr/>
            <a:lstStyle/>
            <a:p>
              <a:endParaRPr lang="en-US" sz="4400">
                <a:latin typeface="Calibri" panose="020F0502020204030204" pitchFamily="34" charset="0"/>
                <a:cs typeface="Calibri" panose="020F0502020204030204" pitchFamily="34" charset="0"/>
              </a:endParaRPr>
            </a:p>
          </p:txBody>
        </p:sp>
        <p:sp>
          <p:nvSpPr>
            <p:cNvPr id="31" name="Text 29"/>
            <p:cNvSpPr/>
            <p:nvPr/>
          </p:nvSpPr>
          <p:spPr>
            <a:xfrm>
              <a:off x="5484942" y="1572768"/>
              <a:ext cx="949909" cy="566928"/>
            </a:xfrm>
            <a:prstGeom prst="rect">
              <a:avLst/>
            </a:prstGeom>
            <a:noFill/>
            <a:ln/>
          </p:spPr>
          <p:txBody>
            <a:bodyPr wrap="square" lIns="0" tIns="0" rIns="0" bIns="0" rtlCol="0" anchor="ctr"/>
            <a:lstStyle/>
            <a:p>
              <a:pPr marL="0" indent="0" algn="ctr">
                <a:lnSpc>
                  <a:spcPts val="1000"/>
                </a:lnSpc>
                <a:buNone/>
              </a:pPr>
              <a:r>
                <a:rPr lang="en-US" sz="2000" b="1" dirty="0">
                  <a:solidFill>
                    <a:srgbClr val="084F54"/>
                  </a:solidFill>
                  <a:latin typeface="Calibri" panose="020F0502020204030204" pitchFamily="34" charset="0"/>
                  <a:ea typeface="Calibri" pitchFamily="34" charset="-122"/>
                  <a:cs typeface="Calibri" panose="020F0502020204030204" pitchFamily="34" charset="0"/>
                </a:rPr>
                <a:t>Disposal</a:t>
              </a:r>
              <a:endParaRPr lang="en-US" sz="2000" dirty="0">
                <a:latin typeface="Calibri" panose="020F0502020204030204" pitchFamily="34" charset="0"/>
                <a:cs typeface="Calibri" panose="020F0502020204030204" pitchFamily="34" charset="0"/>
              </a:endParaRPr>
            </a:p>
          </p:txBody>
        </p:sp>
        <p:sp>
          <p:nvSpPr>
            <p:cNvPr id="32" name="Shape 30"/>
            <p:cNvSpPr/>
            <p:nvPr/>
          </p:nvSpPr>
          <p:spPr>
            <a:xfrm>
              <a:off x="674178" y="2249424"/>
              <a:ext cx="3763061" cy="365760"/>
            </a:xfrm>
            <a:prstGeom prst="roundRect">
              <a:avLst>
                <a:gd name="adj" fmla="val 12500"/>
              </a:avLst>
            </a:prstGeom>
            <a:solidFill>
              <a:srgbClr val="0B6E75"/>
            </a:solidFill>
            <a:ln/>
          </p:spPr>
          <p:txBody>
            <a:bodyPr/>
            <a:lstStyle/>
            <a:p>
              <a:endParaRPr lang="en-US" sz="4400">
                <a:latin typeface="Calibri" panose="020F0502020204030204" pitchFamily="34" charset="0"/>
                <a:cs typeface="Calibri" panose="020F0502020204030204" pitchFamily="34" charset="0"/>
              </a:endParaRPr>
            </a:p>
          </p:txBody>
        </p:sp>
        <p:sp>
          <p:nvSpPr>
            <p:cNvPr id="33" name="Text 31"/>
            <p:cNvSpPr/>
            <p:nvPr/>
          </p:nvSpPr>
          <p:spPr>
            <a:xfrm>
              <a:off x="691692" y="2274058"/>
              <a:ext cx="3763061" cy="3657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anose="020F0502020204030204" pitchFamily="34" charset="0"/>
                  <a:ea typeface="Calibri" pitchFamily="34" charset="-122"/>
                  <a:cs typeface="Calibri" panose="020F0502020204030204" pitchFamily="34" charset="0"/>
                </a:rPr>
                <a:t>Scope 3 supply chain (dominant for pharmaceuticals)</a:t>
              </a:r>
              <a:endParaRPr lang="en-US" sz="2400" dirty="0">
                <a:latin typeface="Calibri" panose="020F0502020204030204" pitchFamily="34" charset="0"/>
                <a:cs typeface="Calibri" panose="020F0502020204030204" pitchFamily="34" charset="0"/>
              </a:endParaRPr>
            </a:p>
          </p:txBody>
        </p:sp>
      </p:grpSp>
      <p:sp>
        <p:nvSpPr>
          <p:cNvPr id="37" name="Text 35"/>
          <p:cNvSpPr/>
          <p:nvPr/>
        </p:nvSpPr>
        <p:spPr>
          <a:xfrm>
            <a:off x="11094415" y="6455664"/>
            <a:ext cx="548640" cy="274320"/>
          </a:xfrm>
          <a:prstGeom prst="rect">
            <a:avLst/>
          </a:prstGeom>
          <a:noFill/>
          <a:ln/>
        </p:spPr>
        <p:txBody>
          <a:bodyPr wrap="square" lIns="0" tIns="0" rIns="0" bIns="0" rtlCol="0" anchor="ctr"/>
          <a:lstStyle/>
          <a:p>
            <a:pPr marL="0" indent="0" algn="r">
              <a:buNone/>
            </a:pPr>
            <a:r>
              <a:rPr lang="en-US" sz="900" dirty="0">
                <a:solidFill>
                  <a:srgbClr val="5A6C72"/>
                </a:solidFill>
                <a:latin typeface="Calibri" panose="020F0502020204030204" pitchFamily="34" charset="0"/>
                <a:ea typeface="Calibri" pitchFamily="34" charset="-122"/>
                <a:cs typeface="Calibri" panose="020F0502020204030204" pitchFamily="34" charset="0"/>
              </a:rPr>
              <a:t>9</a:t>
            </a:r>
            <a:endParaRPr lang="en-US" sz="900" dirty="0">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E62CF2A-27AA-C908-0A55-2A711F082C79}"/>
              </a:ext>
            </a:extLst>
          </p:cNvPr>
          <p:cNvGraphicFramePr>
            <a:graphicFrameLocks noGrp="1"/>
          </p:cNvGraphicFramePr>
          <p:nvPr>
            <p:extLst>
              <p:ext uri="{D42A27DB-BD31-4B8C-83A1-F6EECF244321}">
                <p14:modId xmlns:p14="http://schemas.microsoft.com/office/powerpoint/2010/main" val="3446668321"/>
              </p:ext>
            </p:extLst>
          </p:nvPr>
        </p:nvGraphicFramePr>
        <p:xfrm>
          <a:off x="217716" y="174168"/>
          <a:ext cx="11740243" cy="6843318"/>
        </p:xfrm>
        <a:graphic>
          <a:graphicData uri="http://schemas.openxmlformats.org/drawingml/2006/table">
            <a:tbl>
              <a:tblPr/>
              <a:tblGrid>
                <a:gridCol w="1166241">
                  <a:extLst>
                    <a:ext uri="{9D8B030D-6E8A-4147-A177-3AD203B41FA5}">
                      <a16:colId xmlns:a16="http://schemas.microsoft.com/office/drawing/2014/main" val="673312549"/>
                    </a:ext>
                  </a:extLst>
                </a:gridCol>
                <a:gridCol w="1940011">
                  <a:extLst>
                    <a:ext uri="{9D8B030D-6E8A-4147-A177-3AD203B41FA5}">
                      <a16:colId xmlns:a16="http://schemas.microsoft.com/office/drawing/2014/main" val="4161609617"/>
                    </a:ext>
                  </a:extLst>
                </a:gridCol>
                <a:gridCol w="2557848">
                  <a:extLst>
                    <a:ext uri="{9D8B030D-6E8A-4147-A177-3AD203B41FA5}">
                      <a16:colId xmlns:a16="http://schemas.microsoft.com/office/drawing/2014/main" val="761560763"/>
                    </a:ext>
                  </a:extLst>
                </a:gridCol>
                <a:gridCol w="939114">
                  <a:extLst>
                    <a:ext uri="{9D8B030D-6E8A-4147-A177-3AD203B41FA5}">
                      <a16:colId xmlns:a16="http://schemas.microsoft.com/office/drawing/2014/main" val="664617571"/>
                    </a:ext>
                  </a:extLst>
                </a:gridCol>
                <a:gridCol w="1223319">
                  <a:extLst>
                    <a:ext uri="{9D8B030D-6E8A-4147-A177-3AD203B41FA5}">
                      <a16:colId xmlns:a16="http://schemas.microsoft.com/office/drawing/2014/main" val="3185512401"/>
                    </a:ext>
                  </a:extLst>
                </a:gridCol>
                <a:gridCol w="1692875">
                  <a:extLst>
                    <a:ext uri="{9D8B030D-6E8A-4147-A177-3AD203B41FA5}">
                      <a16:colId xmlns:a16="http://schemas.microsoft.com/office/drawing/2014/main" val="3184401989"/>
                    </a:ext>
                  </a:extLst>
                </a:gridCol>
                <a:gridCol w="2220835">
                  <a:extLst>
                    <a:ext uri="{9D8B030D-6E8A-4147-A177-3AD203B41FA5}">
                      <a16:colId xmlns:a16="http://schemas.microsoft.com/office/drawing/2014/main" val="2394963109"/>
                    </a:ext>
                  </a:extLst>
                </a:gridCol>
              </a:tblGrid>
              <a:tr h="609094">
                <a:tc>
                  <a:txBody>
                    <a:bodyPr/>
                    <a:lstStyle/>
                    <a:p>
                      <a:pPr marL="0" marR="0">
                        <a:buNone/>
                      </a:pPr>
                      <a:r>
                        <a:rPr lang="en-US" sz="1400" b="1" dirty="0">
                          <a:solidFill>
                            <a:srgbClr val="000000"/>
                          </a:solidFill>
                          <a:effectLst/>
                          <a:latin typeface="Helvetica Neue" panose="02000503000000020004" pitchFamily="2" charset="0"/>
                        </a:rPr>
                        <a:t>Functional unit</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Typical system boundary</a:t>
                      </a:r>
                      <a:endParaRPr lang="en-US" sz="44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Research question / decision influenced</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Application</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Example use case</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Representative finding</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marL="0" marR="0">
                        <a:buNone/>
                      </a:pPr>
                      <a:r>
                        <a:rPr lang="en-US" sz="1400" b="1" dirty="0">
                          <a:solidFill>
                            <a:srgbClr val="000000"/>
                          </a:solidFill>
                          <a:effectLst/>
                          <a:latin typeface="Helvetica Neue" panose="02000503000000020004" pitchFamily="2" charset="0"/>
                        </a:rPr>
                        <a:t>References</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012895787"/>
                  </a:ext>
                </a:extLst>
              </a:tr>
              <a:tr h="987056">
                <a:tc>
                  <a:txBody>
                    <a:bodyPr/>
                    <a:lstStyle/>
                    <a:p>
                      <a:pPr marL="0" marR="0">
                        <a:buNone/>
                      </a:pPr>
                      <a:r>
                        <a:rPr lang="en-US" sz="1400" b="1" dirty="0">
                          <a:solidFill>
                            <a:srgbClr val="000000"/>
                          </a:solidFill>
                          <a:effectLst/>
                          <a:latin typeface="Helvetica Neue" panose="02000503000000020004" pitchFamily="2" charset="0"/>
                        </a:rPr>
                        <a:t>Per gram/kg API</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a:solidFill>
                            <a:srgbClr val="000000"/>
                          </a:solidFill>
                          <a:effectLst/>
                          <a:latin typeface="Helvetica Neue" panose="02000503000000020004" pitchFamily="2" charset="0"/>
                        </a:rPr>
                        <a:t>Cradle-to-gate (process/gate-to-gate for step comparisons)</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"Which manufacturing steps drive a drug's carbon footprint, and does green chemistry reduce it?"</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Business / process R&amp;D</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Manufacturing hotspot analysis</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Omitted synthesis/auxiliary operations add 3–49% to footprint</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Ansar et al., ACS Sustain Chem Eng, 2025 [1]; Satta et al., Environ Sci Pollut Res Int, 2026 [2]</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7532314"/>
                  </a:ext>
                </a:extLst>
              </a:tr>
              <a:tr h="987056">
                <a:tc>
                  <a:txBody>
                    <a:bodyPr/>
                    <a:lstStyle/>
                    <a:p>
                      <a:pPr marL="0" marR="0">
                        <a:buNone/>
                      </a:pPr>
                      <a:r>
                        <a:rPr lang="en-US" sz="1400" b="1">
                          <a:solidFill>
                            <a:srgbClr val="000000"/>
                          </a:solidFill>
                          <a:effectLst/>
                          <a:latin typeface="Helvetica Neue" panose="02000503000000020004" pitchFamily="2" charset="0"/>
                        </a:rPr>
                        <a:t>Per dose / route of administration</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a:solidFill>
                            <a:srgbClr val="000000"/>
                          </a:solidFill>
                          <a:effectLst/>
                          <a:latin typeface="Helvetica Neue" panose="02000503000000020004" pitchFamily="2" charset="0"/>
                        </a:rPr>
                        <a:t>Cradle-to-grave (production + administration consumables + disposal)</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"For an analgesic indicated in both forms, does IV or oral delivery carry the lower footprint?"</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Clinical (route/formulation choice)</a:t>
                      </a:r>
                      <a:endParaRPr lang="en-US" sz="44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Perioperative IV vs oral paracetamol</a:t>
                      </a:r>
                      <a:endParaRPr lang="en-US" sz="44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IV paracetamol ~12× higher than oral tablet (310–628 vs 38 gCO2e per 1 g dose)</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Davies et al., Br J </a:t>
                      </a:r>
                      <a:r>
                        <a:rPr lang="en-US" sz="1400" dirty="0" err="1">
                          <a:solidFill>
                            <a:srgbClr val="000000"/>
                          </a:solidFill>
                          <a:effectLst/>
                          <a:latin typeface="Helvetica Neue" panose="02000503000000020004" pitchFamily="2" charset="0"/>
                        </a:rPr>
                        <a:t>Anaesth</a:t>
                      </a:r>
                      <a:r>
                        <a:rPr lang="en-US" sz="1400" dirty="0">
                          <a:solidFill>
                            <a:srgbClr val="000000"/>
                          </a:solidFill>
                          <a:effectLst/>
                          <a:latin typeface="Helvetica Neue" panose="02000503000000020004" pitchFamily="2" charset="0"/>
                        </a:rPr>
                        <a:t>, 2024 [3]</a:t>
                      </a:r>
                      <a:endParaRPr lang="en-US" sz="44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904862"/>
                  </a:ext>
                </a:extLst>
              </a:tr>
              <a:tr h="987056">
                <a:tc>
                  <a:txBody>
                    <a:bodyPr/>
                    <a:lstStyle/>
                    <a:p>
                      <a:pPr marL="0" marR="0">
                        <a:buNone/>
                      </a:pPr>
                      <a:r>
                        <a:rPr lang="en-US" sz="1400" b="1">
                          <a:solidFill>
                            <a:srgbClr val="000000"/>
                          </a:solidFill>
                          <a:effectLst/>
                          <a:latin typeface="Helvetica Neue" panose="02000503000000020004" pitchFamily="2" charset="0"/>
                        </a:rPr>
                        <a:t>Per patient-year / course</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a:solidFill>
                            <a:srgbClr val="000000"/>
                          </a:solidFill>
                          <a:effectLst/>
                          <a:latin typeface="Helvetica Neue" panose="02000503000000020004" pitchFamily="2" charset="0"/>
                        </a:rPr>
                        <a:t>Cradle-to-grave (full course incl. use phase + end-of-life)</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"Among therapeutically comparable biologics, which is the lower-emission choice over a year of treatment?"</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Clinical (therapeutic selection)</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Second-line RA biologics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286–2,047 kgCO2e/year across options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err="1">
                          <a:solidFill>
                            <a:srgbClr val="000000"/>
                          </a:solidFill>
                          <a:effectLst/>
                          <a:latin typeface="Helvetica Neue" panose="02000503000000020004" pitchFamily="2" charset="0"/>
                        </a:rPr>
                        <a:t>Taillemite</a:t>
                      </a:r>
                      <a:r>
                        <a:rPr lang="en-US" sz="1400" dirty="0">
                          <a:solidFill>
                            <a:srgbClr val="000000"/>
                          </a:solidFill>
                          <a:effectLst/>
                          <a:latin typeface="Helvetica Neue" panose="02000503000000020004" pitchFamily="2" charset="0"/>
                        </a:rPr>
                        <a:t> et al., Clin </a:t>
                      </a:r>
                      <a:r>
                        <a:rPr lang="en-US" sz="1400" dirty="0" err="1">
                          <a:solidFill>
                            <a:srgbClr val="000000"/>
                          </a:solidFill>
                          <a:effectLst/>
                          <a:latin typeface="Helvetica Neue" panose="02000503000000020004" pitchFamily="2" charset="0"/>
                        </a:rPr>
                        <a:t>Pharmacol</a:t>
                      </a:r>
                      <a:r>
                        <a:rPr lang="en-US" sz="1400" dirty="0">
                          <a:solidFill>
                            <a:srgbClr val="000000"/>
                          </a:solidFill>
                          <a:effectLst/>
                          <a:latin typeface="Helvetica Neue" panose="02000503000000020004" pitchFamily="2" charset="0"/>
                        </a:rPr>
                        <a:t> Ther, 2026 [4]</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9849060"/>
                  </a:ext>
                </a:extLst>
              </a:tr>
              <a:tr h="987056">
                <a:tc>
                  <a:txBody>
                    <a:bodyPr/>
                    <a:lstStyle/>
                    <a:p>
                      <a:pPr marL="0" marR="0">
                        <a:buNone/>
                      </a:pPr>
                      <a:r>
                        <a:rPr lang="en-US" sz="1400" b="1" dirty="0">
                          <a:solidFill>
                            <a:srgbClr val="000000"/>
                          </a:solidFill>
                          <a:effectLst/>
                          <a:latin typeface="Helvetica Neue" panose="02000503000000020004" pitchFamily="2" charset="0"/>
                        </a:rPr>
                        <a:t>Per treatment vs no treatment (QALY/DALY)</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a:solidFill>
                            <a:srgbClr val="000000"/>
                          </a:solidFill>
                          <a:effectLst/>
                          <a:latin typeface="Helvetica Neue" panose="02000503000000020004" pitchFamily="2" charset="0"/>
                        </a:rPr>
                        <a:t>Cradle-to-grave (production + use + disposal, required for net-health metric)</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"Is a treatment's environmental health burden justified by the health benefit it delivers?"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Clinical + HTA / reimbursement</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Net benefit-vs-burden analysis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Integrated net human-health metric (QALYs vs DALYs)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err="1">
                          <a:solidFill>
                            <a:srgbClr val="000000"/>
                          </a:solidFill>
                          <a:effectLst/>
                          <a:latin typeface="Helvetica Neue" panose="02000503000000020004" pitchFamily="2" charset="0"/>
                        </a:rPr>
                        <a:t>Debaveye</a:t>
                      </a:r>
                      <a:r>
                        <a:rPr lang="en-US" sz="1400" dirty="0">
                          <a:solidFill>
                            <a:srgbClr val="000000"/>
                          </a:solidFill>
                          <a:effectLst/>
                          <a:latin typeface="Helvetica Neue" panose="02000503000000020004" pitchFamily="2" charset="0"/>
                        </a:rPr>
                        <a:t> et al., Environ Res, 2016 [5]</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6193702"/>
                  </a:ext>
                </a:extLst>
              </a:tr>
              <a:tr h="987056">
                <a:tc>
                  <a:txBody>
                    <a:bodyPr/>
                    <a:lstStyle/>
                    <a:p>
                      <a:pPr marL="0" marR="0">
                        <a:buNone/>
                      </a:pPr>
                      <a:r>
                        <a:rPr lang="en-US" sz="1400" b="1">
                          <a:solidFill>
                            <a:srgbClr val="000000"/>
                          </a:solidFill>
                          <a:effectLst/>
                          <a:latin typeface="Helvetica Neue" panose="02000503000000020004" pitchFamily="2" charset="0"/>
                        </a:rPr>
                        <a:t>Per dollar spent (EIO-LCA)</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a:solidFill>
                            <a:srgbClr val="000000"/>
                          </a:solidFill>
                          <a:effectLst/>
                          <a:latin typeface="Helvetica Neue" panose="02000503000000020004" pitchFamily="2" charset="0"/>
                        </a:rPr>
                        <a:t>Economy-wide / cradle-to-grave via input-output (boundary set by economic sectors)</a:t>
                      </a:r>
                      <a:endParaRPr lang="en-US" sz="44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"What is the climate cost of pharmaceutical waste in this procedure when process data are unavailable?"</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Healthcare business / operational</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Discarded drugs in cataract surgery</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Unused-drug spend converted to kgCO2e</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a:solidFill>
                            <a:srgbClr val="000000"/>
                          </a:solidFill>
                          <a:effectLst/>
                          <a:latin typeface="Helvetica Neue" panose="02000503000000020004" pitchFamily="2" charset="0"/>
                        </a:rPr>
                        <a:t>Tauber et al., JAMA </a:t>
                      </a:r>
                      <a:r>
                        <a:rPr lang="en-US" sz="1400" dirty="0" err="1">
                          <a:solidFill>
                            <a:srgbClr val="000000"/>
                          </a:solidFill>
                          <a:effectLst/>
                          <a:latin typeface="Helvetica Neue" panose="02000503000000020004" pitchFamily="2" charset="0"/>
                        </a:rPr>
                        <a:t>Ophthalmol</a:t>
                      </a:r>
                      <a:r>
                        <a:rPr lang="en-US" sz="1400" dirty="0">
                          <a:solidFill>
                            <a:srgbClr val="000000"/>
                          </a:solidFill>
                          <a:effectLst/>
                          <a:latin typeface="Helvetica Neue" panose="02000503000000020004" pitchFamily="2" charset="0"/>
                        </a:rPr>
                        <a:t>, 2019 [6]</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9667539"/>
                  </a:ext>
                </a:extLst>
              </a:tr>
              <a:tr h="987056">
                <a:tc>
                  <a:txBody>
                    <a:bodyPr/>
                    <a:lstStyle/>
                    <a:p>
                      <a:pPr marL="0" marR="0">
                        <a:buNone/>
                      </a:pPr>
                      <a:r>
                        <a:rPr lang="en-US" sz="1400" b="1">
                          <a:solidFill>
                            <a:srgbClr val="000000"/>
                          </a:solidFill>
                          <a:effectLst/>
                          <a:latin typeface="Helvetica Neue" panose="02000503000000020004" pitchFamily="2" charset="0"/>
                        </a:rPr>
                        <a:t>Per capita / region / global</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a:buNone/>
                      </a:pPr>
                      <a:r>
                        <a:rPr lang="en-US" sz="1400" dirty="0">
                          <a:solidFill>
                            <a:srgbClr val="000000"/>
                          </a:solidFill>
                          <a:effectLst/>
                          <a:latin typeface="Helvetica Neue" panose="02000503000000020004" pitchFamily="2" charset="0"/>
                        </a:rPr>
                        <a:t>Cradle-to-gate consumption + production (input-output, national/global)</a:t>
                      </a:r>
                      <a:endParaRPr lang="en-US" sz="44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"How is the sector's footprint growing, and where should mitigation policy and supply-chain targets focus?"</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Policy / system planning</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Global pharmaceutical footprint over time</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a:solidFill>
                            <a:srgbClr val="000000"/>
                          </a:solidFill>
                          <a:effectLst/>
                          <a:latin typeface="Helvetica Neue" panose="02000503000000020004" pitchFamily="2" charset="0"/>
                        </a:rPr>
                        <a:t>+77% (1995–2019); HIC 9–10× LMIC per capita</a:t>
                      </a:r>
                      <a:endParaRPr lang="en-US" sz="360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a:buNone/>
                      </a:pPr>
                      <a:r>
                        <a:rPr lang="en-US" sz="1400" dirty="0" err="1">
                          <a:solidFill>
                            <a:srgbClr val="000000"/>
                          </a:solidFill>
                          <a:effectLst/>
                          <a:latin typeface="Helvetica Neue" panose="02000503000000020004" pitchFamily="2" charset="0"/>
                        </a:rPr>
                        <a:t>Hagenaars</a:t>
                      </a:r>
                      <a:r>
                        <a:rPr lang="en-US" sz="1400" dirty="0">
                          <a:solidFill>
                            <a:srgbClr val="000000"/>
                          </a:solidFill>
                          <a:effectLst/>
                          <a:latin typeface="Helvetica Neue" panose="02000503000000020004" pitchFamily="2" charset="0"/>
                        </a:rPr>
                        <a:t> et al., Lancet Planet Health, 2025 [7]</a:t>
                      </a:r>
                      <a:endParaRPr lang="en-US" sz="3600" dirty="0">
                        <a:effectLst/>
                      </a:endParaRPr>
                    </a:p>
                  </a:txBody>
                  <a:tcPr marL="27959" marR="27959" marT="27959" marB="27959">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1151982"/>
                  </a:ext>
                </a:extLst>
              </a:tr>
            </a:tbl>
          </a:graphicData>
        </a:graphic>
      </p:graphicFrame>
    </p:spTree>
    <p:extLst>
      <p:ext uri="{BB962C8B-B14F-4D97-AF65-F5344CB8AC3E}">
        <p14:creationId xmlns:p14="http://schemas.microsoft.com/office/powerpoint/2010/main" val="2333720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5" name="Text 3"/>
          <p:cNvSpPr/>
          <p:nvPr/>
        </p:nvSpPr>
        <p:spPr>
          <a:xfrm>
            <a:off x="640080" y="108413"/>
            <a:ext cx="10911535" cy="777240"/>
          </a:xfrm>
          <a:prstGeom prst="rect">
            <a:avLst/>
          </a:prstGeom>
          <a:noFill/>
          <a:ln/>
        </p:spPr>
        <p:txBody>
          <a:bodyPr wrap="square" lIns="0" tIns="0" rIns="0" bIns="0" rtlCol="0" anchor="t"/>
          <a:lstStyle/>
          <a:p>
            <a:pPr marL="0" indent="0" algn="l">
              <a:lnSpc>
                <a:spcPts val="3000"/>
              </a:lnSpc>
              <a:buNone/>
            </a:pPr>
            <a:r>
              <a:rPr lang="en-US" sz="3200" b="1" dirty="0">
                <a:latin typeface="Calibri" pitchFamily="34" charset="0"/>
                <a:ea typeface="Calibri" pitchFamily="34" charset="-122"/>
                <a:cs typeface="Calibri" pitchFamily="34" charset="-120"/>
              </a:rPr>
              <a:t>Three methods at a glance</a:t>
            </a:r>
            <a:endParaRPr lang="en-US" sz="3200" dirty="0"/>
          </a:p>
        </p:txBody>
      </p:sp>
      <p:sp>
        <p:nvSpPr>
          <p:cNvPr id="6" name="Shape 4"/>
          <p:cNvSpPr/>
          <p:nvPr/>
        </p:nvSpPr>
        <p:spPr>
          <a:xfrm>
            <a:off x="640080" y="1481328"/>
            <a:ext cx="1371600" cy="50292"/>
          </a:xfrm>
          <a:prstGeom prst="rect">
            <a:avLst/>
          </a:prstGeom>
          <a:solidFill>
            <a:srgbClr val="EE8A2E"/>
          </a:solidFill>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276453519"/>
              </p:ext>
            </p:extLst>
          </p:nvPr>
        </p:nvGraphicFramePr>
        <p:xfrm>
          <a:off x="278658" y="547851"/>
          <a:ext cx="11608543" cy="5881335"/>
        </p:xfrm>
        <a:graphic>
          <a:graphicData uri="http://schemas.openxmlformats.org/drawingml/2006/table">
            <a:tbl>
              <a:tblPr/>
              <a:tblGrid>
                <a:gridCol w="1456944">
                  <a:extLst>
                    <a:ext uri="{9D8B030D-6E8A-4147-A177-3AD203B41FA5}">
                      <a16:colId xmlns:a16="http://schemas.microsoft.com/office/drawing/2014/main" val="20000"/>
                    </a:ext>
                  </a:extLst>
                </a:gridCol>
                <a:gridCol w="3383655">
                  <a:extLst>
                    <a:ext uri="{9D8B030D-6E8A-4147-A177-3AD203B41FA5}">
                      <a16:colId xmlns:a16="http://schemas.microsoft.com/office/drawing/2014/main" val="1745237303"/>
                    </a:ext>
                  </a:extLst>
                </a:gridCol>
                <a:gridCol w="3383655">
                  <a:extLst>
                    <a:ext uri="{9D8B030D-6E8A-4147-A177-3AD203B41FA5}">
                      <a16:colId xmlns:a16="http://schemas.microsoft.com/office/drawing/2014/main" val="20001"/>
                    </a:ext>
                  </a:extLst>
                </a:gridCol>
                <a:gridCol w="3384289">
                  <a:extLst>
                    <a:ext uri="{9D8B030D-6E8A-4147-A177-3AD203B41FA5}">
                      <a16:colId xmlns:a16="http://schemas.microsoft.com/office/drawing/2014/main" val="20002"/>
                    </a:ext>
                  </a:extLst>
                </a:gridCol>
              </a:tblGrid>
              <a:tr h="761042">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Attribute</a:t>
                      </a:r>
                      <a:endParaRPr lang="en-US" sz="24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90000"/>
                        <a:lumOff val="10000"/>
                      </a:schemeClr>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Emission-based utilization &amp; access</a:t>
                      </a:r>
                      <a:endParaRPr lang="en-US" sz="24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90000"/>
                        <a:lumOff val="10000"/>
                      </a:schemeClr>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PEC/PNEC drug-utilization </a:t>
                      </a:r>
                      <a:endParaRPr lang="en-US" sz="24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90000"/>
                        <a:lumOff val="10000"/>
                      </a:schemeClr>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LCA</a:t>
                      </a:r>
                      <a:endParaRPr lang="en-US" sz="24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10000"/>
                  </a:ext>
                </a:extLst>
              </a:tr>
              <a:tr h="997811">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Primary data inputs</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Emission factor (contents wt × propellant % × GWP) × claims; tier, PA, ST</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Consumption (DDD or kg), excretion, removal %, dilution; ecotoxicity (PNEC)</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Life cycle inventory (synthesis, use, end-of-life); USEtox characterization</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693394">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Core metric</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Population CO2e; device mix; low-barrier access share</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Risk quotient RQ = PEC/PNEC; RQ &gt;= 1 flags risk</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Impact per functional unit (kg CO2e, freshwater ecotoxicity)</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3394">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Environmental endpoint</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Climate (greenhouse gas emissions)</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Aquatic ecotoxicity in receiving water</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Multiple (climate, ecotoxicity, human toxicity, resources)</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r h="693394">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Framework / standard</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Pharmacoepidemiology on claims and formulary data</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EMA tiered ERA guidance</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ISO 14040/14044 four-phase</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997811">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Key strength</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Links real dispensing volumes to emissions and modifiable policy levers</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Simple, regulatory-embedded, drug-specific screening</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Captures upstream and downstream burden beyond receiving water</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6"/>
                  </a:ext>
                </a:extLst>
              </a:tr>
              <a:tr h="997811">
                <a:tc>
                  <a:txBody>
                    <a:bodyPr/>
                    <a:lstStyle/>
                    <a:p>
                      <a:pPr marL="0" indent="0" algn="l">
                        <a:buNone/>
                      </a:pPr>
                      <a:r>
                        <a:rPr lang="en-US" sz="2000" b="1" dirty="0">
                          <a:solidFill>
                            <a:srgbClr val="462250"/>
                          </a:solidFill>
                          <a:latin typeface="Calibri" pitchFamily="34" charset="0"/>
                          <a:ea typeface="Calibri" pitchFamily="34" charset="-122"/>
                          <a:cs typeface="Calibri" pitchFamily="34" charset="-120"/>
                        </a:rPr>
                        <a:t>Key limitation</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chemeClr val="tx2">
                        <a:lumMod val="10000"/>
                        <a:lumOff val="90000"/>
                      </a:schemeClr>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Emission-factor uncertainty; formulary data show coverage, not use or cost</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Ignores mixtures, metabolites, manufacturing discharge; conservative defaults</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C3443"/>
                          </a:solidFill>
                          <a:latin typeface="Calibri" pitchFamily="34" charset="0"/>
                          <a:ea typeface="Calibri" pitchFamily="34" charset="-122"/>
                          <a:cs typeface="Calibri" pitchFamily="34" charset="-120"/>
                        </a:rPr>
                        <a:t>Sparse API inventory data; boundary-sensitive; often omits AMR</a:t>
                      </a:r>
                      <a:endParaRPr lang="en-US" sz="2000" dirty="0">
                        <a:latin typeface="Calibri" charset="0"/>
                        <a:ea typeface="Calibri" charset="0"/>
                        <a:cs typeface="Calibri" charset="0"/>
                      </a:endParaRPr>
                    </a:p>
                  </a:txBody>
                  <a:tcPr marL="63500" marR="63500" marT="38100" marB="38100" anchor="ctr">
                    <a:lnL w="12700" cap="flat" cmpd="sng" algn="ctr">
                      <a:solidFill>
                        <a:srgbClr val="E6DAC8"/>
                      </a:solidFill>
                      <a:prstDash val="solid"/>
                      <a:round/>
                      <a:headEnd type="none" w="med" len="med"/>
                      <a:tailEnd type="none" w="med" len="med"/>
                    </a:lnL>
                    <a:lnR w="12700" cap="flat" cmpd="sng" algn="ctr">
                      <a:solidFill>
                        <a:srgbClr val="E6DAC8"/>
                      </a:solidFill>
                      <a:prstDash val="solid"/>
                      <a:round/>
                      <a:headEnd type="none" w="med" len="med"/>
                      <a:tailEnd type="none" w="med" len="med"/>
                    </a:lnR>
                    <a:lnT w="12700" cap="flat" cmpd="sng" algn="ctr">
                      <a:solidFill>
                        <a:srgbClr val="E6DAC8"/>
                      </a:solidFill>
                      <a:prstDash val="solid"/>
                      <a:round/>
                      <a:headEnd type="none" w="med" len="med"/>
                      <a:tailEnd type="none" w="med" len="med"/>
                    </a:lnT>
                    <a:lnB w="12700" cap="flat" cmpd="sng" algn="ctr">
                      <a:solidFill>
                        <a:srgbClr val="E6DA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640080" y="6382512"/>
            <a:ext cx="10911535" cy="0"/>
          </a:xfrm>
          <a:prstGeom prst="line">
            <a:avLst/>
          </a:prstGeom>
          <a:noFill/>
          <a:ln w="12700">
            <a:solidFill>
              <a:srgbClr val="E6DAC8"/>
            </a:solidFill>
            <a:prstDash val="solid"/>
          </a:ln>
        </p:spPr>
        <p:txBody>
          <a:bodyPr/>
          <a:lstStyle/>
          <a:p>
            <a:endParaRPr lang="en-US"/>
          </a:p>
        </p:txBody>
      </p:sp>
      <p:sp>
        <p:nvSpPr>
          <p:cNvPr id="7" name="Text 7"/>
          <p:cNvSpPr/>
          <p:nvPr/>
        </p:nvSpPr>
        <p:spPr>
          <a:xfrm>
            <a:off x="11094415" y="6437376"/>
            <a:ext cx="457200" cy="274320"/>
          </a:xfrm>
          <a:prstGeom prst="rect">
            <a:avLst/>
          </a:prstGeom>
          <a:noFill/>
          <a:ln/>
        </p:spPr>
        <p:txBody>
          <a:bodyPr wrap="square" lIns="0" tIns="0" rIns="0" bIns="0" rtlCol="0" anchor="ctr"/>
          <a:lstStyle/>
          <a:p>
            <a:pPr marL="0" indent="0" algn="r">
              <a:buNone/>
            </a:pPr>
            <a:r>
              <a:rPr lang="en-US" sz="1050" b="1" dirty="0">
                <a:solidFill>
                  <a:srgbClr val="462250"/>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marL="0" indent="0" algn="l">
              <a:lnSpc>
                <a:spcPts val="3000"/>
              </a:lnSpc>
              <a:buNone/>
            </a:pPr>
            <a:r>
              <a:rPr lang="en-US" sz="3200" b="1" dirty="0">
                <a:latin typeface="Calibri" pitchFamily="34" charset="0"/>
                <a:ea typeface="Calibri" pitchFamily="34" charset="-122"/>
                <a:cs typeface="Calibri" pitchFamily="34" charset="-120"/>
              </a:rPr>
              <a:t>References: PEC/PNEC and wastewater-based epidemiology</a:t>
            </a:r>
            <a:endParaRPr lang="en-US" sz="3200" dirty="0"/>
          </a:p>
        </p:txBody>
      </p:sp>
      <p:sp>
        <p:nvSpPr>
          <p:cNvPr id="7" name="Text 5"/>
          <p:cNvSpPr/>
          <p:nvPr/>
        </p:nvSpPr>
        <p:spPr>
          <a:xfrm>
            <a:off x="640080" y="1737360"/>
            <a:ext cx="5272888" cy="4480560"/>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Giunchi, Villen, Wettermark et al. Environmental impact of pharmaceuticals in Italy. Br J Clin Pharmacol 2023;89(7):2020-2027.</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Straub JO. Environmental risk assessment for new human pharmaceuticals in the EU. Toxicol Lett 2002.</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Pereira AMPT, Silva LJG, Lino CM, et al. A critical evaluation of parameters for estimating pharmaceutical exposure. Sci Total Environ 2017.</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Cannata C, Backhaus T, Bramke I, et al. Prioritisation of data-poor pharmaceuticals for testing and ERA. Environ Int 2024.</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Welch SA, Moe SJ, Sharikabad MN, et al. Predicting environmental risks of pharmaceuticals from wholesale data: Norway. Environ Toxicol Chem 2023.</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Dominguez-Garcia P, Rodriguez N, Moreno A, et al. Predicted environmental concentrations for 810 pharmaceuticals. Environ Res 2025.</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Meyer C, McArdell CS, Fenner K, et al. Abatement of pharmaceuticals and human metabolites in WWTPs. Water Res 2025.</a:t>
            </a:r>
            <a:endParaRPr lang="en-US" dirty="0"/>
          </a:p>
        </p:txBody>
      </p:sp>
      <p:sp>
        <p:nvSpPr>
          <p:cNvPr id="8" name="Text 6"/>
          <p:cNvSpPr/>
          <p:nvPr/>
        </p:nvSpPr>
        <p:spPr>
          <a:xfrm>
            <a:off x="6278728" y="1737360"/>
            <a:ext cx="5272888" cy="4480560"/>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Comber S, Gardner M, Sorme P, Ellor B. Removal of pharmaceuticals during wastewater treatment. Sci Total Environ 2019.</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Park J, Kim C, Hong Y, et al. Distribution and removal of pharmaceuticals in sewage treatment plants. Int J Environ Res Public Health 2020.</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Zhu Y, Snape J, Jones K, Sweetman A. Spatially explicit large-scale ERA of pharmaceuticals in surface water, China. Environ Sci Technol 2019.</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Boogaerts T, Ahmed F, Choi PM, et al. Perspectives for wastewater-based epidemiology of pharmaceutical use. Sci Total Environ 2021.</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Escola Casas M, Schroter NS, Zammit I, et al. WBE to track pharmaceuticals consumption vs prescription data. Environ Int 2021.</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Fontanals N, Marce RM, Montes R, et al. WBE to assess pharmaceutical consumption: Spanish perspective. Sci Total Environ 2024.</a:t>
            </a:r>
            <a:endParaRPr lang="en-US" dirty="0"/>
          </a:p>
          <a:p>
            <a:pPr marL="152400" indent="-152400">
              <a:lnSpc>
                <a:spcPts val="1300"/>
              </a:lnSpc>
              <a:spcAft>
                <a:spcPts val="600"/>
              </a:spcAft>
              <a:buSzPct val="100000"/>
              <a:buChar char="•"/>
            </a:pPr>
            <a:r>
              <a:rPr lang="en-US" dirty="0">
                <a:solidFill>
                  <a:srgbClr val="3C3443"/>
                </a:solidFill>
                <a:latin typeface="Calibri" pitchFamily="34" charset="0"/>
                <a:ea typeface="Calibri" pitchFamily="34" charset="-122"/>
                <a:cs typeface="Calibri" pitchFamily="34" charset="-120"/>
              </a:rPr>
              <a:t>Boxall AB, Keller VD, Straub JO, et al. Exploiting monitoring data in exposure modelling and ERA. Environ Int 2014.</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5" name="Text 3"/>
          <p:cNvSpPr/>
          <p:nvPr/>
        </p:nvSpPr>
        <p:spPr>
          <a:xfrm>
            <a:off x="640080" y="694944"/>
            <a:ext cx="10911535" cy="777240"/>
          </a:xfrm>
          <a:prstGeom prst="rect">
            <a:avLst/>
          </a:prstGeom>
          <a:noFill/>
          <a:ln/>
        </p:spPr>
        <p:txBody>
          <a:bodyPr wrap="square" lIns="0" tIns="0" rIns="0" bIns="0" rtlCol="0" anchor="t"/>
          <a:lstStyle/>
          <a:p>
            <a:pPr>
              <a:lnSpc>
                <a:spcPts val="3000"/>
              </a:lnSpc>
            </a:pPr>
            <a:r>
              <a:rPr lang="en-US" sz="3200" b="1" dirty="0">
                <a:latin typeface="Calibri" pitchFamily="34" charset="0"/>
                <a:ea typeface="Calibri" pitchFamily="34" charset="-122"/>
                <a:cs typeface="Calibri" pitchFamily="34" charset="-120"/>
              </a:rPr>
              <a:t>References: LCA, emission-based utilization &amp; access</a:t>
            </a:r>
            <a:endParaRPr lang="en-US" sz="3200" dirty="0"/>
          </a:p>
        </p:txBody>
      </p:sp>
      <p:sp>
        <p:nvSpPr>
          <p:cNvPr id="7" name="Text 5"/>
          <p:cNvSpPr/>
          <p:nvPr/>
        </p:nvSpPr>
        <p:spPr>
          <a:xfrm>
            <a:off x="640080" y="1737360"/>
            <a:ext cx="5272888" cy="4480560"/>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Cook SM, et al. Life cycle comparison of three disposal options for unused pharmaceuticals. Environ Sci Technol 2012.</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Li Y, et al. LCA of advanced wastewater treatment: 126 PPCPs in the inventory. J Environ Manage 2019.</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Zhao HL, et al. Energy, environment and economy assessment of medical waste disposal technologies. Sci Total Environ 2021.</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De Soete W, et al. Environmental sustainability assessments of pharmaceuticals. Environ Sci Technol 2014.</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Ansar MA, van Zelm R, Ragas AMJ. Closing data gaps for LCA of pharmaceutical production. ACS Sustain Chem Eng 2025.</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Satta M, et al. Advantages and drawbacks of LCA for pharmaceuticals: a review. Environ Sci Pollut Res Int 2026.</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McGinnis S, et al. Environmental life cycle assessment in medical practice: a user guide. Obstet Gynecol Surv 2021.</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Zecha F, Hupperich LM, Viere T. Life cycle assessments in healthcare: standardisation needs. Int J Environ Res Public Health 2026.</a:t>
            </a:r>
            <a:endParaRPr lang="en-US" sz="1600" dirty="0"/>
          </a:p>
        </p:txBody>
      </p:sp>
      <p:sp>
        <p:nvSpPr>
          <p:cNvPr id="8" name="Text 6"/>
          <p:cNvSpPr/>
          <p:nvPr/>
        </p:nvSpPr>
        <p:spPr>
          <a:xfrm>
            <a:off x="6278728" y="1737360"/>
            <a:ext cx="5272888" cy="4480560"/>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Tirumalasetty J, Miller SA, Prescott HC, et al. Greenhouse gas emissions and costs of inhaler devices in the US. JAMA 2024.</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Feldman WB, Han J, Raymakers AJN, et al. Inhaler-related greenhouse gas emissions in the US. JAMA 2025.</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Weppner WG, Singh H, Boyd J, et al. Longitudinal greenhouse gas emissions from inhaler devices in a national health system. JAMA 2025.</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Kanwal H, Umm-E-Kalsoom, Khan A, et al. Carbon emissions from inhaled respiratory medicines in Ireland, 2020-2022. Int J Clin Pharm 2025.</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Parthasarathi A, Iwata I, Chen C, et al. Utilization and access to metered-dose inhalers among older US adults. Lancet Reg Health Am 2025.</a:t>
            </a:r>
            <a:endParaRPr lang="en-US" sz="1600" dirty="0"/>
          </a:p>
          <a:p>
            <a:pPr marL="152400" indent="-152400">
              <a:lnSpc>
                <a:spcPts val="1300"/>
              </a:lnSpc>
              <a:spcAft>
                <a:spcPts val="600"/>
              </a:spcAft>
              <a:buSzPct val="100000"/>
              <a:buChar char="•"/>
            </a:pPr>
            <a:r>
              <a:rPr lang="en-US" sz="1600" dirty="0">
                <a:solidFill>
                  <a:srgbClr val="3C3443"/>
                </a:solidFill>
                <a:latin typeface="Calibri" pitchFamily="34" charset="0"/>
                <a:ea typeface="Calibri" pitchFamily="34" charset="-122"/>
                <a:cs typeface="Calibri" pitchFamily="34" charset="-120"/>
              </a:rPr>
              <a:t>Parthasarathi A, Modha P, Chellappan A, et al. Insurance coverage and access for lower-emission inhalers in US commercial plans. JAMA Netw Open 2026.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701</TotalTime>
  <Words>14786</Words>
  <Application>Microsoft Macintosh PowerPoint</Application>
  <PresentationFormat>Widescreen</PresentationFormat>
  <Paragraphs>731</Paragraphs>
  <Slides>22</Slides>
  <Notes>20</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Aptos</vt:lpstr>
      <vt:lpstr>Arial</vt:lpstr>
      <vt:lpstr>Calibri</vt:lpstr>
      <vt:lpstr>Cambria</vt:lpstr>
      <vt:lpstr>Cambria Math</vt:lpstr>
      <vt:lpstr>Helvetica Neue</vt:lpstr>
      <vt:lpstr>Neue Haas Grotesk Text Pro</vt:lpstr>
      <vt:lpstr>Open Sans Bold</vt:lpstr>
      <vt:lpstr>Office Theme</vt: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Consumption-based exposure and risk assessment </vt:lpstr>
      <vt:lpstr>PowerPoint Presentation</vt:lpstr>
      <vt:lpstr>2. Consumption-based environmental risk assessment</vt:lpstr>
      <vt:lpstr>PowerPoint Presentation</vt:lpstr>
      <vt:lpstr>2. Consumption-driven PEC/PNEC approach</vt:lpstr>
      <vt:lpstr>PEC and PNEC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Lizbeth Gomez</cp:lastModifiedBy>
  <cp:revision>22</cp:revision>
  <dcterms:created xsi:type="dcterms:W3CDTF">2026-08-24T12:17:36Z</dcterms:created>
  <dcterms:modified xsi:type="dcterms:W3CDTF">2026-08-26T22:43:18Z</dcterms:modified>
</cp:coreProperties>
</file>